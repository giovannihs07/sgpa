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Anton" charset="1" panose="00000500000000000000"/>
      <p:regular r:id="rId34"/>
    </p:embeddedFont>
    <p:embeddedFont>
      <p:font typeface="Inter" charset="1" panose="020B0502030000000004"/>
      <p:regular r:id="rId35"/>
    </p:embeddedFont>
    <p:embeddedFont>
      <p:font typeface="Inter Bold" charset="1" panose="020B0802030000000004"/>
      <p:regular r:id="rId36"/>
    </p:embeddedFont>
    <p:embeddedFont>
      <p:font typeface="Inter Bold Italics" charset="1" panose="020B0802030000000004"/>
      <p:regular r:id="rId37"/>
    </p:embeddedFont>
    <p:embeddedFont>
      <p:font typeface="Poppins" charset="1" panose="00000500000000000000"/>
      <p:regular r:id="rId38"/>
    </p:embeddedFont>
    <p:embeddedFont>
      <p:font typeface="Inter Italics" charset="1" panose="020B0502030000000004"/>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4497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291358" y="4563338"/>
            <a:ext cx="22211183" cy="8117178"/>
          </a:xfrm>
          <a:custGeom>
            <a:avLst/>
            <a:gdLst/>
            <a:ahLst/>
            <a:cxnLst/>
            <a:rect r="r" b="b" t="t" l="l"/>
            <a:pathLst>
              <a:path h="8117178" w="22211183">
                <a:moveTo>
                  <a:pt x="0" y="0"/>
                </a:moveTo>
                <a:lnTo>
                  <a:pt x="22211182" y="0"/>
                </a:lnTo>
                <a:lnTo>
                  <a:pt x="22211182" y="8117178"/>
                </a:lnTo>
                <a:lnTo>
                  <a:pt x="0" y="8117178"/>
                </a:lnTo>
                <a:lnTo>
                  <a:pt x="0" y="0"/>
                </a:lnTo>
                <a:close/>
              </a:path>
            </a:pathLst>
          </a:custGeom>
          <a:blipFill>
            <a:blip r:embed="rId2"/>
            <a:stretch>
              <a:fillRect l="0" t="0" r="0" b="0"/>
            </a:stretch>
          </a:blipFill>
        </p:spPr>
      </p:sp>
      <p:sp>
        <p:nvSpPr>
          <p:cNvPr name="TextBox 3" id="3"/>
          <p:cNvSpPr txBox="true"/>
          <p:nvPr/>
        </p:nvSpPr>
        <p:spPr>
          <a:xfrm rot="0">
            <a:off x="4717265" y="3752848"/>
            <a:ext cx="9825943" cy="2914654"/>
          </a:xfrm>
          <a:prstGeom prst="rect">
            <a:avLst/>
          </a:prstGeom>
        </p:spPr>
        <p:txBody>
          <a:bodyPr anchor="t" rtlCol="false" tIns="0" lIns="0" bIns="0" rIns="0">
            <a:spAutoFit/>
          </a:bodyPr>
          <a:lstStyle/>
          <a:p>
            <a:pPr algn="ctr">
              <a:lnSpc>
                <a:spcPts val="7500"/>
              </a:lnSpc>
            </a:pPr>
            <a:r>
              <a:rPr lang="en-US" sz="7500" spc="-135">
                <a:solidFill>
                  <a:srgbClr val="FFFFFF"/>
                </a:solidFill>
                <a:latin typeface="Anton"/>
                <a:ea typeface="Anton"/>
                <a:cs typeface="Anton"/>
                <a:sym typeface="Anton"/>
              </a:rPr>
              <a:t>CONTROL DEL COS</a:t>
            </a:r>
            <a:r>
              <a:rPr lang="en-US" sz="7500" spc="-135">
                <a:solidFill>
                  <a:srgbClr val="FFFFFF"/>
                </a:solidFill>
                <a:latin typeface="Anton"/>
                <a:ea typeface="Anton"/>
                <a:cs typeface="Anton"/>
                <a:sym typeface="Anton"/>
              </a:rPr>
              <a:t>TE, CONTROL DEL PROGRAMA Y VALOR GANADO</a:t>
            </a:r>
          </a:p>
        </p:txBody>
      </p:sp>
      <p:sp>
        <p:nvSpPr>
          <p:cNvPr name="Freeform 4" id="4"/>
          <p:cNvSpPr/>
          <p:nvPr/>
        </p:nvSpPr>
        <p:spPr>
          <a:xfrm flipH="false" flipV="false" rot="0">
            <a:off x="8357511" y="554398"/>
            <a:ext cx="2545451" cy="2414457"/>
          </a:xfrm>
          <a:custGeom>
            <a:avLst/>
            <a:gdLst/>
            <a:ahLst/>
            <a:cxnLst/>
            <a:rect r="r" b="b" t="t" l="l"/>
            <a:pathLst>
              <a:path h="2414457" w="2545451">
                <a:moveTo>
                  <a:pt x="0" y="0"/>
                </a:moveTo>
                <a:lnTo>
                  <a:pt x="2545451" y="0"/>
                </a:lnTo>
                <a:lnTo>
                  <a:pt x="2545451" y="2414457"/>
                </a:lnTo>
                <a:lnTo>
                  <a:pt x="0" y="2414457"/>
                </a:lnTo>
                <a:lnTo>
                  <a:pt x="0" y="0"/>
                </a:lnTo>
                <a:close/>
              </a:path>
            </a:pathLst>
          </a:custGeom>
          <a:blipFill>
            <a:blip r:embed="rId3"/>
            <a:stretch>
              <a:fillRect l="0" t="0" r="-96588" b="0"/>
            </a:stretch>
          </a:blipFill>
        </p:spPr>
      </p:sp>
      <p:sp>
        <p:nvSpPr>
          <p:cNvPr name="TextBox 5" id="5"/>
          <p:cNvSpPr txBox="true"/>
          <p:nvPr/>
        </p:nvSpPr>
        <p:spPr>
          <a:xfrm rot="0">
            <a:off x="6033793" y="7524401"/>
            <a:ext cx="7192887" cy="2137903"/>
          </a:xfrm>
          <a:prstGeom prst="rect">
            <a:avLst/>
          </a:prstGeom>
        </p:spPr>
        <p:txBody>
          <a:bodyPr anchor="t" rtlCol="false" tIns="0" lIns="0" bIns="0" rIns="0">
            <a:spAutoFit/>
          </a:bodyPr>
          <a:lstStyle/>
          <a:p>
            <a:pPr algn="ctr">
              <a:lnSpc>
                <a:spcPts val="3437"/>
              </a:lnSpc>
            </a:pPr>
            <a:r>
              <a:rPr lang="en-US" sz="2455">
                <a:solidFill>
                  <a:srgbClr val="FFFFFF"/>
                </a:solidFill>
                <a:latin typeface="Inter"/>
                <a:ea typeface="Inter"/>
                <a:cs typeface="Inter"/>
                <a:sym typeface="Inter"/>
              </a:rPr>
              <a:t>U</a:t>
            </a:r>
            <a:r>
              <a:rPr lang="en-US" sz="2455">
                <a:solidFill>
                  <a:srgbClr val="FFFFFF"/>
                </a:solidFill>
                <a:latin typeface="Inter"/>
                <a:ea typeface="Inter"/>
                <a:cs typeface="Inter"/>
                <a:sym typeface="Inter"/>
              </a:rPr>
              <a:t>niversidad de Cartagena</a:t>
            </a:r>
          </a:p>
          <a:p>
            <a:pPr algn="ctr">
              <a:lnSpc>
                <a:spcPts val="3437"/>
              </a:lnSpc>
            </a:pPr>
            <a:r>
              <a:rPr lang="en-US" sz="2455">
                <a:solidFill>
                  <a:srgbClr val="FFFFFF"/>
                </a:solidFill>
                <a:latin typeface="Inter"/>
                <a:ea typeface="Inter"/>
                <a:cs typeface="Inter"/>
                <a:sym typeface="Inter"/>
              </a:rPr>
              <a:t>Facultad de ingeniería</a:t>
            </a:r>
          </a:p>
          <a:p>
            <a:pPr algn="ctr">
              <a:lnSpc>
                <a:spcPts val="3437"/>
              </a:lnSpc>
            </a:pPr>
            <a:r>
              <a:rPr lang="en-US" sz="2455">
                <a:solidFill>
                  <a:srgbClr val="FFFFFF"/>
                </a:solidFill>
                <a:latin typeface="Inter"/>
                <a:ea typeface="Inter"/>
                <a:cs typeface="Inter"/>
                <a:sym typeface="Inter"/>
              </a:rPr>
              <a:t>Ingeniería de sistemas</a:t>
            </a:r>
          </a:p>
          <a:p>
            <a:pPr algn="ctr">
              <a:lnSpc>
                <a:spcPts val="3437"/>
              </a:lnSpc>
            </a:pPr>
            <a:r>
              <a:rPr lang="en-US" sz="2455">
                <a:solidFill>
                  <a:srgbClr val="FFFFFF"/>
                </a:solidFill>
                <a:latin typeface="Inter"/>
                <a:ea typeface="Inter"/>
                <a:cs typeface="Inter"/>
                <a:sym typeface="Inter"/>
              </a:rPr>
              <a:t>Gestión de proyectos de Ingeniería de Software</a:t>
            </a:r>
          </a:p>
          <a:p>
            <a:pPr algn="ctr">
              <a:lnSpc>
                <a:spcPts val="3437"/>
              </a:lnSpc>
            </a:pPr>
            <a:r>
              <a:rPr lang="en-US" sz="2455">
                <a:solidFill>
                  <a:srgbClr val="FFFFFF"/>
                </a:solidFill>
                <a:latin typeface="Inter"/>
                <a:ea typeface="Inter"/>
                <a:cs typeface="Inter"/>
                <a:sym typeface="Inter"/>
              </a:rPr>
              <a:t>2026 - 1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8638" y="1445795"/>
            <a:ext cx="4611615" cy="7395410"/>
            <a:chOff x="0" y="0"/>
            <a:chExt cx="714460" cy="1145743"/>
          </a:xfrm>
        </p:grpSpPr>
        <p:sp>
          <p:nvSpPr>
            <p:cNvPr name="Freeform 3" id="3"/>
            <p:cNvSpPr/>
            <p:nvPr/>
          </p:nvSpPr>
          <p:spPr>
            <a:xfrm flipH="false" flipV="false" rot="0">
              <a:off x="0" y="0"/>
              <a:ext cx="714460" cy="1145743"/>
            </a:xfrm>
            <a:custGeom>
              <a:avLst/>
              <a:gdLst/>
              <a:ahLst/>
              <a:cxnLst/>
              <a:rect r="r" b="b" t="t" l="l"/>
              <a:pathLst>
                <a:path h="1145743" w="714460">
                  <a:moveTo>
                    <a:pt x="0" y="0"/>
                  </a:moveTo>
                  <a:lnTo>
                    <a:pt x="714460" y="0"/>
                  </a:lnTo>
                  <a:lnTo>
                    <a:pt x="714460" y="1145743"/>
                  </a:lnTo>
                  <a:lnTo>
                    <a:pt x="0" y="1145743"/>
                  </a:lnTo>
                  <a:close/>
                </a:path>
              </a:pathLst>
            </a:custGeom>
            <a:blipFill>
              <a:blip r:embed="rId2"/>
              <a:stretch>
                <a:fillRect l="-3521" t="0" r="-3521" b="0"/>
              </a:stretch>
            </a:blipFill>
          </p:spPr>
        </p:sp>
      </p:grpSp>
      <p:sp>
        <p:nvSpPr>
          <p:cNvPr name="TextBox 4" id="4"/>
          <p:cNvSpPr txBox="true"/>
          <p:nvPr/>
        </p:nvSpPr>
        <p:spPr>
          <a:xfrm rot="0">
            <a:off x="7347898" y="2921160"/>
            <a:ext cx="8678579" cy="2070101"/>
          </a:xfrm>
          <a:prstGeom prst="rect">
            <a:avLst/>
          </a:prstGeom>
        </p:spPr>
        <p:txBody>
          <a:bodyPr anchor="t" rtlCol="false" tIns="0" lIns="0" bIns="0" rIns="0">
            <a:spAutoFit/>
          </a:bodyPr>
          <a:lstStyle/>
          <a:p>
            <a:pPr algn="l">
              <a:lnSpc>
                <a:spcPts val="8000"/>
              </a:lnSpc>
            </a:pPr>
            <a:r>
              <a:rPr lang="en-US" sz="8000" spc="-144">
                <a:solidFill>
                  <a:srgbClr val="24497B"/>
                </a:solidFill>
                <a:latin typeface="Anton"/>
                <a:ea typeface="Anton"/>
                <a:cs typeface="Anton"/>
                <a:sym typeface="Anton"/>
              </a:rPr>
              <a:t>¿QUÉ ES LA GESTIÓN DE COSTOS DEL PROYECTO?</a:t>
            </a:r>
          </a:p>
        </p:txBody>
      </p:sp>
      <p:sp>
        <p:nvSpPr>
          <p:cNvPr name="TextBox 5" id="5"/>
          <p:cNvSpPr txBox="true"/>
          <p:nvPr/>
        </p:nvSpPr>
        <p:spPr>
          <a:xfrm rot="0">
            <a:off x="7347898" y="5516638"/>
            <a:ext cx="8504591" cy="2137903"/>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L</a:t>
            </a:r>
            <a:r>
              <a:rPr lang="en-US" sz="2455">
                <a:solidFill>
                  <a:srgbClr val="000000"/>
                </a:solidFill>
                <a:latin typeface="Inter"/>
                <a:ea typeface="Inter"/>
                <a:cs typeface="Inter"/>
                <a:sym typeface="Inter"/>
              </a:rPr>
              <a:t>a Gestión de los costos del proyecto incluye los procesos involucrados en planificar, estimar, presupuestar, financiar, obtener financiamiento, gestionar y controlar los costos de modo que se complete el proyecto dentro del presupuesto aprobado. </a:t>
            </a:r>
          </a:p>
        </p:txBody>
      </p:sp>
      <p:grpSp>
        <p:nvGrpSpPr>
          <p:cNvPr name="Group 6" id="6"/>
          <p:cNvGrpSpPr/>
          <p:nvPr/>
        </p:nvGrpSpPr>
        <p:grpSpPr>
          <a:xfrm rot="0">
            <a:off x="-514350" y="9603531"/>
            <a:ext cx="22951717" cy="3086100"/>
            <a:chOff x="0" y="0"/>
            <a:chExt cx="6044897" cy="812800"/>
          </a:xfrm>
        </p:grpSpPr>
        <p:sp>
          <p:nvSpPr>
            <p:cNvPr name="Freeform 7" id="7"/>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8" id="8"/>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803329" y="747139"/>
            <a:ext cx="9113548" cy="2070101"/>
          </a:xfrm>
          <a:prstGeom prst="rect">
            <a:avLst/>
          </a:prstGeom>
        </p:spPr>
        <p:txBody>
          <a:bodyPr anchor="t" rtlCol="false" tIns="0" lIns="0" bIns="0" rIns="0">
            <a:spAutoFit/>
          </a:bodyPr>
          <a:lstStyle/>
          <a:p>
            <a:pPr algn="ctr">
              <a:lnSpc>
                <a:spcPts val="8000"/>
              </a:lnSpc>
            </a:pPr>
            <a:r>
              <a:rPr lang="en-US" sz="8000" spc="-144">
                <a:solidFill>
                  <a:srgbClr val="24497B"/>
                </a:solidFill>
                <a:latin typeface="Anton"/>
                <a:ea typeface="Anton"/>
                <a:cs typeface="Anton"/>
                <a:sym typeface="Anton"/>
              </a:rPr>
              <a:t>PROCESOS DE GESTIÓN DE COSTOS DEL PROYECTO</a:t>
            </a:r>
          </a:p>
        </p:txBody>
      </p:sp>
      <p:sp>
        <p:nvSpPr>
          <p:cNvPr name="TextBox 3" id="3"/>
          <p:cNvSpPr txBox="true"/>
          <p:nvPr/>
        </p:nvSpPr>
        <p:spPr>
          <a:xfrm rot="0">
            <a:off x="1715049" y="3588765"/>
            <a:ext cx="15290108" cy="4281028"/>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Los procesos de gestión de los costos del proyecto son:</a:t>
            </a:r>
          </a:p>
          <a:p>
            <a:pPr algn="just">
              <a:lnSpc>
                <a:spcPts val="3437"/>
              </a:lnSpc>
            </a:pPr>
          </a:p>
          <a:p>
            <a:pPr algn="just" marL="530162" indent="-265081" lvl="1">
              <a:lnSpc>
                <a:spcPts val="3437"/>
              </a:lnSpc>
              <a:buAutoNum type="arabicPeriod" startAt="1"/>
            </a:pPr>
            <a:r>
              <a:rPr lang="en-US" b="true" sz="2455">
                <a:solidFill>
                  <a:srgbClr val="000000"/>
                </a:solidFill>
                <a:latin typeface="Inter Bold"/>
                <a:ea typeface="Inter Bold"/>
                <a:cs typeface="Inter Bold"/>
                <a:sym typeface="Inter Bold"/>
              </a:rPr>
              <a:t>Planificar la gestión de los costos:</a:t>
            </a:r>
            <a:r>
              <a:rPr lang="en-US" sz="2455">
                <a:solidFill>
                  <a:srgbClr val="000000"/>
                </a:solidFill>
                <a:latin typeface="Inter"/>
                <a:ea typeface="Inter"/>
                <a:cs typeface="Inter"/>
                <a:sym typeface="Inter"/>
              </a:rPr>
              <a:t> Es el proceso de definir cómo se han de estimar, presupuestar, gestionar, monitorear y controlar los costos del proyecto.</a:t>
            </a:r>
          </a:p>
          <a:p>
            <a:pPr algn="just" marL="530162" indent="-265081" lvl="1">
              <a:lnSpc>
                <a:spcPts val="3437"/>
              </a:lnSpc>
              <a:buAutoNum type="arabicPeriod" startAt="1"/>
            </a:pPr>
            <a:r>
              <a:rPr lang="en-US" b="true" sz="2455">
                <a:solidFill>
                  <a:srgbClr val="000000"/>
                </a:solidFill>
                <a:latin typeface="Inter Bold"/>
                <a:ea typeface="Inter Bold"/>
                <a:cs typeface="Inter Bold"/>
                <a:sym typeface="Inter Bold"/>
              </a:rPr>
              <a:t>Estimar los costos:</a:t>
            </a:r>
            <a:r>
              <a:rPr lang="en-US" sz="2455">
                <a:solidFill>
                  <a:srgbClr val="000000"/>
                </a:solidFill>
                <a:latin typeface="Inter"/>
                <a:ea typeface="Inter"/>
                <a:cs typeface="Inter"/>
                <a:sym typeface="Inter"/>
              </a:rPr>
              <a:t> Es el proceso de desarrollar una aproximación de los recursos monetarios necesarios para completar el trabajo del proyecto.</a:t>
            </a:r>
          </a:p>
          <a:p>
            <a:pPr algn="just" marL="530162" indent="-265081" lvl="1">
              <a:lnSpc>
                <a:spcPts val="3437"/>
              </a:lnSpc>
              <a:buAutoNum type="arabicPeriod" startAt="1"/>
            </a:pPr>
            <a:r>
              <a:rPr lang="en-US" b="true" sz="2455">
                <a:solidFill>
                  <a:srgbClr val="000000"/>
                </a:solidFill>
                <a:latin typeface="Inter Bold"/>
                <a:ea typeface="Inter Bold"/>
                <a:cs typeface="Inter Bold"/>
                <a:sym typeface="Inter Bold"/>
              </a:rPr>
              <a:t>Determinar el presupuesto:</a:t>
            </a:r>
            <a:r>
              <a:rPr lang="en-US" sz="2455">
                <a:solidFill>
                  <a:srgbClr val="000000"/>
                </a:solidFill>
                <a:latin typeface="Inter"/>
                <a:ea typeface="Inter"/>
                <a:cs typeface="Inter"/>
                <a:sym typeface="Inter"/>
              </a:rPr>
              <a:t> Es el proceso que consiste en sumar los costos estimados de las actividades individuales o paquetes de trabajo para establecer una línea base de costos autorizada.</a:t>
            </a:r>
          </a:p>
          <a:p>
            <a:pPr algn="just" marL="530162" indent="-265081" lvl="1">
              <a:lnSpc>
                <a:spcPts val="3437"/>
              </a:lnSpc>
              <a:buAutoNum type="arabicPeriod" startAt="1"/>
            </a:pPr>
            <a:r>
              <a:rPr lang="en-US" b="true" sz="2455">
                <a:solidFill>
                  <a:srgbClr val="000000"/>
                </a:solidFill>
                <a:latin typeface="Inter Bold"/>
                <a:ea typeface="Inter Bold"/>
                <a:cs typeface="Inter Bold"/>
                <a:sym typeface="Inter Bold"/>
              </a:rPr>
              <a:t>Controlar los costos:</a:t>
            </a:r>
            <a:r>
              <a:rPr lang="en-US" sz="2455">
                <a:solidFill>
                  <a:srgbClr val="000000"/>
                </a:solidFill>
                <a:latin typeface="Inter"/>
                <a:ea typeface="Inter"/>
                <a:cs typeface="Inter"/>
                <a:sym typeface="Inter"/>
              </a:rPr>
              <a:t> Es el proceso de monitorear el estado del proyecto para actualizar los costos del proyecto y gestionar cambios a la línea base de costos.</a:t>
            </a:r>
          </a:p>
        </p:txBody>
      </p:sp>
      <p:grpSp>
        <p:nvGrpSpPr>
          <p:cNvPr name="Group 4" id="4"/>
          <p:cNvGrpSpPr/>
          <p:nvPr/>
        </p:nvGrpSpPr>
        <p:grpSpPr>
          <a:xfrm rot="0">
            <a:off x="-514350" y="9603531"/>
            <a:ext cx="22951717" cy="3086100"/>
            <a:chOff x="0" y="0"/>
            <a:chExt cx="6044897" cy="812800"/>
          </a:xfrm>
        </p:grpSpPr>
        <p:sp>
          <p:nvSpPr>
            <p:cNvPr name="Freeform 5" id="5"/>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6" id="6"/>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91585" y="1445795"/>
            <a:ext cx="4611615" cy="7395410"/>
            <a:chOff x="0" y="0"/>
            <a:chExt cx="714460" cy="1145743"/>
          </a:xfrm>
        </p:grpSpPr>
        <p:sp>
          <p:nvSpPr>
            <p:cNvPr name="Freeform 3" id="3"/>
            <p:cNvSpPr/>
            <p:nvPr/>
          </p:nvSpPr>
          <p:spPr>
            <a:xfrm flipH="false" flipV="false" rot="0">
              <a:off x="0" y="0"/>
              <a:ext cx="714460" cy="1145743"/>
            </a:xfrm>
            <a:custGeom>
              <a:avLst/>
              <a:gdLst/>
              <a:ahLst/>
              <a:cxnLst/>
              <a:rect r="r" b="b" t="t" l="l"/>
              <a:pathLst>
                <a:path h="1145743" w="714460">
                  <a:moveTo>
                    <a:pt x="0" y="0"/>
                  </a:moveTo>
                  <a:lnTo>
                    <a:pt x="714460" y="0"/>
                  </a:lnTo>
                  <a:lnTo>
                    <a:pt x="714460" y="1145743"/>
                  </a:lnTo>
                  <a:lnTo>
                    <a:pt x="0" y="1145743"/>
                  </a:lnTo>
                  <a:close/>
                </a:path>
              </a:pathLst>
            </a:custGeom>
            <a:blipFill>
              <a:blip r:embed="rId2"/>
              <a:stretch>
                <a:fillRect l="-3521" t="0" r="-3521" b="0"/>
              </a:stretch>
            </a:blipFill>
          </p:spPr>
        </p:sp>
      </p:grpSp>
      <p:sp>
        <p:nvSpPr>
          <p:cNvPr name="TextBox 4" id="4"/>
          <p:cNvSpPr txBox="true"/>
          <p:nvPr/>
        </p:nvSpPr>
        <p:spPr>
          <a:xfrm rot="0">
            <a:off x="7255308" y="1598195"/>
            <a:ext cx="9613762" cy="1060451"/>
          </a:xfrm>
          <a:prstGeom prst="rect">
            <a:avLst/>
          </a:prstGeom>
        </p:spPr>
        <p:txBody>
          <a:bodyPr anchor="t" rtlCol="false" tIns="0" lIns="0" bIns="0" rIns="0">
            <a:spAutoFit/>
          </a:bodyPr>
          <a:lstStyle/>
          <a:p>
            <a:pPr algn="ctr">
              <a:lnSpc>
                <a:spcPts val="8000"/>
              </a:lnSpc>
            </a:pPr>
            <a:r>
              <a:rPr lang="en-US" sz="8000" spc="-144">
                <a:solidFill>
                  <a:srgbClr val="24497B"/>
                </a:solidFill>
                <a:latin typeface="Anton"/>
                <a:ea typeface="Anton"/>
                <a:cs typeface="Anton"/>
                <a:sym typeface="Anton"/>
              </a:rPr>
              <a:t>CONTROL DE COSTOS</a:t>
            </a:r>
          </a:p>
        </p:txBody>
      </p:sp>
      <p:sp>
        <p:nvSpPr>
          <p:cNvPr name="TextBox 5" id="5"/>
          <p:cNvSpPr txBox="true"/>
          <p:nvPr/>
        </p:nvSpPr>
        <p:spPr>
          <a:xfrm rot="0">
            <a:off x="7282652" y="2973622"/>
            <a:ext cx="9559073" cy="2566528"/>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El control de los costos es el proceso de monitorear el estado del proyecto para actualizar los costos del proyecto y gestionar cambios a la línea base de costos. El beneficio clave de este proceso es que la línea base de costos es mantenida a lo largo del proyecto. Este proceso se lleva a cabo a lo largo de todo el proyecto.</a:t>
            </a:r>
          </a:p>
        </p:txBody>
      </p:sp>
      <p:sp>
        <p:nvSpPr>
          <p:cNvPr name="TextBox 6" id="6"/>
          <p:cNvSpPr txBox="true"/>
          <p:nvPr/>
        </p:nvSpPr>
        <p:spPr>
          <a:xfrm rot="0">
            <a:off x="7227963" y="6964090"/>
            <a:ext cx="9613762" cy="1662967"/>
          </a:xfrm>
          <a:prstGeom prst="rect">
            <a:avLst/>
          </a:prstGeom>
        </p:spPr>
        <p:txBody>
          <a:bodyPr anchor="t" rtlCol="false" tIns="0" lIns="0" bIns="0" rIns="0">
            <a:spAutoFit/>
          </a:bodyPr>
          <a:lstStyle/>
          <a:p>
            <a:pPr algn="just">
              <a:lnSpc>
                <a:spcPts val="3365"/>
              </a:lnSpc>
            </a:pPr>
            <a:r>
              <a:rPr lang="en-US" b="true" sz="2403" i="true">
                <a:solidFill>
                  <a:srgbClr val="000000"/>
                </a:solidFill>
                <a:latin typeface="Inter Bold Italics"/>
                <a:ea typeface="Inter Bold Italics"/>
                <a:cs typeface="Inter Bold Italics"/>
                <a:sym typeface="Inter Bold Italics"/>
              </a:rPr>
              <a:t>El control de costos se dedica a analizar la relación entre los fondos del proyecto consumidos y el trabajo efectuado correspondiente a dichos gastos. La clave para un control de costos eficaz es la gestión de la línea base de costos aprobada.</a:t>
            </a:r>
          </a:p>
        </p:txBody>
      </p:sp>
      <p:sp>
        <p:nvSpPr>
          <p:cNvPr name="AutoShape 7" id="7"/>
          <p:cNvSpPr/>
          <p:nvPr/>
        </p:nvSpPr>
        <p:spPr>
          <a:xfrm>
            <a:off x="7255308" y="6773136"/>
            <a:ext cx="2403441" cy="0"/>
          </a:xfrm>
          <a:prstGeom prst="line">
            <a:avLst/>
          </a:prstGeom>
          <a:ln cap="flat" w="38100">
            <a:solidFill>
              <a:srgbClr val="24497B"/>
            </a:solidFill>
            <a:prstDash val="solid"/>
            <a:headEnd type="oval" len="lg" w="lg"/>
            <a:tailEnd type="oval" len="lg" w="lg"/>
          </a:ln>
        </p:spPr>
      </p:sp>
      <p:grpSp>
        <p:nvGrpSpPr>
          <p:cNvPr name="Group 8" id="8"/>
          <p:cNvGrpSpPr/>
          <p:nvPr/>
        </p:nvGrpSpPr>
        <p:grpSpPr>
          <a:xfrm rot="0">
            <a:off x="-514350" y="9603531"/>
            <a:ext cx="22951717" cy="3086100"/>
            <a:chOff x="0" y="0"/>
            <a:chExt cx="6044897" cy="812800"/>
          </a:xfrm>
        </p:grpSpPr>
        <p:sp>
          <p:nvSpPr>
            <p:cNvPr name="Freeform 9" id="9"/>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10" id="10"/>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5" id="5"/>
          <p:cNvSpPr txBox="true"/>
          <p:nvPr/>
        </p:nvSpPr>
        <p:spPr>
          <a:xfrm rot="0">
            <a:off x="1126636" y="4323021"/>
            <a:ext cx="7678083" cy="2070101"/>
          </a:xfrm>
          <a:prstGeom prst="rect">
            <a:avLst/>
          </a:prstGeom>
        </p:spPr>
        <p:txBody>
          <a:bodyPr anchor="t" rtlCol="false" tIns="0" lIns="0" bIns="0" rIns="0">
            <a:spAutoFit/>
          </a:bodyPr>
          <a:lstStyle/>
          <a:p>
            <a:pPr algn="ctr">
              <a:lnSpc>
                <a:spcPts val="8000"/>
              </a:lnSpc>
            </a:pPr>
            <a:r>
              <a:rPr lang="en-US" sz="8000" spc="-144">
                <a:solidFill>
                  <a:srgbClr val="24497B"/>
                </a:solidFill>
                <a:latin typeface="Anton"/>
                <a:ea typeface="Anton"/>
                <a:cs typeface="Anton"/>
                <a:sym typeface="Anton"/>
              </a:rPr>
              <a:t>OBJETIVOS DEL CONTROL DE COSTO</a:t>
            </a:r>
          </a:p>
        </p:txBody>
      </p:sp>
      <p:grpSp>
        <p:nvGrpSpPr>
          <p:cNvPr name="Group 6" id="6"/>
          <p:cNvGrpSpPr/>
          <p:nvPr/>
        </p:nvGrpSpPr>
        <p:grpSpPr>
          <a:xfrm rot="0">
            <a:off x="9296302" y="2028366"/>
            <a:ext cx="7894964" cy="608217"/>
            <a:chOff x="0" y="0"/>
            <a:chExt cx="2245692" cy="173005"/>
          </a:xfrm>
        </p:grpSpPr>
        <p:sp>
          <p:nvSpPr>
            <p:cNvPr name="Freeform 7" id="7"/>
            <p:cNvSpPr/>
            <p:nvPr/>
          </p:nvSpPr>
          <p:spPr>
            <a:xfrm flipH="false" flipV="false" rot="0">
              <a:off x="0" y="0"/>
              <a:ext cx="2245692" cy="173005"/>
            </a:xfrm>
            <a:custGeom>
              <a:avLst/>
              <a:gdLst/>
              <a:ahLst/>
              <a:cxnLst/>
              <a:rect r="r" b="b" t="t" l="l"/>
              <a:pathLst>
                <a:path h="173005" w="2245692">
                  <a:moveTo>
                    <a:pt x="50011" y="0"/>
                  </a:moveTo>
                  <a:lnTo>
                    <a:pt x="2195681" y="0"/>
                  </a:lnTo>
                  <a:cubicBezTo>
                    <a:pt x="2208945" y="0"/>
                    <a:pt x="2221665" y="5269"/>
                    <a:pt x="2231044" y="14648"/>
                  </a:cubicBezTo>
                  <a:cubicBezTo>
                    <a:pt x="2240423" y="24027"/>
                    <a:pt x="2245692" y="36748"/>
                    <a:pt x="2245692" y="50011"/>
                  </a:cubicBezTo>
                  <a:lnTo>
                    <a:pt x="2245692" y="122994"/>
                  </a:lnTo>
                  <a:cubicBezTo>
                    <a:pt x="2245692" y="150614"/>
                    <a:pt x="2223302" y="173005"/>
                    <a:pt x="2195681" y="173005"/>
                  </a:cubicBezTo>
                  <a:lnTo>
                    <a:pt x="50011" y="173005"/>
                  </a:lnTo>
                  <a:cubicBezTo>
                    <a:pt x="22391" y="173005"/>
                    <a:pt x="0" y="150614"/>
                    <a:pt x="0" y="122994"/>
                  </a:cubicBezTo>
                  <a:lnTo>
                    <a:pt x="0" y="50011"/>
                  </a:lnTo>
                  <a:cubicBezTo>
                    <a:pt x="0" y="22391"/>
                    <a:pt x="22391" y="0"/>
                    <a:pt x="50011" y="0"/>
                  </a:cubicBezTo>
                  <a:close/>
                </a:path>
              </a:pathLst>
            </a:custGeom>
            <a:solidFill>
              <a:srgbClr val="24497B"/>
            </a:solidFill>
          </p:spPr>
        </p:sp>
        <p:sp>
          <p:nvSpPr>
            <p:cNvPr name="TextBox 8" id="8"/>
            <p:cNvSpPr txBox="true"/>
            <p:nvPr/>
          </p:nvSpPr>
          <p:spPr>
            <a:xfrm>
              <a:off x="0" y="-38100"/>
              <a:ext cx="2245692" cy="211105"/>
            </a:xfrm>
            <a:prstGeom prst="rect">
              <a:avLst/>
            </a:prstGeom>
          </p:spPr>
          <p:txBody>
            <a:bodyPr anchor="ctr" rtlCol="false" tIns="50800" lIns="50800" bIns="50800" rIns="50800"/>
            <a:lstStyle/>
            <a:p>
              <a:pPr algn="ctr">
                <a:lnSpc>
                  <a:spcPts val="2138"/>
                </a:lnSpc>
              </a:pPr>
            </a:p>
          </p:txBody>
        </p:sp>
      </p:grpSp>
      <p:sp>
        <p:nvSpPr>
          <p:cNvPr name="Freeform 9" id="9"/>
          <p:cNvSpPr/>
          <p:nvPr/>
        </p:nvSpPr>
        <p:spPr>
          <a:xfrm flipH="false" flipV="false" rot="0">
            <a:off x="9370861" y="2099911"/>
            <a:ext cx="465129" cy="465129"/>
          </a:xfrm>
          <a:custGeom>
            <a:avLst/>
            <a:gdLst/>
            <a:ahLst/>
            <a:cxnLst/>
            <a:rect r="r" b="b" t="t" l="l"/>
            <a:pathLst>
              <a:path h="465129" w="465129">
                <a:moveTo>
                  <a:pt x="0" y="0"/>
                </a:moveTo>
                <a:lnTo>
                  <a:pt x="465129" y="0"/>
                </a:lnTo>
                <a:lnTo>
                  <a:pt x="465129" y="465128"/>
                </a:lnTo>
                <a:lnTo>
                  <a:pt x="0" y="4651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9993996" y="2165537"/>
            <a:ext cx="6635645"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CONTROLAR CAMBIOS EN LA LÍNEA BASE DE COSTOS</a:t>
            </a:r>
          </a:p>
        </p:txBody>
      </p:sp>
      <p:grpSp>
        <p:nvGrpSpPr>
          <p:cNvPr name="Group 11" id="11"/>
          <p:cNvGrpSpPr/>
          <p:nvPr/>
        </p:nvGrpSpPr>
        <p:grpSpPr>
          <a:xfrm rot="0">
            <a:off x="9296302" y="2851057"/>
            <a:ext cx="7894964" cy="608217"/>
            <a:chOff x="0" y="0"/>
            <a:chExt cx="2245692" cy="173005"/>
          </a:xfrm>
        </p:grpSpPr>
        <p:sp>
          <p:nvSpPr>
            <p:cNvPr name="Freeform 12" id="12"/>
            <p:cNvSpPr/>
            <p:nvPr/>
          </p:nvSpPr>
          <p:spPr>
            <a:xfrm flipH="false" flipV="false" rot="0">
              <a:off x="0" y="0"/>
              <a:ext cx="2245692" cy="173005"/>
            </a:xfrm>
            <a:custGeom>
              <a:avLst/>
              <a:gdLst/>
              <a:ahLst/>
              <a:cxnLst/>
              <a:rect r="r" b="b" t="t" l="l"/>
              <a:pathLst>
                <a:path h="173005" w="2245692">
                  <a:moveTo>
                    <a:pt x="50011" y="0"/>
                  </a:moveTo>
                  <a:lnTo>
                    <a:pt x="2195681" y="0"/>
                  </a:lnTo>
                  <a:cubicBezTo>
                    <a:pt x="2208945" y="0"/>
                    <a:pt x="2221665" y="5269"/>
                    <a:pt x="2231044" y="14648"/>
                  </a:cubicBezTo>
                  <a:cubicBezTo>
                    <a:pt x="2240423" y="24027"/>
                    <a:pt x="2245692" y="36748"/>
                    <a:pt x="2245692" y="50011"/>
                  </a:cubicBezTo>
                  <a:lnTo>
                    <a:pt x="2245692" y="122994"/>
                  </a:lnTo>
                  <a:cubicBezTo>
                    <a:pt x="2245692" y="150614"/>
                    <a:pt x="2223302" y="173005"/>
                    <a:pt x="2195681" y="173005"/>
                  </a:cubicBezTo>
                  <a:lnTo>
                    <a:pt x="50011" y="173005"/>
                  </a:lnTo>
                  <a:cubicBezTo>
                    <a:pt x="22391" y="173005"/>
                    <a:pt x="0" y="150614"/>
                    <a:pt x="0" y="122994"/>
                  </a:cubicBezTo>
                  <a:lnTo>
                    <a:pt x="0" y="50011"/>
                  </a:lnTo>
                  <a:cubicBezTo>
                    <a:pt x="0" y="22391"/>
                    <a:pt x="22391" y="0"/>
                    <a:pt x="50011" y="0"/>
                  </a:cubicBezTo>
                  <a:close/>
                </a:path>
              </a:pathLst>
            </a:custGeom>
            <a:solidFill>
              <a:srgbClr val="24497B"/>
            </a:solidFill>
          </p:spPr>
        </p:sp>
        <p:sp>
          <p:nvSpPr>
            <p:cNvPr name="TextBox 13" id="13"/>
            <p:cNvSpPr txBox="true"/>
            <p:nvPr/>
          </p:nvSpPr>
          <p:spPr>
            <a:xfrm>
              <a:off x="0" y="-38100"/>
              <a:ext cx="2245692" cy="211105"/>
            </a:xfrm>
            <a:prstGeom prst="rect">
              <a:avLst/>
            </a:prstGeom>
          </p:spPr>
          <p:txBody>
            <a:bodyPr anchor="ctr" rtlCol="false" tIns="50800" lIns="50800" bIns="50800" rIns="50800"/>
            <a:lstStyle/>
            <a:p>
              <a:pPr algn="ctr">
                <a:lnSpc>
                  <a:spcPts val="2138"/>
                </a:lnSpc>
              </a:pPr>
            </a:p>
          </p:txBody>
        </p:sp>
      </p:grpSp>
      <p:sp>
        <p:nvSpPr>
          <p:cNvPr name="Freeform 14" id="14"/>
          <p:cNvSpPr/>
          <p:nvPr/>
        </p:nvSpPr>
        <p:spPr>
          <a:xfrm flipH="false" flipV="false" rot="0">
            <a:off x="9370861" y="2922601"/>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9993996" y="2987410"/>
            <a:ext cx="6635645"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GESTIONAR Y APROBAR CAMBIOS OPORTUNAMENTE</a:t>
            </a:r>
          </a:p>
        </p:txBody>
      </p:sp>
      <p:grpSp>
        <p:nvGrpSpPr>
          <p:cNvPr name="Group 16" id="16"/>
          <p:cNvGrpSpPr/>
          <p:nvPr/>
        </p:nvGrpSpPr>
        <p:grpSpPr>
          <a:xfrm rot="0">
            <a:off x="9296302" y="3653880"/>
            <a:ext cx="7894964" cy="608217"/>
            <a:chOff x="0" y="0"/>
            <a:chExt cx="2245692" cy="173005"/>
          </a:xfrm>
        </p:grpSpPr>
        <p:sp>
          <p:nvSpPr>
            <p:cNvPr name="Freeform 17" id="17"/>
            <p:cNvSpPr/>
            <p:nvPr/>
          </p:nvSpPr>
          <p:spPr>
            <a:xfrm flipH="false" flipV="false" rot="0">
              <a:off x="0" y="0"/>
              <a:ext cx="2245692" cy="173005"/>
            </a:xfrm>
            <a:custGeom>
              <a:avLst/>
              <a:gdLst/>
              <a:ahLst/>
              <a:cxnLst/>
              <a:rect r="r" b="b" t="t" l="l"/>
              <a:pathLst>
                <a:path h="173005" w="2245692">
                  <a:moveTo>
                    <a:pt x="50011" y="0"/>
                  </a:moveTo>
                  <a:lnTo>
                    <a:pt x="2195681" y="0"/>
                  </a:lnTo>
                  <a:cubicBezTo>
                    <a:pt x="2208945" y="0"/>
                    <a:pt x="2221665" y="5269"/>
                    <a:pt x="2231044" y="14648"/>
                  </a:cubicBezTo>
                  <a:cubicBezTo>
                    <a:pt x="2240423" y="24027"/>
                    <a:pt x="2245692" y="36748"/>
                    <a:pt x="2245692" y="50011"/>
                  </a:cubicBezTo>
                  <a:lnTo>
                    <a:pt x="2245692" y="122994"/>
                  </a:lnTo>
                  <a:cubicBezTo>
                    <a:pt x="2245692" y="150614"/>
                    <a:pt x="2223302" y="173005"/>
                    <a:pt x="2195681" y="173005"/>
                  </a:cubicBezTo>
                  <a:lnTo>
                    <a:pt x="50011" y="173005"/>
                  </a:lnTo>
                  <a:cubicBezTo>
                    <a:pt x="22391" y="173005"/>
                    <a:pt x="0" y="150614"/>
                    <a:pt x="0" y="122994"/>
                  </a:cubicBezTo>
                  <a:lnTo>
                    <a:pt x="0" y="50011"/>
                  </a:lnTo>
                  <a:cubicBezTo>
                    <a:pt x="0" y="22391"/>
                    <a:pt x="22391" y="0"/>
                    <a:pt x="50011" y="0"/>
                  </a:cubicBezTo>
                  <a:close/>
                </a:path>
              </a:pathLst>
            </a:custGeom>
            <a:solidFill>
              <a:srgbClr val="24497B"/>
            </a:solidFill>
          </p:spPr>
        </p:sp>
        <p:sp>
          <p:nvSpPr>
            <p:cNvPr name="TextBox 18" id="18"/>
            <p:cNvSpPr txBox="true"/>
            <p:nvPr/>
          </p:nvSpPr>
          <p:spPr>
            <a:xfrm>
              <a:off x="0" y="-38100"/>
              <a:ext cx="2245692" cy="211105"/>
            </a:xfrm>
            <a:prstGeom prst="rect">
              <a:avLst/>
            </a:prstGeom>
          </p:spPr>
          <p:txBody>
            <a:bodyPr anchor="ctr" rtlCol="false" tIns="50800" lIns="50800" bIns="50800" rIns="50800"/>
            <a:lstStyle/>
            <a:p>
              <a:pPr algn="ctr">
                <a:lnSpc>
                  <a:spcPts val="2138"/>
                </a:lnSpc>
              </a:pPr>
            </a:p>
          </p:txBody>
        </p:sp>
      </p:grpSp>
      <p:sp>
        <p:nvSpPr>
          <p:cNvPr name="Freeform 19" id="19"/>
          <p:cNvSpPr/>
          <p:nvPr/>
        </p:nvSpPr>
        <p:spPr>
          <a:xfrm flipH="false" flipV="false" rot="0">
            <a:off x="9370861" y="3725424"/>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9993996" y="3786127"/>
            <a:ext cx="6635645"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EVITAR QUE LOS GASTOS EXCEDAN EL PRESUPUESTO</a:t>
            </a:r>
          </a:p>
        </p:txBody>
      </p:sp>
      <p:grpSp>
        <p:nvGrpSpPr>
          <p:cNvPr name="Group 21" id="21"/>
          <p:cNvGrpSpPr/>
          <p:nvPr/>
        </p:nvGrpSpPr>
        <p:grpSpPr>
          <a:xfrm rot="0">
            <a:off x="9296302" y="4452597"/>
            <a:ext cx="7894964" cy="608217"/>
            <a:chOff x="0" y="0"/>
            <a:chExt cx="2245692" cy="173005"/>
          </a:xfrm>
        </p:grpSpPr>
        <p:sp>
          <p:nvSpPr>
            <p:cNvPr name="Freeform 22" id="22"/>
            <p:cNvSpPr/>
            <p:nvPr/>
          </p:nvSpPr>
          <p:spPr>
            <a:xfrm flipH="false" flipV="false" rot="0">
              <a:off x="0" y="0"/>
              <a:ext cx="2245692" cy="173005"/>
            </a:xfrm>
            <a:custGeom>
              <a:avLst/>
              <a:gdLst/>
              <a:ahLst/>
              <a:cxnLst/>
              <a:rect r="r" b="b" t="t" l="l"/>
              <a:pathLst>
                <a:path h="173005" w="2245692">
                  <a:moveTo>
                    <a:pt x="50011" y="0"/>
                  </a:moveTo>
                  <a:lnTo>
                    <a:pt x="2195681" y="0"/>
                  </a:lnTo>
                  <a:cubicBezTo>
                    <a:pt x="2208945" y="0"/>
                    <a:pt x="2221665" y="5269"/>
                    <a:pt x="2231044" y="14648"/>
                  </a:cubicBezTo>
                  <a:cubicBezTo>
                    <a:pt x="2240423" y="24027"/>
                    <a:pt x="2245692" y="36748"/>
                    <a:pt x="2245692" y="50011"/>
                  </a:cubicBezTo>
                  <a:lnTo>
                    <a:pt x="2245692" y="122994"/>
                  </a:lnTo>
                  <a:cubicBezTo>
                    <a:pt x="2245692" y="150614"/>
                    <a:pt x="2223302" y="173005"/>
                    <a:pt x="2195681" y="173005"/>
                  </a:cubicBezTo>
                  <a:lnTo>
                    <a:pt x="50011" y="173005"/>
                  </a:lnTo>
                  <a:cubicBezTo>
                    <a:pt x="22391" y="173005"/>
                    <a:pt x="0" y="150614"/>
                    <a:pt x="0" y="122994"/>
                  </a:cubicBezTo>
                  <a:lnTo>
                    <a:pt x="0" y="50011"/>
                  </a:lnTo>
                  <a:cubicBezTo>
                    <a:pt x="0" y="22391"/>
                    <a:pt x="22391" y="0"/>
                    <a:pt x="50011" y="0"/>
                  </a:cubicBezTo>
                  <a:close/>
                </a:path>
              </a:pathLst>
            </a:custGeom>
            <a:solidFill>
              <a:srgbClr val="24497B"/>
            </a:solidFill>
          </p:spPr>
        </p:sp>
        <p:sp>
          <p:nvSpPr>
            <p:cNvPr name="TextBox 23" id="23"/>
            <p:cNvSpPr txBox="true"/>
            <p:nvPr/>
          </p:nvSpPr>
          <p:spPr>
            <a:xfrm>
              <a:off x="0" y="-38100"/>
              <a:ext cx="2245692" cy="211105"/>
            </a:xfrm>
            <a:prstGeom prst="rect">
              <a:avLst/>
            </a:prstGeom>
          </p:spPr>
          <p:txBody>
            <a:bodyPr anchor="ctr" rtlCol="false" tIns="50800" lIns="50800" bIns="50800" rIns="50800"/>
            <a:lstStyle/>
            <a:p>
              <a:pPr algn="ctr">
                <a:lnSpc>
                  <a:spcPts val="2138"/>
                </a:lnSpc>
              </a:pPr>
            </a:p>
          </p:txBody>
        </p:sp>
      </p:grpSp>
      <p:sp>
        <p:nvSpPr>
          <p:cNvPr name="Freeform 24" id="24"/>
          <p:cNvSpPr/>
          <p:nvPr/>
        </p:nvSpPr>
        <p:spPr>
          <a:xfrm flipH="false" flipV="false" rot="0">
            <a:off x="9370861" y="4530525"/>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5" id="25"/>
          <p:cNvSpPr txBox="true"/>
          <p:nvPr/>
        </p:nvSpPr>
        <p:spPr>
          <a:xfrm rot="0">
            <a:off x="9993996" y="4587017"/>
            <a:ext cx="6635645"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MONITOREAR EL DESEMPEÑO DEL COSTO</a:t>
            </a:r>
          </a:p>
        </p:txBody>
      </p:sp>
      <p:grpSp>
        <p:nvGrpSpPr>
          <p:cNvPr name="Group 26" id="26"/>
          <p:cNvGrpSpPr/>
          <p:nvPr/>
        </p:nvGrpSpPr>
        <p:grpSpPr>
          <a:xfrm rot="0">
            <a:off x="9296302" y="5275288"/>
            <a:ext cx="7894964" cy="608217"/>
            <a:chOff x="0" y="0"/>
            <a:chExt cx="2245692" cy="173005"/>
          </a:xfrm>
        </p:grpSpPr>
        <p:sp>
          <p:nvSpPr>
            <p:cNvPr name="Freeform 27" id="27"/>
            <p:cNvSpPr/>
            <p:nvPr/>
          </p:nvSpPr>
          <p:spPr>
            <a:xfrm flipH="false" flipV="false" rot="0">
              <a:off x="0" y="0"/>
              <a:ext cx="2245692" cy="173005"/>
            </a:xfrm>
            <a:custGeom>
              <a:avLst/>
              <a:gdLst/>
              <a:ahLst/>
              <a:cxnLst/>
              <a:rect r="r" b="b" t="t" l="l"/>
              <a:pathLst>
                <a:path h="173005" w="2245692">
                  <a:moveTo>
                    <a:pt x="50011" y="0"/>
                  </a:moveTo>
                  <a:lnTo>
                    <a:pt x="2195681" y="0"/>
                  </a:lnTo>
                  <a:cubicBezTo>
                    <a:pt x="2208945" y="0"/>
                    <a:pt x="2221665" y="5269"/>
                    <a:pt x="2231044" y="14648"/>
                  </a:cubicBezTo>
                  <a:cubicBezTo>
                    <a:pt x="2240423" y="24027"/>
                    <a:pt x="2245692" y="36748"/>
                    <a:pt x="2245692" y="50011"/>
                  </a:cubicBezTo>
                  <a:lnTo>
                    <a:pt x="2245692" y="122994"/>
                  </a:lnTo>
                  <a:cubicBezTo>
                    <a:pt x="2245692" y="150614"/>
                    <a:pt x="2223302" y="173005"/>
                    <a:pt x="2195681" y="173005"/>
                  </a:cubicBezTo>
                  <a:lnTo>
                    <a:pt x="50011" y="173005"/>
                  </a:lnTo>
                  <a:cubicBezTo>
                    <a:pt x="22391" y="173005"/>
                    <a:pt x="0" y="150614"/>
                    <a:pt x="0" y="122994"/>
                  </a:cubicBezTo>
                  <a:lnTo>
                    <a:pt x="0" y="50011"/>
                  </a:lnTo>
                  <a:cubicBezTo>
                    <a:pt x="0" y="22391"/>
                    <a:pt x="22391" y="0"/>
                    <a:pt x="50011" y="0"/>
                  </a:cubicBezTo>
                  <a:close/>
                </a:path>
              </a:pathLst>
            </a:custGeom>
            <a:solidFill>
              <a:srgbClr val="24497B"/>
            </a:solidFill>
          </p:spPr>
        </p:sp>
        <p:sp>
          <p:nvSpPr>
            <p:cNvPr name="TextBox 28" id="28"/>
            <p:cNvSpPr txBox="true"/>
            <p:nvPr/>
          </p:nvSpPr>
          <p:spPr>
            <a:xfrm>
              <a:off x="0" y="-38100"/>
              <a:ext cx="2245692" cy="211105"/>
            </a:xfrm>
            <a:prstGeom prst="rect">
              <a:avLst/>
            </a:prstGeom>
          </p:spPr>
          <p:txBody>
            <a:bodyPr anchor="ctr" rtlCol="false" tIns="50800" lIns="50800" bIns="50800" rIns="50800"/>
            <a:lstStyle/>
            <a:p>
              <a:pPr algn="ctr">
                <a:lnSpc>
                  <a:spcPts val="2138"/>
                </a:lnSpc>
              </a:pPr>
            </a:p>
          </p:txBody>
        </p:sp>
      </p:grpSp>
      <p:sp>
        <p:nvSpPr>
          <p:cNvPr name="Freeform 29" id="29"/>
          <p:cNvSpPr/>
          <p:nvPr/>
        </p:nvSpPr>
        <p:spPr>
          <a:xfrm flipH="false" flipV="false" rot="0">
            <a:off x="9370861" y="5346832"/>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0" id="30"/>
          <p:cNvSpPr txBox="true"/>
          <p:nvPr/>
        </p:nvSpPr>
        <p:spPr>
          <a:xfrm rot="0">
            <a:off x="9993996" y="5409708"/>
            <a:ext cx="6977433"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ANALIZAR RELACIÓN ENTRE TRABAJO REALIZADO Y GASTO</a:t>
            </a:r>
          </a:p>
        </p:txBody>
      </p:sp>
      <p:grpSp>
        <p:nvGrpSpPr>
          <p:cNvPr name="Group 31" id="31"/>
          <p:cNvGrpSpPr/>
          <p:nvPr/>
        </p:nvGrpSpPr>
        <p:grpSpPr>
          <a:xfrm rot="0">
            <a:off x="9296302" y="6078111"/>
            <a:ext cx="7894964" cy="608217"/>
            <a:chOff x="0" y="0"/>
            <a:chExt cx="2245692" cy="173005"/>
          </a:xfrm>
        </p:grpSpPr>
        <p:sp>
          <p:nvSpPr>
            <p:cNvPr name="Freeform 32" id="32"/>
            <p:cNvSpPr/>
            <p:nvPr/>
          </p:nvSpPr>
          <p:spPr>
            <a:xfrm flipH="false" flipV="false" rot="0">
              <a:off x="0" y="0"/>
              <a:ext cx="2245692" cy="173005"/>
            </a:xfrm>
            <a:custGeom>
              <a:avLst/>
              <a:gdLst/>
              <a:ahLst/>
              <a:cxnLst/>
              <a:rect r="r" b="b" t="t" l="l"/>
              <a:pathLst>
                <a:path h="173005" w="2245692">
                  <a:moveTo>
                    <a:pt x="50011" y="0"/>
                  </a:moveTo>
                  <a:lnTo>
                    <a:pt x="2195681" y="0"/>
                  </a:lnTo>
                  <a:cubicBezTo>
                    <a:pt x="2208945" y="0"/>
                    <a:pt x="2221665" y="5269"/>
                    <a:pt x="2231044" y="14648"/>
                  </a:cubicBezTo>
                  <a:cubicBezTo>
                    <a:pt x="2240423" y="24027"/>
                    <a:pt x="2245692" y="36748"/>
                    <a:pt x="2245692" y="50011"/>
                  </a:cubicBezTo>
                  <a:lnTo>
                    <a:pt x="2245692" y="122994"/>
                  </a:lnTo>
                  <a:cubicBezTo>
                    <a:pt x="2245692" y="150614"/>
                    <a:pt x="2223302" y="173005"/>
                    <a:pt x="2195681" y="173005"/>
                  </a:cubicBezTo>
                  <a:lnTo>
                    <a:pt x="50011" y="173005"/>
                  </a:lnTo>
                  <a:cubicBezTo>
                    <a:pt x="22391" y="173005"/>
                    <a:pt x="0" y="150614"/>
                    <a:pt x="0" y="122994"/>
                  </a:cubicBezTo>
                  <a:lnTo>
                    <a:pt x="0" y="50011"/>
                  </a:lnTo>
                  <a:cubicBezTo>
                    <a:pt x="0" y="22391"/>
                    <a:pt x="22391" y="0"/>
                    <a:pt x="50011" y="0"/>
                  </a:cubicBezTo>
                  <a:close/>
                </a:path>
              </a:pathLst>
            </a:custGeom>
            <a:solidFill>
              <a:srgbClr val="24497B"/>
            </a:solidFill>
          </p:spPr>
        </p:sp>
        <p:sp>
          <p:nvSpPr>
            <p:cNvPr name="TextBox 33" id="33"/>
            <p:cNvSpPr txBox="true"/>
            <p:nvPr/>
          </p:nvSpPr>
          <p:spPr>
            <a:xfrm>
              <a:off x="0" y="-38100"/>
              <a:ext cx="2245692" cy="211105"/>
            </a:xfrm>
            <a:prstGeom prst="rect">
              <a:avLst/>
            </a:prstGeom>
          </p:spPr>
          <p:txBody>
            <a:bodyPr anchor="ctr" rtlCol="false" tIns="50800" lIns="50800" bIns="50800" rIns="50800"/>
            <a:lstStyle/>
            <a:p>
              <a:pPr algn="ctr">
                <a:lnSpc>
                  <a:spcPts val="2138"/>
                </a:lnSpc>
              </a:pPr>
            </a:p>
          </p:txBody>
        </p:sp>
      </p:grpSp>
      <p:sp>
        <p:nvSpPr>
          <p:cNvPr name="Freeform 34" id="34"/>
          <p:cNvSpPr/>
          <p:nvPr/>
        </p:nvSpPr>
        <p:spPr>
          <a:xfrm flipH="false" flipV="false" rot="0">
            <a:off x="9370861" y="6135207"/>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5" id="35"/>
          <p:cNvSpPr txBox="true"/>
          <p:nvPr/>
        </p:nvSpPr>
        <p:spPr>
          <a:xfrm rot="0">
            <a:off x="9993996" y="6212531"/>
            <a:ext cx="6977433"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EVITAR CAMBIOS NO AUTORIZADOS</a:t>
            </a:r>
          </a:p>
        </p:txBody>
      </p:sp>
      <p:grpSp>
        <p:nvGrpSpPr>
          <p:cNvPr name="Group 36" id="36"/>
          <p:cNvGrpSpPr/>
          <p:nvPr/>
        </p:nvGrpSpPr>
        <p:grpSpPr>
          <a:xfrm rot="0">
            <a:off x="9364336" y="6847593"/>
            <a:ext cx="7894964" cy="608217"/>
            <a:chOff x="0" y="0"/>
            <a:chExt cx="2245692" cy="173005"/>
          </a:xfrm>
        </p:grpSpPr>
        <p:sp>
          <p:nvSpPr>
            <p:cNvPr name="Freeform 37" id="37"/>
            <p:cNvSpPr/>
            <p:nvPr/>
          </p:nvSpPr>
          <p:spPr>
            <a:xfrm flipH="false" flipV="false" rot="0">
              <a:off x="0" y="0"/>
              <a:ext cx="2245692" cy="173005"/>
            </a:xfrm>
            <a:custGeom>
              <a:avLst/>
              <a:gdLst/>
              <a:ahLst/>
              <a:cxnLst/>
              <a:rect r="r" b="b" t="t" l="l"/>
              <a:pathLst>
                <a:path h="173005" w="2245692">
                  <a:moveTo>
                    <a:pt x="50011" y="0"/>
                  </a:moveTo>
                  <a:lnTo>
                    <a:pt x="2195681" y="0"/>
                  </a:lnTo>
                  <a:cubicBezTo>
                    <a:pt x="2208945" y="0"/>
                    <a:pt x="2221665" y="5269"/>
                    <a:pt x="2231044" y="14648"/>
                  </a:cubicBezTo>
                  <a:cubicBezTo>
                    <a:pt x="2240423" y="24027"/>
                    <a:pt x="2245692" y="36748"/>
                    <a:pt x="2245692" y="50011"/>
                  </a:cubicBezTo>
                  <a:lnTo>
                    <a:pt x="2245692" y="122994"/>
                  </a:lnTo>
                  <a:cubicBezTo>
                    <a:pt x="2245692" y="150614"/>
                    <a:pt x="2223302" y="173005"/>
                    <a:pt x="2195681" y="173005"/>
                  </a:cubicBezTo>
                  <a:lnTo>
                    <a:pt x="50011" y="173005"/>
                  </a:lnTo>
                  <a:cubicBezTo>
                    <a:pt x="22391" y="173005"/>
                    <a:pt x="0" y="150614"/>
                    <a:pt x="0" y="122994"/>
                  </a:cubicBezTo>
                  <a:lnTo>
                    <a:pt x="0" y="50011"/>
                  </a:lnTo>
                  <a:cubicBezTo>
                    <a:pt x="0" y="22391"/>
                    <a:pt x="22391" y="0"/>
                    <a:pt x="50011" y="0"/>
                  </a:cubicBezTo>
                  <a:close/>
                </a:path>
              </a:pathLst>
            </a:custGeom>
            <a:solidFill>
              <a:srgbClr val="24497B"/>
            </a:solidFill>
          </p:spPr>
        </p:sp>
        <p:sp>
          <p:nvSpPr>
            <p:cNvPr name="TextBox 38" id="38"/>
            <p:cNvSpPr txBox="true"/>
            <p:nvPr/>
          </p:nvSpPr>
          <p:spPr>
            <a:xfrm>
              <a:off x="0" y="-38100"/>
              <a:ext cx="2245692" cy="211105"/>
            </a:xfrm>
            <a:prstGeom prst="rect">
              <a:avLst/>
            </a:prstGeom>
          </p:spPr>
          <p:txBody>
            <a:bodyPr anchor="ctr" rtlCol="false" tIns="50800" lIns="50800" bIns="50800" rIns="50800"/>
            <a:lstStyle/>
            <a:p>
              <a:pPr algn="ctr">
                <a:lnSpc>
                  <a:spcPts val="2138"/>
                </a:lnSpc>
              </a:pPr>
            </a:p>
          </p:txBody>
        </p:sp>
      </p:grpSp>
      <p:sp>
        <p:nvSpPr>
          <p:cNvPr name="Freeform 39" id="39"/>
          <p:cNvSpPr/>
          <p:nvPr/>
        </p:nvSpPr>
        <p:spPr>
          <a:xfrm flipH="false" flipV="false" rot="0">
            <a:off x="9438896" y="6919137"/>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0" id="40"/>
          <p:cNvSpPr txBox="true"/>
          <p:nvPr/>
        </p:nvSpPr>
        <p:spPr>
          <a:xfrm rot="0">
            <a:off x="10062030" y="6982013"/>
            <a:ext cx="6977433"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INFORMAR A LOS INTERESADOS</a:t>
            </a:r>
          </a:p>
        </p:txBody>
      </p:sp>
      <p:grpSp>
        <p:nvGrpSpPr>
          <p:cNvPr name="Group 41" id="41"/>
          <p:cNvGrpSpPr/>
          <p:nvPr/>
        </p:nvGrpSpPr>
        <p:grpSpPr>
          <a:xfrm rot="0">
            <a:off x="9364336" y="7650416"/>
            <a:ext cx="7894964" cy="608217"/>
            <a:chOff x="0" y="0"/>
            <a:chExt cx="2245692" cy="173005"/>
          </a:xfrm>
        </p:grpSpPr>
        <p:sp>
          <p:nvSpPr>
            <p:cNvPr name="Freeform 42" id="42"/>
            <p:cNvSpPr/>
            <p:nvPr/>
          </p:nvSpPr>
          <p:spPr>
            <a:xfrm flipH="false" flipV="false" rot="0">
              <a:off x="0" y="0"/>
              <a:ext cx="2245692" cy="173005"/>
            </a:xfrm>
            <a:custGeom>
              <a:avLst/>
              <a:gdLst/>
              <a:ahLst/>
              <a:cxnLst/>
              <a:rect r="r" b="b" t="t" l="l"/>
              <a:pathLst>
                <a:path h="173005" w="2245692">
                  <a:moveTo>
                    <a:pt x="50011" y="0"/>
                  </a:moveTo>
                  <a:lnTo>
                    <a:pt x="2195681" y="0"/>
                  </a:lnTo>
                  <a:cubicBezTo>
                    <a:pt x="2208945" y="0"/>
                    <a:pt x="2221665" y="5269"/>
                    <a:pt x="2231044" y="14648"/>
                  </a:cubicBezTo>
                  <a:cubicBezTo>
                    <a:pt x="2240423" y="24027"/>
                    <a:pt x="2245692" y="36748"/>
                    <a:pt x="2245692" y="50011"/>
                  </a:cubicBezTo>
                  <a:lnTo>
                    <a:pt x="2245692" y="122994"/>
                  </a:lnTo>
                  <a:cubicBezTo>
                    <a:pt x="2245692" y="150614"/>
                    <a:pt x="2223302" y="173005"/>
                    <a:pt x="2195681" y="173005"/>
                  </a:cubicBezTo>
                  <a:lnTo>
                    <a:pt x="50011" y="173005"/>
                  </a:lnTo>
                  <a:cubicBezTo>
                    <a:pt x="22391" y="173005"/>
                    <a:pt x="0" y="150614"/>
                    <a:pt x="0" y="122994"/>
                  </a:cubicBezTo>
                  <a:lnTo>
                    <a:pt x="0" y="50011"/>
                  </a:lnTo>
                  <a:cubicBezTo>
                    <a:pt x="0" y="22391"/>
                    <a:pt x="22391" y="0"/>
                    <a:pt x="50011" y="0"/>
                  </a:cubicBezTo>
                  <a:close/>
                </a:path>
              </a:pathLst>
            </a:custGeom>
            <a:solidFill>
              <a:srgbClr val="24497B"/>
            </a:solidFill>
          </p:spPr>
        </p:sp>
        <p:sp>
          <p:nvSpPr>
            <p:cNvPr name="TextBox 43" id="43"/>
            <p:cNvSpPr txBox="true"/>
            <p:nvPr/>
          </p:nvSpPr>
          <p:spPr>
            <a:xfrm>
              <a:off x="0" y="-38100"/>
              <a:ext cx="2245692" cy="211105"/>
            </a:xfrm>
            <a:prstGeom prst="rect">
              <a:avLst/>
            </a:prstGeom>
          </p:spPr>
          <p:txBody>
            <a:bodyPr anchor="ctr" rtlCol="false" tIns="50800" lIns="50800" bIns="50800" rIns="50800"/>
            <a:lstStyle/>
            <a:p>
              <a:pPr algn="ctr">
                <a:lnSpc>
                  <a:spcPts val="2138"/>
                </a:lnSpc>
              </a:pPr>
            </a:p>
          </p:txBody>
        </p:sp>
      </p:grpSp>
      <p:sp>
        <p:nvSpPr>
          <p:cNvPr name="Freeform 44" id="44"/>
          <p:cNvSpPr/>
          <p:nvPr/>
        </p:nvSpPr>
        <p:spPr>
          <a:xfrm flipH="false" flipV="false" rot="0">
            <a:off x="9438896" y="7707512"/>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5" id="45"/>
          <p:cNvSpPr txBox="true"/>
          <p:nvPr/>
        </p:nvSpPr>
        <p:spPr>
          <a:xfrm rot="0">
            <a:off x="10062030" y="7784836"/>
            <a:ext cx="6977433"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APLICAR ACCIONES CORRECTIVAS ANTE DESVIACIONES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4497B"/>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726581"/>
            <a:ext cx="9427720" cy="5629433"/>
          </a:xfrm>
          <a:custGeom>
            <a:avLst/>
            <a:gdLst/>
            <a:ahLst/>
            <a:cxnLst/>
            <a:rect r="r" b="b" t="t" l="l"/>
            <a:pathLst>
              <a:path h="5629433" w="9427720">
                <a:moveTo>
                  <a:pt x="0" y="0"/>
                </a:moveTo>
                <a:lnTo>
                  <a:pt x="9427720" y="0"/>
                </a:lnTo>
                <a:lnTo>
                  <a:pt x="9427720" y="5629433"/>
                </a:lnTo>
                <a:lnTo>
                  <a:pt x="0" y="5629433"/>
                </a:lnTo>
                <a:lnTo>
                  <a:pt x="0" y="0"/>
                </a:lnTo>
                <a:close/>
              </a:path>
            </a:pathLst>
          </a:custGeom>
          <a:blipFill>
            <a:blip r:embed="rId2"/>
            <a:stretch>
              <a:fillRect l="-2149" t="0" r="-2149" b="0"/>
            </a:stretch>
          </a:blipFill>
        </p:spPr>
      </p:sp>
      <p:sp>
        <p:nvSpPr>
          <p:cNvPr name="TextBox 3" id="3"/>
          <p:cNvSpPr txBox="true"/>
          <p:nvPr/>
        </p:nvSpPr>
        <p:spPr>
          <a:xfrm rot="0">
            <a:off x="4476303" y="988774"/>
            <a:ext cx="7808641" cy="1060451"/>
          </a:xfrm>
          <a:prstGeom prst="rect">
            <a:avLst/>
          </a:prstGeom>
        </p:spPr>
        <p:txBody>
          <a:bodyPr anchor="t" rtlCol="false" tIns="0" lIns="0" bIns="0" rIns="0">
            <a:spAutoFit/>
          </a:bodyPr>
          <a:lstStyle/>
          <a:p>
            <a:pPr algn="ctr">
              <a:lnSpc>
                <a:spcPts val="8000"/>
              </a:lnSpc>
            </a:pPr>
            <a:r>
              <a:rPr lang="en-US" sz="8000" spc="-144">
                <a:solidFill>
                  <a:srgbClr val="FFFFFF"/>
                </a:solidFill>
                <a:latin typeface="Anton"/>
                <a:ea typeface="Anton"/>
                <a:cs typeface="Anton"/>
                <a:sym typeface="Anton"/>
              </a:rPr>
              <a:t>CONTROL DE COSTOS</a:t>
            </a:r>
          </a:p>
        </p:txBody>
      </p:sp>
      <p:sp>
        <p:nvSpPr>
          <p:cNvPr name="TextBox 4" id="4"/>
          <p:cNvSpPr txBox="true"/>
          <p:nvPr/>
        </p:nvSpPr>
        <p:spPr>
          <a:xfrm rot="0">
            <a:off x="869040" y="8406272"/>
            <a:ext cx="9302645" cy="852028"/>
          </a:xfrm>
          <a:prstGeom prst="rect">
            <a:avLst/>
          </a:prstGeom>
        </p:spPr>
        <p:txBody>
          <a:bodyPr anchor="t" rtlCol="false" tIns="0" lIns="0" bIns="0" rIns="0">
            <a:spAutoFit/>
          </a:bodyPr>
          <a:lstStyle/>
          <a:p>
            <a:pPr algn="just">
              <a:lnSpc>
                <a:spcPts val="3437"/>
              </a:lnSpc>
            </a:pPr>
            <a:r>
              <a:rPr lang="en-US" sz="2455">
                <a:solidFill>
                  <a:srgbClr val="FFFFFF"/>
                </a:solidFill>
                <a:latin typeface="Inter"/>
                <a:ea typeface="Inter"/>
                <a:cs typeface="Inter"/>
                <a:sym typeface="Inter"/>
              </a:rPr>
              <a:t>Figura 1. Controlar los Costos: Entradas, Herramientas y Técnicas, y Salidas</a:t>
            </a:r>
          </a:p>
        </p:txBody>
      </p:sp>
      <p:sp>
        <p:nvSpPr>
          <p:cNvPr name="Freeform 5" id="5"/>
          <p:cNvSpPr/>
          <p:nvPr/>
        </p:nvSpPr>
        <p:spPr>
          <a:xfrm flipH="false" flipV="false" rot="0">
            <a:off x="11245844" y="2726581"/>
            <a:ext cx="6013456" cy="5629433"/>
          </a:xfrm>
          <a:custGeom>
            <a:avLst/>
            <a:gdLst/>
            <a:ahLst/>
            <a:cxnLst/>
            <a:rect r="r" b="b" t="t" l="l"/>
            <a:pathLst>
              <a:path h="5629433" w="6013456">
                <a:moveTo>
                  <a:pt x="0" y="0"/>
                </a:moveTo>
                <a:lnTo>
                  <a:pt x="6013456" y="0"/>
                </a:lnTo>
                <a:lnTo>
                  <a:pt x="6013456" y="5629433"/>
                </a:lnTo>
                <a:lnTo>
                  <a:pt x="0" y="5629433"/>
                </a:lnTo>
                <a:lnTo>
                  <a:pt x="0" y="0"/>
                </a:lnTo>
                <a:close/>
              </a:path>
            </a:pathLst>
          </a:custGeom>
          <a:blipFill>
            <a:blip r:embed="rId3"/>
            <a:stretch>
              <a:fillRect l="0" t="0" r="0" b="0"/>
            </a:stretch>
          </a:blipFill>
        </p:spPr>
      </p:sp>
      <p:sp>
        <p:nvSpPr>
          <p:cNvPr name="TextBox 6" id="6"/>
          <p:cNvSpPr txBox="true"/>
          <p:nvPr/>
        </p:nvSpPr>
        <p:spPr>
          <a:xfrm rot="0">
            <a:off x="11245844" y="8406272"/>
            <a:ext cx="6013456" cy="852028"/>
          </a:xfrm>
          <a:prstGeom prst="rect">
            <a:avLst/>
          </a:prstGeom>
        </p:spPr>
        <p:txBody>
          <a:bodyPr anchor="t" rtlCol="false" tIns="0" lIns="0" bIns="0" rIns="0">
            <a:spAutoFit/>
          </a:bodyPr>
          <a:lstStyle/>
          <a:p>
            <a:pPr algn="just">
              <a:lnSpc>
                <a:spcPts val="3437"/>
              </a:lnSpc>
            </a:pPr>
            <a:r>
              <a:rPr lang="en-US" sz="2455">
                <a:solidFill>
                  <a:srgbClr val="FFFFFF"/>
                </a:solidFill>
                <a:latin typeface="Inter"/>
                <a:ea typeface="Inter"/>
                <a:cs typeface="Inter"/>
                <a:sym typeface="Inter"/>
              </a:rPr>
              <a:t>Figura 2. Controlar los Costos: Diagrama de Flujo de Datos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5" id="5"/>
          <p:cNvSpPr txBox="true"/>
          <p:nvPr/>
        </p:nvSpPr>
        <p:spPr>
          <a:xfrm rot="0">
            <a:off x="2612241" y="717509"/>
            <a:ext cx="13292828" cy="1060451"/>
          </a:xfrm>
          <a:prstGeom prst="rect">
            <a:avLst/>
          </a:prstGeom>
        </p:spPr>
        <p:txBody>
          <a:bodyPr anchor="t" rtlCol="false" tIns="0" lIns="0" bIns="0" rIns="0">
            <a:spAutoFit/>
          </a:bodyPr>
          <a:lstStyle/>
          <a:p>
            <a:pPr algn="ctr">
              <a:lnSpc>
                <a:spcPts val="8000"/>
              </a:lnSpc>
            </a:pPr>
            <a:r>
              <a:rPr lang="en-US" sz="8000" spc="-144">
                <a:solidFill>
                  <a:srgbClr val="24497B"/>
                </a:solidFill>
                <a:latin typeface="Anton"/>
                <a:ea typeface="Anton"/>
                <a:cs typeface="Anton"/>
                <a:sym typeface="Anton"/>
              </a:rPr>
              <a:t>CONTROL DEL PROGRAMA</a:t>
            </a:r>
          </a:p>
        </p:txBody>
      </p:sp>
      <p:sp>
        <p:nvSpPr>
          <p:cNvPr name="TextBox 6" id="6"/>
          <p:cNvSpPr txBox="true"/>
          <p:nvPr/>
        </p:nvSpPr>
        <p:spPr>
          <a:xfrm rot="0">
            <a:off x="2827570" y="4308699"/>
            <a:ext cx="3459080" cy="523875"/>
          </a:xfrm>
          <a:prstGeom prst="rect">
            <a:avLst/>
          </a:prstGeom>
        </p:spPr>
        <p:txBody>
          <a:bodyPr anchor="t" rtlCol="false" tIns="0" lIns="0" bIns="0" rIns="0">
            <a:spAutoFit/>
          </a:bodyPr>
          <a:lstStyle/>
          <a:p>
            <a:pPr algn="l">
              <a:lnSpc>
                <a:spcPts val="4200"/>
              </a:lnSpc>
            </a:pPr>
            <a:r>
              <a:rPr lang="en-US" sz="3000" b="true">
                <a:solidFill>
                  <a:srgbClr val="000000"/>
                </a:solidFill>
                <a:latin typeface="Inter Bold"/>
                <a:ea typeface="Inter Bold"/>
                <a:cs typeface="Inter Bold"/>
                <a:sym typeface="Inter Bold"/>
              </a:rPr>
              <a:t>¿Qué se controla?</a:t>
            </a:r>
          </a:p>
        </p:txBody>
      </p:sp>
      <p:sp>
        <p:nvSpPr>
          <p:cNvPr name="TextBox 7" id="7"/>
          <p:cNvSpPr txBox="true"/>
          <p:nvPr/>
        </p:nvSpPr>
        <p:spPr>
          <a:xfrm rot="0">
            <a:off x="2612241" y="5424317"/>
            <a:ext cx="3459080" cy="929821"/>
          </a:xfrm>
          <a:prstGeom prst="rect">
            <a:avLst/>
          </a:prstGeom>
        </p:spPr>
        <p:txBody>
          <a:bodyPr anchor="t" rtlCol="false" tIns="0" lIns="0" bIns="0" rIns="0">
            <a:spAutoFit/>
          </a:bodyPr>
          <a:lstStyle/>
          <a:p>
            <a:pPr algn="ctr">
              <a:lnSpc>
                <a:spcPts val="3595"/>
              </a:lnSpc>
            </a:pPr>
            <a:r>
              <a:rPr lang="en-US" sz="3595" spc="-64">
                <a:solidFill>
                  <a:srgbClr val="24497B"/>
                </a:solidFill>
                <a:latin typeface="Anton"/>
                <a:ea typeface="Anton"/>
                <a:cs typeface="Anton"/>
                <a:sym typeface="Anton"/>
              </a:rPr>
              <a:t>Cumplimiento de actividades</a:t>
            </a:r>
          </a:p>
        </p:txBody>
      </p:sp>
      <p:sp>
        <p:nvSpPr>
          <p:cNvPr name="TextBox 8" id="8"/>
          <p:cNvSpPr txBox="true"/>
          <p:nvPr/>
        </p:nvSpPr>
        <p:spPr>
          <a:xfrm rot="0">
            <a:off x="7211405" y="5650610"/>
            <a:ext cx="3865190" cy="477236"/>
          </a:xfrm>
          <a:prstGeom prst="rect">
            <a:avLst/>
          </a:prstGeom>
        </p:spPr>
        <p:txBody>
          <a:bodyPr anchor="t" rtlCol="false" tIns="0" lIns="0" bIns="0" rIns="0">
            <a:spAutoFit/>
          </a:bodyPr>
          <a:lstStyle/>
          <a:p>
            <a:pPr algn="ctr">
              <a:lnSpc>
                <a:spcPts val="3595"/>
              </a:lnSpc>
            </a:pPr>
            <a:r>
              <a:rPr lang="en-US" sz="3595" spc="-64">
                <a:solidFill>
                  <a:srgbClr val="24497B"/>
                </a:solidFill>
                <a:latin typeface="Anton"/>
                <a:ea typeface="Anton"/>
                <a:cs typeface="Anton"/>
                <a:sym typeface="Anton"/>
              </a:rPr>
              <a:t>Fechas de inicio y fin</a:t>
            </a:r>
          </a:p>
        </p:txBody>
      </p:sp>
      <p:sp>
        <p:nvSpPr>
          <p:cNvPr name="TextBox 9" id="9"/>
          <p:cNvSpPr txBox="true"/>
          <p:nvPr/>
        </p:nvSpPr>
        <p:spPr>
          <a:xfrm rot="0">
            <a:off x="12216679" y="5650610"/>
            <a:ext cx="3459080" cy="477236"/>
          </a:xfrm>
          <a:prstGeom prst="rect">
            <a:avLst/>
          </a:prstGeom>
        </p:spPr>
        <p:txBody>
          <a:bodyPr anchor="t" rtlCol="false" tIns="0" lIns="0" bIns="0" rIns="0">
            <a:spAutoFit/>
          </a:bodyPr>
          <a:lstStyle/>
          <a:p>
            <a:pPr algn="ctr">
              <a:lnSpc>
                <a:spcPts val="3595"/>
              </a:lnSpc>
            </a:pPr>
            <a:r>
              <a:rPr lang="en-US" sz="3595" spc="-64">
                <a:solidFill>
                  <a:srgbClr val="24497B"/>
                </a:solidFill>
                <a:latin typeface="Anton"/>
                <a:ea typeface="Anton"/>
                <a:cs typeface="Anton"/>
                <a:sym typeface="Anton"/>
              </a:rPr>
              <a:t>Precios</a:t>
            </a:r>
          </a:p>
        </p:txBody>
      </p:sp>
      <p:sp>
        <p:nvSpPr>
          <p:cNvPr name="AutoShape 10" id="10"/>
          <p:cNvSpPr/>
          <p:nvPr/>
        </p:nvSpPr>
        <p:spPr>
          <a:xfrm flipH="true" flipV="true">
            <a:off x="6743651" y="5146899"/>
            <a:ext cx="0" cy="1378497"/>
          </a:xfrm>
          <a:prstGeom prst="line">
            <a:avLst/>
          </a:prstGeom>
          <a:ln cap="flat" w="38100">
            <a:solidFill>
              <a:srgbClr val="24497B"/>
            </a:solidFill>
            <a:prstDash val="solid"/>
            <a:headEnd type="oval" len="lg" w="lg"/>
            <a:tailEnd type="oval" len="lg" w="lg"/>
          </a:ln>
        </p:spPr>
      </p:sp>
      <p:sp>
        <p:nvSpPr>
          <p:cNvPr name="AutoShape 11" id="11"/>
          <p:cNvSpPr/>
          <p:nvPr/>
        </p:nvSpPr>
        <p:spPr>
          <a:xfrm flipH="true" flipV="true">
            <a:off x="11819004" y="5146899"/>
            <a:ext cx="0" cy="1378497"/>
          </a:xfrm>
          <a:prstGeom prst="line">
            <a:avLst/>
          </a:prstGeom>
          <a:ln cap="flat" w="38100">
            <a:solidFill>
              <a:srgbClr val="24497B"/>
            </a:solidFill>
            <a:prstDash val="solid"/>
            <a:headEnd type="oval" len="lg" w="lg"/>
            <a:tailEnd type="oval" len="lg" w="lg"/>
          </a:ln>
        </p:spPr>
      </p:sp>
      <p:sp>
        <p:nvSpPr>
          <p:cNvPr name="TextBox 12" id="12"/>
          <p:cNvSpPr txBox="true"/>
          <p:nvPr/>
        </p:nvSpPr>
        <p:spPr>
          <a:xfrm rot="0">
            <a:off x="2612241" y="3008996"/>
            <a:ext cx="13063518" cy="852028"/>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Proceso de monitorear el avance del proyecto </a:t>
            </a:r>
            <a:r>
              <a:rPr lang="en-US" sz="2455">
                <a:solidFill>
                  <a:srgbClr val="000000"/>
                </a:solidFill>
                <a:latin typeface="Inter"/>
                <a:ea typeface="Inter"/>
                <a:cs typeface="Inter"/>
                <a:sym typeface="Inter"/>
              </a:rPr>
              <a:t>res</a:t>
            </a:r>
            <a:r>
              <a:rPr lang="en-US" sz="2455">
                <a:solidFill>
                  <a:srgbClr val="000000"/>
                </a:solidFill>
                <a:latin typeface="Inter"/>
                <a:ea typeface="Inter"/>
                <a:cs typeface="Inter"/>
                <a:sym typeface="Inter"/>
              </a:rPr>
              <a:t>p</a:t>
            </a:r>
            <a:r>
              <a:rPr lang="en-US" sz="2455">
                <a:solidFill>
                  <a:srgbClr val="000000"/>
                </a:solidFill>
                <a:latin typeface="Inter"/>
                <a:ea typeface="Inter"/>
                <a:cs typeface="Inter"/>
                <a:sym typeface="Inter"/>
              </a:rPr>
              <a:t>e</a:t>
            </a:r>
            <a:r>
              <a:rPr lang="en-US" sz="2455">
                <a:solidFill>
                  <a:srgbClr val="000000"/>
                </a:solidFill>
                <a:latin typeface="Inter"/>
                <a:ea typeface="Inter"/>
                <a:cs typeface="Inter"/>
                <a:sym typeface="Inter"/>
              </a:rPr>
              <a:t>cto al ti</a:t>
            </a:r>
            <a:r>
              <a:rPr lang="en-US" sz="2455">
                <a:solidFill>
                  <a:srgbClr val="000000"/>
                </a:solidFill>
                <a:latin typeface="Inter"/>
                <a:ea typeface="Inter"/>
                <a:cs typeface="Inter"/>
                <a:sym typeface="Inter"/>
              </a:rPr>
              <a:t>e</a:t>
            </a:r>
            <a:r>
              <a:rPr lang="en-US" sz="2455">
                <a:solidFill>
                  <a:srgbClr val="000000"/>
                </a:solidFill>
                <a:latin typeface="Inter"/>
                <a:ea typeface="Inter"/>
                <a:cs typeface="Inter"/>
                <a:sym typeface="Inter"/>
              </a:rPr>
              <a:t>mpo planificado con el objetivo de detectar retrasos y tomar acciones correctivas</a:t>
            </a:r>
          </a:p>
        </p:txBody>
      </p:sp>
      <p:sp>
        <p:nvSpPr>
          <p:cNvPr name="TextBox 13" id="13"/>
          <p:cNvSpPr txBox="true"/>
          <p:nvPr/>
        </p:nvSpPr>
        <p:spPr>
          <a:xfrm rot="0">
            <a:off x="2827570" y="2229580"/>
            <a:ext cx="1897488" cy="523875"/>
          </a:xfrm>
          <a:prstGeom prst="rect">
            <a:avLst/>
          </a:prstGeom>
        </p:spPr>
        <p:txBody>
          <a:bodyPr anchor="t" rtlCol="false" tIns="0" lIns="0" bIns="0" rIns="0">
            <a:spAutoFit/>
          </a:bodyPr>
          <a:lstStyle/>
          <a:p>
            <a:pPr algn="ctr">
              <a:lnSpc>
                <a:spcPts val="4200"/>
              </a:lnSpc>
            </a:pPr>
            <a:r>
              <a:rPr lang="en-US" sz="3000" b="true">
                <a:solidFill>
                  <a:srgbClr val="000000"/>
                </a:solidFill>
                <a:latin typeface="Inter Bold"/>
                <a:ea typeface="Inter Bold"/>
                <a:cs typeface="Inter Bold"/>
                <a:sym typeface="Inter Bold"/>
              </a:rPr>
              <a:t>¿Qué es?</a:t>
            </a:r>
          </a:p>
        </p:txBody>
      </p:sp>
      <p:sp>
        <p:nvSpPr>
          <p:cNvPr name="TextBox 14" id="14"/>
          <p:cNvSpPr txBox="true"/>
          <p:nvPr/>
        </p:nvSpPr>
        <p:spPr>
          <a:xfrm rot="0">
            <a:off x="2612241" y="7089006"/>
            <a:ext cx="3674408" cy="523875"/>
          </a:xfrm>
          <a:prstGeom prst="rect">
            <a:avLst/>
          </a:prstGeom>
        </p:spPr>
        <p:txBody>
          <a:bodyPr anchor="t" rtlCol="false" tIns="0" lIns="0" bIns="0" rIns="0">
            <a:spAutoFit/>
          </a:bodyPr>
          <a:lstStyle/>
          <a:p>
            <a:pPr algn="l">
              <a:lnSpc>
                <a:spcPts val="4200"/>
              </a:lnSpc>
            </a:pPr>
            <a:r>
              <a:rPr lang="en-US" sz="3000" b="true">
                <a:solidFill>
                  <a:srgbClr val="000000"/>
                </a:solidFill>
                <a:latin typeface="Inter Bold"/>
                <a:ea typeface="Inter Bold"/>
                <a:cs typeface="Inter Bold"/>
                <a:sym typeface="Inter Bold"/>
              </a:rPr>
              <a:t>Indicadores claves</a:t>
            </a:r>
          </a:p>
        </p:txBody>
      </p:sp>
      <p:sp>
        <p:nvSpPr>
          <p:cNvPr name="TextBox 15" id="15"/>
          <p:cNvSpPr txBox="true"/>
          <p:nvPr/>
        </p:nvSpPr>
        <p:spPr>
          <a:xfrm rot="0">
            <a:off x="2399517" y="7870056"/>
            <a:ext cx="13063518" cy="852028"/>
          </a:xfrm>
          <a:prstGeom prst="rect">
            <a:avLst/>
          </a:prstGeom>
        </p:spPr>
        <p:txBody>
          <a:bodyPr anchor="t" rtlCol="false" tIns="0" lIns="0" bIns="0" rIns="0">
            <a:spAutoFit/>
          </a:bodyPr>
          <a:lstStyle/>
          <a:p>
            <a:pPr algn="l" marL="530162" indent="-265081" lvl="1">
              <a:lnSpc>
                <a:spcPts val="3437"/>
              </a:lnSpc>
              <a:buFont typeface="Arial"/>
              <a:buChar char="•"/>
            </a:pPr>
            <a:r>
              <a:rPr lang="en-US" sz="2455">
                <a:solidFill>
                  <a:srgbClr val="000000"/>
                </a:solidFill>
                <a:latin typeface="Inter"/>
                <a:ea typeface="Inter"/>
                <a:cs typeface="Inter"/>
                <a:sym typeface="Inter"/>
              </a:rPr>
              <a:t>SV (Variación del cronog</a:t>
            </a:r>
            <a:r>
              <a:rPr lang="en-US" sz="2455">
                <a:solidFill>
                  <a:srgbClr val="000000"/>
                </a:solidFill>
                <a:latin typeface="Inter"/>
                <a:ea typeface="Inter"/>
                <a:cs typeface="Inter"/>
                <a:sym typeface="Inter"/>
              </a:rPr>
              <a:t>r</a:t>
            </a:r>
            <a:r>
              <a:rPr lang="en-US" sz="2455">
                <a:solidFill>
                  <a:srgbClr val="000000"/>
                </a:solidFill>
                <a:latin typeface="Inter"/>
                <a:ea typeface="Inter"/>
                <a:cs typeface="Inter"/>
                <a:sym typeface="Inter"/>
              </a:rPr>
              <a:t>ama)</a:t>
            </a:r>
          </a:p>
          <a:p>
            <a:pPr algn="l" marL="530162" indent="-265081" lvl="1">
              <a:lnSpc>
                <a:spcPts val="3437"/>
              </a:lnSpc>
              <a:buFont typeface="Arial"/>
              <a:buChar char="•"/>
            </a:pPr>
            <a:r>
              <a:rPr lang="en-US" sz="2455">
                <a:solidFill>
                  <a:srgbClr val="000000"/>
                </a:solidFill>
                <a:latin typeface="Inter"/>
                <a:ea typeface="Inter"/>
                <a:cs typeface="Inter"/>
                <a:sym typeface="Inter"/>
              </a:rPr>
              <a:t>SPI (Índice de desempeño del cronograma)</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934275" y="1412274"/>
            <a:ext cx="1064272" cy="106427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735601" y="1412274"/>
            <a:ext cx="1064272" cy="106427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934275" y="4479748"/>
            <a:ext cx="1064272" cy="106427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3735601" y="4479748"/>
            <a:ext cx="1064272" cy="106427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514350" y="9603531"/>
            <a:ext cx="22951717" cy="3086100"/>
            <a:chOff x="0" y="0"/>
            <a:chExt cx="6044897" cy="812800"/>
          </a:xfrm>
        </p:grpSpPr>
        <p:sp>
          <p:nvSpPr>
            <p:cNvPr name="Freeform 15" id="15"/>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16" id="16"/>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17" id="17"/>
          <p:cNvSpPr txBox="true"/>
          <p:nvPr/>
        </p:nvSpPr>
        <p:spPr>
          <a:xfrm rot="0">
            <a:off x="1028700" y="3784815"/>
            <a:ext cx="7630071" cy="3079751"/>
          </a:xfrm>
          <a:prstGeom prst="rect">
            <a:avLst/>
          </a:prstGeom>
        </p:spPr>
        <p:txBody>
          <a:bodyPr anchor="t" rtlCol="false" tIns="0" lIns="0" bIns="0" rIns="0">
            <a:spAutoFit/>
          </a:bodyPr>
          <a:lstStyle/>
          <a:p>
            <a:pPr algn="ctr">
              <a:lnSpc>
                <a:spcPts val="8000"/>
              </a:lnSpc>
            </a:pPr>
            <a:r>
              <a:rPr lang="en-US" sz="8000" spc="-144">
                <a:solidFill>
                  <a:srgbClr val="24497B"/>
                </a:solidFill>
                <a:latin typeface="Anton"/>
                <a:ea typeface="Anton"/>
                <a:cs typeface="Anton"/>
                <a:sym typeface="Anton"/>
              </a:rPr>
              <a:t>HERRAMIENTAS </a:t>
            </a:r>
          </a:p>
          <a:p>
            <a:pPr algn="ctr">
              <a:lnSpc>
                <a:spcPts val="8000"/>
              </a:lnSpc>
            </a:pPr>
            <a:r>
              <a:rPr lang="en-US" sz="8000" spc="-144">
                <a:solidFill>
                  <a:srgbClr val="24497B"/>
                </a:solidFill>
                <a:latin typeface="Anton"/>
                <a:ea typeface="Anton"/>
                <a:cs typeface="Anton"/>
                <a:sym typeface="Anton"/>
              </a:rPr>
              <a:t>Y TÉCNICAS PARA CONTROLAR COSTOS </a:t>
            </a:r>
          </a:p>
        </p:txBody>
      </p:sp>
      <p:sp>
        <p:nvSpPr>
          <p:cNvPr name="TextBox 18" id="18"/>
          <p:cNvSpPr txBox="true"/>
          <p:nvPr/>
        </p:nvSpPr>
        <p:spPr>
          <a:xfrm rot="0">
            <a:off x="10052544" y="1674204"/>
            <a:ext cx="827735" cy="616612"/>
          </a:xfrm>
          <a:prstGeom prst="rect">
            <a:avLst/>
          </a:prstGeom>
        </p:spPr>
        <p:txBody>
          <a:bodyPr anchor="t" rtlCol="false" tIns="0" lIns="0" bIns="0" rIns="0">
            <a:spAutoFit/>
          </a:bodyPr>
          <a:lstStyle/>
          <a:p>
            <a:pPr algn="ctr">
              <a:lnSpc>
                <a:spcPts val="4556"/>
              </a:lnSpc>
            </a:pPr>
            <a:r>
              <a:rPr lang="en-US" sz="4556" spc="-82">
                <a:solidFill>
                  <a:srgbClr val="FFFFFF"/>
                </a:solidFill>
                <a:latin typeface="Anton"/>
                <a:ea typeface="Anton"/>
                <a:cs typeface="Anton"/>
                <a:sym typeface="Anton"/>
              </a:rPr>
              <a:t>01</a:t>
            </a:r>
          </a:p>
        </p:txBody>
      </p:sp>
      <p:sp>
        <p:nvSpPr>
          <p:cNvPr name="TextBox 19" id="19"/>
          <p:cNvSpPr txBox="true"/>
          <p:nvPr/>
        </p:nvSpPr>
        <p:spPr>
          <a:xfrm rot="0">
            <a:off x="9144000" y="2711544"/>
            <a:ext cx="2869977" cy="719892"/>
          </a:xfrm>
          <a:prstGeom prst="rect">
            <a:avLst/>
          </a:prstGeom>
        </p:spPr>
        <p:txBody>
          <a:bodyPr anchor="t" rtlCol="false" tIns="0" lIns="0" bIns="0" rIns="0">
            <a:spAutoFit/>
          </a:bodyPr>
          <a:lstStyle/>
          <a:p>
            <a:pPr algn="ctr">
              <a:lnSpc>
                <a:spcPts val="2842"/>
              </a:lnSpc>
            </a:pPr>
            <a:r>
              <a:rPr lang="en-US" sz="2842" spc="-51">
                <a:solidFill>
                  <a:srgbClr val="24497B"/>
                </a:solidFill>
                <a:latin typeface="Anton"/>
                <a:ea typeface="Anton"/>
                <a:cs typeface="Anton"/>
                <a:sym typeface="Anton"/>
              </a:rPr>
              <a:t>Análisis de valor ganaddo (EVA)</a:t>
            </a:r>
          </a:p>
        </p:txBody>
      </p:sp>
      <p:sp>
        <p:nvSpPr>
          <p:cNvPr name="TextBox 20" id="20"/>
          <p:cNvSpPr txBox="true"/>
          <p:nvPr/>
        </p:nvSpPr>
        <p:spPr>
          <a:xfrm rot="0">
            <a:off x="13853870" y="1674204"/>
            <a:ext cx="827735" cy="616612"/>
          </a:xfrm>
          <a:prstGeom prst="rect">
            <a:avLst/>
          </a:prstGeom>
        </p:spPr>
        <p:txBody>
          <a:bodyPr anchor="t" rtlCol="false" tIns="0" lIns="0" bIns="0" rIns="0">
            <a:spAutoFit/>
          </a:bodyPr>
          <a:lstStyle/>
          <a:p>
            <a:pPr algn="ctr">
              <a:lnSpc>
                <a:spcPts val="4556"/>
              </a:lnSpc>
            </a:pPr>
            <a:r>
              <a:rPr lang="en-US" sz="4556" spc="-82">
                <a:solidFill>
                  <a:srgbClr val="FFFFFF"/>
                </a:solidFill>
                <a:latin typeface="Anton"/>
                <a:ea typeface="Anton"/>
                <a:cs typeface="Anton"/>
                <a:sym typeface="Anton"/>
              </a:rPr>
              <a:t>02</a:t>
            </a:r>
          </a:p>
        </p:txBody>
      </p:sp>
      <p:sp>
        <p:nvSpPr>
          <p:cNvPr name="TextBox 21" id="21"/>
          <p:cNvSpPr txBox="true"/>
          <p:nvPr/>
        </p:nvSpPr>
        <p:spPr>
          <a:xfrm rot="0">
            <a:off x="12933062" y="2711544"/>
            <a:ext cx="3011817" cy="367467"/>
          </a:xfrm>
          <a:prstGeom prst="rect">
            <a:avLst/>
          </a:prstGeom>
        </p:spPr>
        <p:txBody>
          <a:bodyPr anchor="t" rtlCol="false" tIns="0" lIns="0" bIns="0" rIns="0">
            <a:spAutoFit/>
          </a:bodyPr>
          <a:lstStyle/>
          <a:p>
            <a:pPr algn="ctr">
              <a:lnSpc>
                <a:spcPts val="2842"/>
              </a:lnSpc>
            </a:pPr>
            <a:r>
              <a:rPr lang="en-US" sz="2842" spc="-51">
                <a:solidFill>
                  <a:srgbClr val="24497B"/>
                </a:solidFill>
                <a:latin typeface="Anton"/>
                <a:ea typeface="Anton"/>
                <a:cs typeface="Anton"/>
                <a:sym typeface="Anton"/>
              </a:rPr>
              <a:t>Análisis de variación</a:t>
            </a:r>
          </a:p>
        </p:txBody>
      </p:sp>
      <p:sp>
        <p:nvSpPr>
          <p:cNvPr name="TextBox 22" id="22"/>
          <p:cNvSpPr txBox="true"/>
          <p:nvPr/>
        </p:nvSpPr>
        <p:spPr>
          <a:xfrm rot="0">
            <a:off x="10052544" y="4741678"/>
            <a:ext cx="827735" cy="616612"/>
          </a:xfrm>
          <a:prstGeom prst="rect">
            <a:avLst/>
          </a:prstGeom>
        </p:spPr>
        <p:txBody>
          <a:bodyPr anchor="t" rtlCol="false" tIns="0" lIns="0" bIns="0" rIns="0">
            <a:spAutoFit/>
          </a:bodyPr>
          <a:lstStyle/>
          <a:p>
            <a:pPr algn="ctr">
              <a:lnSpc>
                <a:spcPts val="4556"/>
              </a:lnSpc>
            </a:pPr>
            <a:r>
              <a:rPr lang="en-US" sz="4556" spc="-82">
                <a:solidFill>
                  <a:srgbClr val="FFFFFF"/>
                </a:solidFill>
                <a:latin typeface="Anton"/>
                <a:ea typeface="Anton"/>
                <a:cs typeface="Anton"/>
                <a:sym typeface="Anton"/>
              </a:rPr>
              <a:t>03</a:t>
            </a:r>
          </a:p>
        </p:txBody>
      </p:sp>
      <p:sp>
        <p:nvSpPr>
          <p:cNvPr name="TextBox 23" id="23"/>
          <p:cNvSpPr txBox="true"/>
          <p:nvPr/>
        </p:nvSpPr>
        <p:spPr>
          <a:xfrm rot="0">
            <a:off x="9144000" y="5779017"/>
            <a:ext cx="2869977" cy="719892"/>
          </a:xfrm>
          <a:prstGeom prst="rect">
            <a:avLst/>
          </a:prstGeom>
        </p:spPr>
        <p:txBody>
          <a:bodyPr anchor="t" rtlCol="false" tIns="0" lIns="0" bIns="0" rIns="0">
            <a:spAutoFit/>
          </a:bodyPr>
          <a:lstStyle/>
          <a:p>
            <a:pPr algn="ctr">
              <a:lnSpc>
                <a:spcPts val="2842"/>
              </a:lnSpc>
            </a:pPr>
            <a:r>
              <a:rPr lang="en-US" sz="2842" spc="-51">
                <a:solidFill>
                  <a:srgbClr val="24497B"/>
                </a:solidFill>
                <a:latin typeface="Anton"/>
                <a:ea typeface="Anton"/>
                <a:cs typeface="Anton"/>
                <a:sym typeface="Anton"/>
              </a:rPr>
              <a:t>Análisis de tendencias</a:t>
            </a:r>
          </a:p>
        </p:txBody>
      </p:sp>
      <p:sp>
        <p:nvSpPr>
          <p:cNvPr name="TextBox 24" id="24"/>
          <p:cNvSpPr txBox="true"/>
          <p:nvPr/>
        </p:nvSpPr>
        <p:spPr>
          <a:xfrm rot="0">
            <a:off x="13853870" y="4741678"/>
            <a:ext cx="827735" cy="616612"/>
          </a:xfrm>
          <a:prstGeom prst="rect">
            <a:avLst/>
          </a:prstGeom>
        </p:spPr>
        <p:txBody>
          <a:bodyPr anchor="t" rtlCol="false" tIns="0" lIns="0" bIns="0" rIns="0">
            <a:spAutoFit/>
          </a:bodyPr>
          <a:lstStyle/>
          <a:p>
            <a:pPr algn="ctr">
              <a:lnSpc>
                <a:spcPts val="4556"/>
              </a:lnSpc>
            </a:pPr>
            <a:r>
              <a:rPr lang="en-US" sz="4556" spc="-82">
                <a:solidFill>
                  <a:srgbClr val="FFFFFF"/>
                </a:solidFill>
                <a:latin typeface="Anton"/>
                <a:ea typeface="Anton"/>
                <a:cs typeface="Anton"/>
                <a:sym typeface="Anton"/>
              </a:rPr>
              <a:t>04</a:t>
            </a:r>
          </a:p>
        </p:txBody>
      </p:sp>
      <p:sp>
        <p:nvSpPr>
          <p:cNvPr name="TextBox 25" id="25"/>
          <p:cNvSpPr txBox="true"/>
          <p:nvPr/>
        </p:nvSpPr>
        <p:spPr>
          <a:xfrm rot="0">
            <a:off x="13003982" y="5779017"/>
            <a:ext cx="2869977" cy="372969"/>
          </a:xfrm>
          <a:prstGeom prst="rect">
            <a:avLst/>
          </a:prstGeom>
        </p:spPr>
        <p:txBody>
          <a:bodyPr anchor="t" rtlCol="false" tIns="0" lIns="0" bIns="0" rIns="0">
            <a:spAutoFit/>
          </a:bodyPr>
          <a:lstStyle/>
          <a:p>
            <a:pPr algn="l">
              <a:lnSpc>
                <a:spcPts val="2842"/>
              </a:lnSpc>
            </a:pPr>
            <a:r>
              <a:rPr lang="en-US" sz="2842" spc="-51">
                <a:solidFill>
                  <a:srgbClr val="24497B"/>
                </a:solidFill>
                <a:latin typeface="Anton"/>
                <a:ea typeface="Anton"/>
                <a:cs typeface="Anton"/>
                <a:sym typeface="Anton"/>
              </a:rPr>
              <a:t>Análisis de reserva</a:t>
            </a:r>
          </a:p>
        </p:txBody>
      </p:sp>
      <p:grpSp>
        <p:nvGrpSpPr>
          <p:cNvPr name="Group 26" id="26"/>
          <p:cNvGrpSpPr/>
          <p:nvPr/>
        </p:nvGrpSpPr>
        <p:grpSpPr>
          <a:xfrm rot="0">
            <a:off x="11981367" y="7137935"/>
            <a:ext cx="1064272" cy="1064272"/>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28" id="2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12099636" y="7399865"/>
            <a:ext cx="827735" cy="616612"/>
          </a:xfrm>
          <a:prstGeom prst="rect">
            <a:avLst/>
          </a:prstGeom>
        </p:spPr>
        <p:txBody>
          <a:bodyPr anchor="t" rtlCol="false" tIns="0" lIns="0" bIns="0" rIns="0">
            <a:spAutoFit/>
          </a:bodyPr>
          <a:lstStyle/>
          <a:p>
            <a:pPr algn="ctr">
              <a:lnSpc>
                <a:spcPts val="4556"/>
              </a:lnSpc>
            </a:pPr>
            <a:r>
              <a:rPr lang="en-US" sz="4556" spc="-82">
                <a:solidFill>
                  <a:srgbClr val="FFFFFF"/>
                </a:solidFill>
                <a:latin typeface="Anton"/>
                <a:ea typeface="Anton"/>
                <a:cs typeface="Anton"/>
                <a:sym typeface="Anton"/>
              </a:rPr>
              <a:t>05</a:t>
            </a:r>
          </a:p>
        </p:txBody>
      </p:sp>
      <p:sp>
        <p:nvSpPr>
          <p:cNvPr name="TextBox 30" id="30"/>
          <p:cNvSpPr txBox="true"/>
          <p:nvPr/>
        </p:nvSpPr>
        <p:spPr>
          <a:xfrm rot="0">
            <a:off x="10578988" y="8538408"/>
            <a:ext cx="4215194" cy="719892"/>
          </a:xfrm>
          <a:prstGeom prst="rect">
            <a:avLst/>
          </a:prstGeom>
        </p:spPr>
        <p:txBody>
          <a:bodyPr anchor="t" rtlCol="false" tIns="0" lIns="0" bIns="0" rIns="0">
            <a:spAutoFit/>
          </a:bodyPr>
          <a:lstStyle/>
          <a:p>
            <a:pPr algn="ctr">
              <a:lnSpc>
                <a:spcPts val="2842"/>
              </a:lnSpc>
            </a:pPr>
            <a:r>
              <a:rPr lang="en-US" sz="2842" spc="-51">
                <a:solidFill>
                  <a:srgbClr val="24497B"/>
                </a:solidFill>
                <a:latin typeface="Anton"/>
                <a:ea typeface="Anton"/>
                <a:cs typeface="Anton"/>
                <a:sym typeface="Anton"/>
              </a:rPr>
              <a:t>Índice de desempeño del trabajo por completar</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5" id="5"/>
          <p:cNvSpPr txBox="true"/>
          <p:nvPr/>
        </p:nvSpPr>
        <p:spPr>
          <a:xfrm rot="0">
            <a:off x="2325192" y="1181100"/>
            <a:ext cx="13915248" cy="1060456"/>
          </a:xfrm>
          <a:prstGeom prst="rect">
            <a:avLst/>
          </a:prstGeom>
        </p:spPr>
        <p:txBody>
          <a:bodyPr anchor="t" rtlCol="false" tIns="0" lIns="0" bIns="0" rIns="0">
            <a:spAutoFit/>
          </a:bodyPr>
          <a:lstStyle/>
          <a:p>
            <a:pPr algn="ctr">
              <a:lnSpc>
                <a:spcPts val="8000"/>
              </a:lnSpc>
            </a:pPr>
            <a:r>
              <a:rPr lang="en-US" sz="8000" spc="-144">
                <a:solidFill>
                  <a:srgbClr val="24497B"/>
                </a:solidFill>
                <a:latin typeface="Anton"/>
                <a:ea typeface="Anton"/>
                <a:cs typeface="Anton"/>
                <a:sym typeface="Anton"/>
              </a:rPr>
              <a:t>ANÁLISIS DE VALOR GANADO (EVA)</a:t>
            </a:r>
          </a:p>
        </p:txBody>
      </p:sp>
      <p:sp>
        <p:nvSpPr>
          <p:cNvPr name="TextBox 6" id="6"/>
          <p:cNvSpPr txBox="true"/>
          <p:nvPr/>
        </p:nvSpPr>
        <p:spPr>
          <a:xfrm rot="0">
            <a:off x="2474946" y="7486504"/>
            <a:ext cx="3849605" cy="424180"/>
          </a:xfrm>
          <a:prstGeom prst="rect">
            <a:avLst/>
          </a:prstGeom>
        </p:spPr>
        <p:txBody>
          <a:bodyPr anchor="t" rtlCol="false" tIns="0" lIns="0" bIns="0" rIns="0">
            <a:spAutoFit/>
          </a:bodyPr>
          <a:lstStyle/>
          <a:p>
            <a:pPr algn="ctr">
              <a:lnSpc>
                <a:spcPts val="3200"/>
              </a:lnSpc>
            </a:pPr>
            <a:r>
              <a:rPr lang="en-US" sz="3200" spc="-57">
                <a:solidFill>
                  <a:srgbClr val="24497B"/>
                </a:solidFill>
                <a:latin typeface="Anton"/>
                <a:ea typeface="Anton"/>
                <a:cs typeface="Anton"/>
                <a:sym typeface="Anton"/>
              </a:rPr>
              <a:t>Valor planificado (PV)</a:t>
            </a:r>
          </a:p>
        </p:txBody>
      </p:sp>
      <p:sp>
        <p:nvSpPr>
          <p:cNvPr name="TextBox 7" id="7"/>
          <p:cNvSpPr txBox="true"/>
          <p:nvPr/>
        </p:nvSpPr>
        <p:spPr>
          <a:xfrm rot="0">
            <a:off x="7553276" y="7486504"/>
            <a:ext cx="3459080" cy="424180"/>
          </a:xfrm>
          <a:prstGeom prst="rect">
            <a:avLst/>
          </a:prstGeom>
        </p:spPr>
        <p:txBody>
          <a:bodyPr anchor="t" rtlCol="false" tIns="0" lIns="0" bIns="0" rIns="0">
            <a:spAutoFit/>
          </a:bodyPr>
          <a:lstStyle/>
          <a:p>
            <a:pPr algn="ctr">
              <a:lnSpc>
                <a:spcPts val="3200"/>
              </a:lnSpc>
            </a:pPr>
            <a:r>
              <a:rPr lang="en-US" sz="3200" spc="-57">
                <a:solidFill>
                  <a:srgbClr val="24497B"/>
                </a:solidFill>
                <a:latin typeface="Anton"/>
                <a:ea typeface="Anton"/>
                <a:cs typeface="Anton"/>
                <a:sym typeface="Anton"/>
              </a:rPr>
              <a:t>Valor ganado (EV)</a:t>
            </a:r>
          </a:p>
        </p:txBody>
      </p:sp>
      <p:sp>
        <p:nvSpPr>
          <p:cNvPr name="TextBox 8" id="8"/>
          <p:cNvSpPr txBox="true"/>
          <p:nvPr/>
        </p:nvSpPr>
        <p:spPr>
          <a:xfrm rot="0">
            <a:off x="12238428" y="7486504"/>
            <a:ext cx="3459080" cy="424180"/>
          </a:xfrm>
          <a:prstGeom prst="rect">
            <a:avLst/>
          </a:prstGeom>
        </p:spPr>
        <p:txBody>
          <a:bodyPr anchor="t" rtlCol="false" tIns="0" lIns="0" bIns="0" rIns="0">
            <a:spAutoFit/>
          </a:bodyPr>
          <a:lstStyle/>
          <a:p>
            <a:pPr algn="ctr">
              <a:lnSpc>
                <a:spcPts val="3200"/>
              </a:lnSpc>
            </a:pPr>
            <a:r>
              <a:rPr lang="en-US" sz="3200" spc="-57">
                <a:solidFill>
                  <a:srgbClr val="24497B"/>
                </a:solidFill>
                <a:latin typeface="Anton"/>
                <a:ea typeface="Anton"/>
                <a:cs typeface="Anton"/>
                <a:sym typeface="Anton"/>
              </a:rPr>
              <a:t>Costo real (AC)</a:t>
            </a:r>
          </a:p>
        </p:txBody>
      </p:sp>
      <p:sp>
        <p:nvSpPr>
          <p:cNvPr name="AutoShape 9" id="9"/>
          <p:cNvSpPr/>
          <p:nvPr/>
        </p:nvSpPr>
        <p:spPr>
          <a:xfrm flipV="true">
            <a:off x="6743651" y="7013867"/>
            <a:ext cx="0" cy="1207276"/>
          </a:xfrm>
          <a:prstGeom prst="line">
            <a:avLst/>
          </a:prstGeom>
          <a:ln cap="flat" w="38100">
            <a:solidFill>
              <a:srgbClr val="24497B"/>
            </a:solidFill>
            <a:prstDash val="solid"/>
            <a:headEnd type="oval" len="lg" w="lg"/>
            <a:tailEnd type="oval" len="lg" w="lg"/>
          </a:ln>
        </p:spPr>
      </p:sp>
      <p:sp>
        <p:nvSpPr>
          <p:cNvPr name="AutoShape 10" id="10"/>
          <p:cNvSpPr/>
          <p:nvPr/>
        </p:nvSpPr>
        <p:spPr>
          <a:xfrm flipV="true">
            <a:off x="11819004" y="7013867"/>
            <a:ext cx="0" cy="1207276"/>
          </a:xfrm>
          <a:prstGeom prst="line">
            <a:avLst/>
          </a:prstGeom>
          <a:ln cap="flat" w="38100">
            <a:solidFill>
              <a:srgbClr val="24497B"/>
            </a:solidFill>
            <a:prstDash val="solid"/>
            <a:headEnd type="oval" len="lg" w="lg"/>
            <a:tailEnd type="oval" len="lg" w="lg"/>
          </a:ln>
        </p:spPr>
      </p:sp>
      <p:grpSp>
        <p:nvGrpSpPr>
          <p:cNvPr name="Group 11" id="11"/>
          <p:cNvGrpSpPr/>
          <p:nvPr/>
        </p:nvGrpSpPr>
        <p:grpSpPr>
          <a:xfrm rot="0">
            <a:off x="1262090" y="1028700"/>
            <a:ext cx="1212856" cy="121285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396870" y="1354660"/>
            <a:ext cx="943296" cy="675237"/>
          </a:xfrm>
          <a:prstGeom prst="rect">
            <a:avLst/>
          </a:prstGeom>
        </p:spPr>
        <p:txBody>
          <a:bodyPr anchor="t" rtlCol="false" tIns="0" lIns="0" bIns="0" rIns="0">
            <a:spAutoFit/>
          </a:bodyPr>
          <a:lstStyle/>
          <a:p>
            <a:pPr algn="ctr">
              <a:lnSpc>
                <a:spcPts val="5193"/>
              </a:lnSpc>
            </a:pPr>
            <a:r>
              <a:rPr lang="en-US" sz="5193" spc="-93">
                <a:solidFill>
                  <a:srgbClr val="FFFFFF"/>
                </a:solidFill>
                <a:latin typeface="Anton"/>
                <a:ea typeface="Anton"/>
                <a:cs typeface="Anton"/>
                <a:sym typeface="Anton"/>
              </a:rPr>
              <a:t>01</a:t>
            </a:r>
          </a:p>
        </p:txBody>
      </p:sp>
      <p:sp>
        <p:nvSpPr>
          <p:cNvPr name="TextBox 15" id="15"/>
          <p:cNvSpPr txBox="true"/>
          <p:nvPr/>
        </p:nvSpPr>
        <p:spPr>
          <a:xfrm rot="0">
            <a:off x="2962791" y="3634003"/>
            <a:ext cx="12362418" cy="2566528"/>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El análisis del valor ganado compara la línea base para la medición del desempeño con respecto al desempeño real del cronograma y del costo. El EVM integra la línea base del alcance con la línea base de costos y la línea base del cronograma para generar la línea base para la medición del desempeño. El EVM establece y monitorea tres dimensiones clave para cada paquete de trabajo y cada cuenta de control:</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24497B"/>
        </a:solidFill>
      </p:bgPr>
    </p:bg>
    <p:spTree>
      <p:nvGrpSpPr>
        <p:cNvPr id="1" name=""/>
        <p:cNvGrpSpPr/>
        <p:nvPr/>
      </p:nvGrpSpPr>
      <p:grpSpPr>
        <a:xfrm>
          <a:off x="0" y="0"/>
          <a:ext cx="0" cy="0"/>
          <a:chOff x="0" y="0"/>
          <a:chExt cx="0" cy="0"/>
        </a:xfrm>
      </p:grpSpPr>
      <p:sp>
        <p:nvSpPr>
          <p:cNvPr name="AutoShape 2" id="2"/>
          <p:cNvSpPr/>
          <p:nvPr/>
        </p:nvSpPr>
        <p:spPr>
          <a:xfrm flipV="true">
            <a:off x="1909860" y="667890"/>
            <a:ext cx="0" cy="8871916"/>
          </a:xfrm>
          <a:prstGeom prst="line">
            <a:avLst/>
          </a:prstGeom>
          <a:ln cap="flat" w="38100">
            <a:solidFill>
              <a:srgbClr val="FFFFFF"/>
            </a:solidFill>
            <a:prstDash val="solid"/>
            <a:headEnd type="oval" len="lg" w="lg"/>
            <a:tailEnd type="oval" len="lg" w="lg"/>
          </a:ln>
        </p:spPr>
      </p:sp>
      <p:grpSp>
        <p:nvGrpSpPr>
          <p:cNvPr name="Group 3" id="3"/>
          <p:cNvGrpSpPr/>
          <p:nvPr/>
        </p:nvGrpSpPr>
        <p:grpSpPr>
          <a:xfrm rot="0">
            <a:off x="1259043" y="1028700"/>
            <a:ext cx="1301634" cy="130163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40054" y="1484464"/>
            <a:ext cx="3835841"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Valor planificado (PV)</a:t>
            </a:r>
          </a:p>
        </p:txBody>
      </p:sp>
      <p:sp>
        <p:nvSpPr>
          <p:cNvPr name="TextBox 7" id="7"/>
          <p:cNvSpPr txBox="true"/>
          <p:nvPr/>
        </p:nvSpPr>
        <p:spPr>
          <a:xfrm rot="0">
            <a:off x="2840054" y="2145134"/>
            <a:ext cx="14419246" cy="1589405"/>
          </a:xfrm>
          <a:prstGeom prst="rect">
            <a:avLst/>
          </a:prstGeom>
        </p:spPr>
        <p:txBody>
          <a:bodyPr anchor="t" rtlCol="false" tIns="0" lIns="0" bIns="0" rIns="0">
            <a:spAutoFit/>
          </a:bodyPr>
          <a:lstStyle/>
          <a:p>
            <a:pPr algn="just">
              <a:lnSpc>
                <a:spcPts val="3219"/>
              </a:lnSpc>
            </a:pPr>
            <a:r>
              <a:rPr lang="en-US" sz="2299">
                <a:solidFill>
                  <a:srgbClr val="FFFFFF"/>
                </a:solidFill>
                <a:latin typeface="Inter"/>
                <a:ea typeface="Inter"/>
                <a:cs typeface="Inter"/>
                <a:sym typeface="Inter"/>
              </a:rPr>
              <a:t>Es el presupuesto asignado para completar una actividad o un componente de la estructura de desglose del trabajo (EDT/WBS). El PV total se conoce en ocasiones como la línea base para la medición del desempeño (PMB). El valor planificado total para el proyecto también se conoce como presupuesto hasta la conclusión (BAC).</a:t>
            </a:r>
          </a:p>
        </p:txBody>
      </p:sp>
      <p:sp>
        <p:nvSpPr>
          <p:cNvPr name="TextBox 8" id="8"/>
          <p:cNvSpPr txBox="true"/>
          <p:nvPr/>
        </p:nvSpPr>
        <p:spPr>
          <a:xfrm rot="0">
            <a:off x="1403689" y="1370153"/>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01</a:t>
            </a:r>
          </a:p>
        </p:txBody>
      </p:sp>
      <p:grpSp>
        <p:nvGrpSpPr>
          <p:cNvPr name="Group 9" id="9"/>
          <p:cNvGrpSpPr/>
          <p:nvPr/>
        </p:nvGrpSpPr>
        <p:grpSpPr>
          <a:xfrm rot="0">
            <a:off x="1259043" y="3985408"/>
            <a:ext cx="1301634" cy="130163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840054" y="4404012"/>
            <a:ext cx="3510060"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Valor ganado (EV)</a:t>
            </a:r>
          </a:p>
        </p:txBody>
      </p:sp>
      <p:sp>
        <p:nvSpPr>
          <p:cNvPr name="TextBox 13" id="13"/>
          <p:cNvSpPr txBox="true"/>
          <p:nvPr/>
        </p:nvSpPr>
        <p:spPr>
          <a:xfrm rot="0">
            <a:off x="2840054" y="4994417"/>
            <a:ext cx="14419246" cy="1589405"/>
          </a:xfrm>
          <a:prstGeom prst="rect">
            <a:avLst/>
          </a:prstGeom>
        </p:spPr>
        <p:txBody>
          <a:bodyPr anchor="t" rtlCol="false" tIns="0" lIns="0" bIns="0" rIns="0">
            <a:spAutoFit/>
          </a:bodyPr>
          <a:lstStyle/>
          <a:p>
            <a:pPr algn="just">
              <a:lnSpc>
                <a:spcPts val="3219"/>
              </a:lnSpc>
            </a:pPr>
            <a:r>
              <a:rPr lang="en-US" sz="2299">
                <a:solidFill>
                  <a:srgbClr val="FFFFFF"/>
                </a:solidFill>
                <a:latin typeface="Inter"/>
                <a:ea typeface="Inter"/>
                <a:cs typeface="Inter"/>
                <a:sym typeface="Inter"/>
              </a:rPr>
              <a:t>Es el presupuesto asociado con el trabajo autorizado que se ha completado. El EV medido debe corresponderse con la PMB y no puede ser mayor que el presupuesto aprobado del PV para un componente. Los directores de proyecto monitorean el EV, tanto sus incrementos para determinar el estado actual, como el total acumulado, para establecer las tendencias de desempeño a largo plazo.</a:t>
            </a:r>
          </a:p>
        </p:txBody>
      </p:sp>
      <p:sp>
        <p:nvSpPr>
          <p:cNvPr name="TextBox 14" id="14"/>
          <p:cNvSpPr txBox="true"/>
          <p:nvPr/>
        </p:nvSpPr>
        <p:spPr>
          <a:xfrm rot="0">
            <a:off x="1403689" y="4326860"/>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02</a:t>
            </a:r>
          </a:p>
        </p:txBody>
      </p:sp>
      <p:grpSp>
        <p:nvGrpSpPr>
          <p:cNvPr name="Group 15" id="15"/>
          <p:cNvGrpSpPr/>
          <p:nvPr/>
        </p:nvGrpSpPr>
        <p:grpSpPr>
          <a:xfrm rot="0">
            <a:off x="1259043" y="6760129"/>
            <a:ext cx="1301634" cy="130163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2840054" y="7158392"/>
            <a:ext cx="3510060"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Costo real (AC)</a:t>
            </a:r>
          </a:p>
        </p:txBody>
      </p:sp>
      <p:sp>
        <p:nvSpPr>
          <p:cNvPr name="TextBox 19" id="19"/>
          <p:cNvSpPr txBox="true"/>
          <p:nvPr/>
        </p:nvSpPr>
        <p:spPr>
          <a:xfrm rot="0">
            <a:off x="1403689" y="7101582"/>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03</a:t>
            </a:r>
          </a:p>
        </p:txBody>
      </p:sp>
      <p:sp>
        <p:nvSpPr>
          <p:cNvPr name="TextBox 20" id="20"/>
          <p:cNvSpPr txBox="true"/>
          <p:nvPr/>
        </p:nvSpPr>
        <p:spPr>
          <a:xfrm rot="0">
            <a:off x="2840054" y="7741590"/>
            <a:ext cx="14419246" cy="1598930"/>
          </a:xfrm>
          <a:prstGeom prst="rect">
            <a:avLst/>
          </a:prstGeom>
        </p:spPr>
        <p:txBody>
          <a:bodyPr anchor="t" rtlCol="false" tIns="0" lIns="0" bIns="0" rIns="0">
            <a:spAutoFit/>
          </a:bodyPr>
          <a:lstStyle/>
          <a:p>
            <a:pPr algn="just">
              <a:lnSpc>
                <a:spcPts val="3219"/>
              </a:lnSpc>
              <a:spcBef>
                <a:spcPct val="0"/>
              </a:spcBef>
            </a:pPr>
            <a:r>
              <a:rPr lang="en-US" sz="2299">
                <a:solidFill>
                  <a:srgbClr val="FFFFFF"/>
                </a:solidFill>
                <a:latin typeface="Poppins"/>
                <a:ea typeface="Poppins"/>
                <a:cs typeface="Poppins"/>
                <a:sym typeface="Poppins"/>
              </a:rPr>
              <a:t>Es el costo incurrido por el trabajo llevado a cabo en una actividad durante un período de tiempo específico. Este es el costo en el que se ha incurrido para llevar a cabo el trabajo medido por el EV. El AC debe corresponderse, en cuanto a definición, con lo que haya sido presupuestado para el PV y medido por el EV.</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5" id="5"/>
          <p:cNvSpPr txBox="true"/>
          <p:nvPr/>
        </p:nvSpPr>
        <p:spPr>
          <a:xfrm rot="0">
            <a:off x="2186376" y="1181100"/>
            <a:ext cx="13915248" cy="1060456"/>
          </a:xfrm>
          <a:prstGeom prst="rect">
            <a:avLst/>
          </a:prstGeom>
        </p:spPr>
        <p:txBody>
          <a:bodyPr anchor="t" rtlCol="false" tIns="0" lIns="0" bIns="0" rIns="0">
            <a:spAutoFit/>
          </a:bodyPr>
          <a:lstStyle/>
          <a:p>
            <a:pPr algn="ctr">
              <a:lnSpc>
                <a:spcPts val="8000"/>
              </a:lnSpc>
            </a:pPr>
            <a:r>
              <a:rPr lang="en-US" sz="8000" spc="-144">
                <a:solidFill>
                  <a:srgbClr val="24497B"/>
                </a:solidFill>
                <a:latin typeface="Anton"/>
                <a:ea typeface="Anton"/>
                <a:cs typeface="Anton"/>
                <a:sym typeface="Anton"/>
              </a:rPr>
              <a:t>ANÁLISIS DE VARIACIÓN</a:t>
            </a:r>
          </a:p>
        </p:txBody>
      </p:sp>
      <p:sp>
        <p:nvSpPr>
          <p:cNvPr name="TextBox 6" id="6"/>
          <p:cNvSpPr txBox="true"/>
          <p:nvPr/>
        </p:nvSpPr>
        <p:spPr>
          <a:xfrm rot="0">
            <a:off x="1666999" y="7347102"/>
            <a:ext cx="2480750" cy="1224280"/>
          </a:xfrm>
          <a:prstGeom prst="rect">
            <a:avLst/>
          </a:prstGeom>
        </p:spPr>
        <p:txBody>
          <a:bodyPr anchor="t" rtlCol="false" tIns="0" lIns="0" bIns="0" rIns="0">
            <a:spAutoFit/>
          </a:bodyPr>
          <a:lstStyle/>
          <a:p>
            <a:pPr algn="ctr">
              <a:lnSpc>
                <a:spcPts val="3200"/>
              </a:lnSpc>
            </a:pPr>
            <a:r>
              <a:rPr lang="en-US" sz="3200" spc="-57">
                <a:solidFill>
                  <a:srgbClr val="24497B"/>
                </a:solidFill>
                <a:latin typeface="Anton"/>
                <a:ea typeface="Anton"/>
                <a:cs typeface="Anton"/>
                <a:sym typeface="Anton"/>
              </a:rPr>
              <a:t>Variación del cronograma (SV)</a:t>
            </a:r>
          </a:p>
        </p:txBody>
      </p:sp>
      <p:sp>
        <p:nvSpPr>
          <p:cNvPr name="TextBox 7" id="7"/>
          <p:cNvSpPr txBox="true"/>
          <p:nvPr/>
        </p:nvSpPr>
        <p:spPr>
          <a:xfrm rot="0">
            <a:off x="4528749" y="7452492"/>
            <a:ext cx="3459080" cy="824230"/>
          </a:xfrm>
          <a:prstGeom prst="rect">
            <a:avLst/>
          </a:prstGeom>
        </p:spPr>
        <p:txBody>
          <a:bodyPr anchor="t" rtlCol="false" tIns="0" lIns="0" bIns="0" rIns="0">
            <a:spAutoFit/>
          </a:bodyPr>
          <a:lstStyle/>
          <a:p>
            <a:pPr algn="ctr">
              <a:lnSpc>
                <a:spcPts val="3200"/>
              </a:lnSpc>
            </a:pPr>
            <a:r>
              <a:rPr lang="en-US" sz="3200" spc="-57">
                <a:solidFill>
                  <a:srgbClr val="24497B"/>
                </a:solidFill>
                <a:latin typeface="Anton"/>
                <a:ea typeface="Anton"/>
                <a:cs typeface="Anton"/>
                <a:sym typeface="Anton"/>
              </a:rPr>
              <a:t>Variación del costo (CV)</a:t>
            </a:r>
          </a:p>
        </p:txBody>
      </p:sp>
      <p:sp>
        <p:nvSpPr>
          <p:cNvPr name="TextBox 8" id="8"/>
          <p:cNvSpPr txBox="true"/>
          <p:nvPr/>
        </p:nvSpPr>
        <p:spPr>
          <a:xfrm rot="0">
            <a:off x="8521229" y="7272947"/>
            <a:ext cx="3479732" cy="1224280"/>
          </a:xfrm>
          <a:prstGeom prst="rect">
            <a:avLst/>
          </a:prstGeom>
        </p:spPr>
        <p:txBody>
          <a:bodyPr anchor="t" rtlCol="false" tIns="0" lIns="0" bIns="0" rIns="0">
            <a:spAutoFit/>
          </a:bodyPr>
          <a:lstStyle/>
          <a:p>
            <a:pPr algn="ctr">
              <a:lnSpc>
                <a:spcPts val="3200"/>
              </a:lnSpc>
            </a:pPr>
            <a:r>
              <a:rPr lang="en-US" sz="3200" spc="-57">
                <a:solidFill>
                  <a:srgbClr val="24497B"/>
                </a:solidFill>
                <a:latin typeface="Anton"/>
                <a:ea typeface="Anton"/>
                <a:cs typeface="Anton"/>
                <a:sym typeface="Anton"/>
              </a:rPr>
              <a:t>Índice de desempeño del cronograma </a:t>
            </a:r>
          </a:p>
          <a:p>
            <a:pPr algn="ctr">
              <a:lnSpc>
                <a:spcPts val="3200"/>
              </a:lnSpc>
            </a:pPr>
            <a:r>
              <a:rPr lang="en-US" sz="3200" spc="-57">
                <a:solidFill>
                  <a:srgbClr val="24497B"/>
                </a:solidFill>
                <a:latin typeface="Anton"/>
                <a:ea typeface="Anton"/>
                <a:cs typeface="Anton"/>
                <a:sym typeface="Anton"/>
              </a:rPr>
              <a:t>(SPI)</a:t>
            </a:r>
          </a:p>
        </p:txBody>
      </p:sp>
      <p:sp>
        <p:nvSpPr>
          <p:cNvPr name="AutoShape 9" id="9"/>
          <p:cNvSpPr/>
          <p:nvPr/>
        </p:nvSpPr>
        <p:spPr>
          <a:xfrm flipV="true">
            <a:off x="4338249" y="7289952"/>
            <a:ext cx="0" cy="1207276"/>
          </a:xfrm>
          <a:prstGeom prst="line">
            <a:avLst/>
          </a:prstGeom>
          <a:ln cap="flat" w="38100">
            <a:solidFill>
              <a:srgbClr val="24497B"/>
            </a:solidFill>
            <a:prstDash val="solid"/>
            <a:headEnd type="oval" len="lg" w="lg"/>
            <a:tailEnd type="oval" len="lg" w="lg"/>
          </a:ln>
        </p:spPr>
      </p:sp>
      <p:sp>
        <p:nvSpPr>
          <p:cNvPr name="AutoShape 10" id="10"/>
          <p:cNvSpPr/>
          <p:nvPr/>
        </p:nvSpPr>
        <p:spPr>
          <a:xfrm flipV="true">
            <a:off x="8254529" y="7289952"/>
            <a:ext cx="0" cy="1207276"/>
          </a:xfrm>
          <a:prstGeom prst="line">
            <a:avLst/>
          </a:prstGeom>
          <a:ln cap="flat" w="38100">
            <a:solidFill>
              <a:srgbClr val="24497B"/>
            </a:solidFill>
            <a:prstDash val="solid"/>
            <a:headEnd type="oval" len="lg" w="lg"/>
            <a:tailEnd type="oval" len="lg" w="lg"/>
          </a:ln>
        </p:spPr>
      </p:sp>
      <p:grpSp>
        <p:nvGrpSpPr>
          <p:cNvPr name="Group 11" id="11"/>
          <p:cNvGrpSpPr/>
          <p:nvPr/>
        </p:nvGrpSpPr>
        <p:grpSpPr>
          <a:xfrm rot="0">
            <a:off x="1262090" y="1028700"/>
            <a:ext cx="1212856" cy="121285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396870" y="1354660"/>
            <a:ext cx="943296" cy="675237"/>
          </a:xfrm>
          <a:prstGeom prst="rect">
            <a:avLst/>
          </a:prstGeom>
        </p:spPr>
        <p:txBody>
          <a:bodyPr anchor="t" rtlCol="false" tIns="0" lIns="0" bIns="0" rIns="0">
            <a:spAutoFit/>
          </a:bodyPr>
          <a:lstStyle/>
          <a:p>
            <a:pPr algn="ctr">
              <a:lnSpc>
                <a:spcPts val="5193"/>
              </a:lnSpc>
            </a:pPr>
            <a:r>
              <a:rPr lang="en-US" sz="5193" spc="-93">
                <a:solidFill>
                  <a:srgbClr val="FFFFFF"/>
                </a:solidFill>
                <a:latin typeface="Anton"/>
                <a:ea typeface="Anton"/>
                <a:cs typeface="Anton"/>
                <a:sym typeface="Anton"/>
              </a:rPr>
              <a:t>02</a:t>
            </a:r>
          </a:p>
        </p:txBody>
      </p:sp>
      <p:sp>
        <p:nvSpPr>
          <p:cNvPr name="TextBox 15" id="15"/>
          <p:cNvSpPr txBox="true"/>
          <p:nvPr/>
        </p:nvSpPr>
        <p:spPr>
          <a:xfrm rot="0">
            <a:off x="2474946" y="3309304"/>
            <a:ext cx="12961580" cy="3423778"/>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El análisis de variación utilizado en el EVM constituye la explicación (causa, impacto y acciones correctivas) de las variaciones de costo (CV = EV – AC), cronograma (SV = EV – PV), y de la variación a la conclusión (VAC = BAC – EAC). Las variaciones que se analizan más a menudo son las relativas al costo y al cronograma. Para proyectos que no realizan un análisis del valor ganado, se pueden realizar análisis de variaciones similares mediante la comparación entre el costo planificado y el costo real para detectar las desviaciones entre la línea base de costos y el desempeño real del proyecto. </a:t>
            </a:r>
          </a:p>
        </p:txBody>
      </p:sp>
      <p:sp>
        <p:nvSpPr>
          <p:cNvPr name="TextBox 16" id="16"/>
          <p:cNvSpPr txBox="true"/>
          <p:nvPr/>
        </p:nvSpPr>
        <p:spPr>
          <a:xfrm rot="0">
            <a:off x="12667711" y="7452492"/>
            <a:ext cx="3576762" cy="824230"/>
          </a:xfrm>
          <a:prstGeom prst="rect">
            <a:avLst/>
          </a:prstGeom>
        </p:spPr>
        <p:txBody>
          <a:bodyPr anchor="t" rtlCol="false" tIns="0" lIns="0" bIns="0" rIns="0">
            <a:spAutoFit/>
          </a:bodyPr>
          <a:lstStyle/>
          <a:p>
            <a:pPr algn="ctr">
              <a:lnSpc>
                <a:spcPts val="3200"/>
              </a:lnSpc>
            </a:pPr>
            <a:r>
              <a:rPr lang="en-US" sz="3200" spc="-57">
                <a:solidFill>
                  <a:srgbClr val="24497B"/>
                </a:solidFill>
                <a:latin typeface="Anton"/>
                <a:ea typeface="Anton"/>
                <a:cs typeface="Anton"/>
                <a:sym typeface="Anton"/>
              </a:rPr>
              <a:t>Índice de desempeño del costo (CPI)</a:t>
            </a:r>
          </a:p>
        </p:txBody>
      </p:sp>
      <p:sp>
        <p:nvSpPr>
          <p:cNvPr name="AutoShape 17" id="17"/>
          <p:cNvSpPr/>
          <p:nvPr/>
        </p:nvSpPr>
        <p:spPr>
          <a:xfrm flipV="true">
            <a:off x="12401011" y="7289952"/>
            <a:ext cx="0" cy="1207276"/>
          </a:xfrm>
          <a:prstGeom prst="line">
            <a:avLst/>
          </a:prstGeom>
          <a:ln cap="flat" w="38100">
            <a:solidFill>
              <a:srgbClr val="24497B"/>
            </a:solidFill>
            <a:prstDash val="solid"/>
            <a:headEnd type="oval" len="lg" w="lg"/>
            <a:tailEnd type="oval" len="lg" w="lg"/>
          </a:ln>
        </p:spPr>
      </p:sp>
    </p:spTree>
  </p:cSld>
  <p:clrMapOvr>
    <a:masterClrMapping/>
  </p:clrMapOvr>
</p:sld>
</file>

<file path=ppt/slides/slide12.xml><?xml version="1.0" encoding="utf-8"?>
<p:sld xmlns:p="http://schemas.openxmlformats.org/presentationml/2006/main" xmlns:a="http://schemas.openxmlformats.org/drawingml/2006/main">
  <p:cSld>
    <p:bg>
      <p:bgPr>
        <a:solidFill>
          <a:srgbClr val="24497B"/>
        </a:solidFill>
      </p:bgPr>
    </p:bg>
    <p:spTree>
      <p:nvGrpSpPr>
        <p:cNvPr id="1" name=""/>
        <p:cNvGrpSpPr/>
        <p:nvPr/>
      </p:nvGrpSpPr>
      <p:grpSpPr>
        <a:xfrm>
          <a:off x="0" y="0"/>
          <a:ext cx="0" cy="0"/>
          <a:chOff x="0" y="0"/>
          <a:chExt cx="0" cy="0"/>
        </a:xfrm>
      </p:grpSpPr>
      <p:sp>
        <p:nvSpPr>
          <p:cNvPr name="AutoShape 2" id="2"/>
          <p:cNvSpPr/>
          <p:nvPr/>
        </p:nvSpPr>
        <p:spPr>
          <a:xfrm flipV="true">
            <a:off x="1909860" y="667890"/>
            <a:ext cx="0" cy="8871916"/>
          </a:xfrm>
          <a:prstGeom prst="line">
            <a:avLst/>
          </a:prstGeom>
          <a:ln cap="flat" w="38100">
            <a:solidFill>
              <a:srgbClr val="FFFFFF"/>
            </a:solidFill>
            <a:prstDash val="solid"/>
            <a:headEnd type="oval" len="lg" w="lg"/>
            <a:tailEnd type="oval" len="lg" w="lg"/>
          </a:ln>
        </p:spPr>
      </p:sp>
      <p:grpSp>
        <p:nvGrpSpPr>
          <p:cNvPr name="Group 3" id="3"/>
          <p:cNvGrpSpPr/>
          <p:nvPr/>
        </p:nvGrpSpPr>
        <p:grpSpPr>
          <a:xfrm rot="0">
            <a:off x="1259043" y="1028700"/>
            <a:ext cx="1301634" cy="130163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40054" y="1484464"/>
            <a:ext cx="5822738"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Variación del cronograma (SV)</a:t>
            </a:r>
          </a:p>
        </p:txBody>
      </p:sp>
      <p:sp>
        <p:nvSpPr>
          <p:cNvPr name="TextBox 7" id="7"/>
          <p:cNvSpPr txBox="true"/>
          <p:nvPr/>
        </p:nvSpPr>
        <p:spPr>
          <a:xfrm rot="0">
            <a:off x="2840054" y="2145134"/>
            <a:ext cx="14419246" cy="2389505"/>
          </a:xfrm>
          <a:prstGeom prst="rect">
            <a:avLst/>
          </a:prstGeom>
        </p:spPr>
        <p:txBody>
          <a:bodyPr anchor="t" rtlCol="false" tIns="0" lIns="0" bIns="0" rIns="0">
            <a:spAutoFit/>
          </a:bodyPr>
          <a:lstStyle/>
          <a:p>
            <a:pPr algn="just">
              <a:lnSpc>
                <a:spcPts val="3219"/>
              </a:lnSpc>
            </a:pPr>
            <a:r>
              <a:rPr lang="en-US" sz="2299">
                <a:solidFill>
                  <a:srgbClr val="FFFFFF"/>
                </a:solidFill>
                <a:latin typeface="Inter"/>
                <a:ea typeface="Inter"/>
                <a:cs typeface="Inter"/>
                <a:sym typeface="Inter"/>
              </a:rPr>
              <a:t>Es una medida de desempeño del cronograma en un proyecto. Fórmula: SV = EV – PV.</a:t>
            </a:r>
          </a:p>
          <a:p>
            <a:pPr algn="l" marL="496569" indent="-248284" lvl="1">
              <a:lnSpc>
                <a:spcPts val="3219"/>
              </a:lnSpc>
              <a:buFont typeface="Arial"/>
              <a:buChar char="•"/>
            </a:pPr>
            <a:r>
              <a:rPr lang="en-US" sz="2299">
                <a:solidFill>
                  <a:srgbClr val="FFFFFF"/>
                </a:solidFill>
                <a:latin typeface="Inter"/>
                <a:ea typeface="Inter"/>
                <a:cs typeface="Inter"/>
                <a:sym typeface="Inter"/>
              </a:rPr>
              <a:t>Determina en qué medida el proyecto está adelantado o retrasado en relación con la fecha de entrega, en un momento determinado.</a:t>
            </a:r>
          </a:p>
          <a:p>
            <a:pPr algn="l" marL="496569" indent="-248284" lvl="1">
              <a:lnSpc>
                <a:spcPts val="3219"/>
              </a:lnSpc>
              <a:buFont typeface="Arial"/>
              <a:buChar char="•"/>
            </a:pPr>
            <a:r>
              <a:rPr lang="en-US" sz="2299">
                <a:solidFill>
                  <a:srgbClr val="FFFFFF"/>
                </a:solidFill>
                <a:latin typeface="Inter"/>
                <a:ea typeface="Inter"/>
                <a:cs typeface="Inter"/>
                <a:sym typeface="Inter"/>
              </a:rPr>
              <a:t>SV final = 0, porque ya habrán ocurrido todos los valores planificados.</a:t>
            </a:r>
          </a:p>
          <a:p>
            <a:pPr algn="l" marL="496569" indent="-248284" lvl="1">
              <a:lnSpc>
                <a:spcPts val="3219"/>
              </a:lnSpc>
              <a:buFont typeface="Arial"/>
              <a:buChar char="•"/>
            </a:pPr>
            <a:r>
              <a:rPr lang="en-US" sz="2299">
                <a:solidFill>
                  <a:srgbClr val="FFFFFF"/>
                </a:solidFill>
                <a:latin typeface="Inter"/>
                <a:ea typeface="Inter"/>
                <a:cs typeface="Inter"/>
                <a:sym typeface="Inter"/>
              </a:rPr>
              <a:t>SV &gt; 0 → adelantado</a:t>
            </a:r>
          </a:p>
          <a:p>
            <a:pPr algn="l" marL="496569" indent="-248284" lvl="1">
              <a:lnSpc>
                <a:spcPts val="3219"/>
              </a:lnSpc>
              <a:buFont typeface="Arial"/>
              <a:buChar char="•"/>
            </a:pPr>
            <a:r>
              <a:rPr lang="en-US" sz="2299">
                <a:solidFill>
                  <a:srgbClr val="FFFFFF"/>
                </a:solidFill>
                <a:latin typeface="Inter"/>
                <a:ea typeface="Inter"/>
                <a:cs typeface="Inter"/>
                <a:sym typeface="Inter"/>
              </a:rPr>
              <a:t>SV &lt; 0 → retrasado</a:t>
            </a:r>
          </a:p>
        </p:txBody>
      </p:sp>
      <p:sp>
        <p:nvSpPr>
          <p:cNvPr name="TextBox 8" id="8"/>
          <p:cNvSpPr txBox="true"/>
          <p:nvPr/>
        </p:nvSpPr>
        <p:spPr>
          <a:xfrm rot="0">
            <a:off x="1403689" y="1370153"/>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01</a:t>
            </a:r>
          </a:p>
        </p:txBody>
      </p:sp>
      <p:grpSp>
        <p:nvGrpSpPr>
          <p:cNvPr name="Group 9" id="9"/>
          <p:cNvGrpSpPr/>
          <p:nvPr/>
        </p:nvGrpSpPr>
        <p:grpSpPr>
          <a:xfrm rot="0">
            <a:off x="1259043" y="5143500"/>
            <a:ext cx="1301634" cy="130163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840054" y="5562105"/>
            <a:ext cx="4247135"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Variación del costo (CV)</a:t>
            </a:r>
          </a:p>
        </p:txBody>
      </p:sp>
      <p:sp>
        <p:nvSpPr>
          <p:cNvPr name="TextBox 13" id="13"/>
          <p:cNvSpPr txBox="true"/>
          <p:nvPr/>
        </p:nvSpPr>
        <p:spPr>
          <a:xfrm rot="0">
            <a:off x="2840054" y="6152509"/>
            <a:ext cx="14419246" cy="2389505"/>
          </a:xfrm>
          <a:prstGeom prst="rect">
            <a:avLst/>
          </a:prstGeom>
        </p:spPr>
        <p:txBody>
          <a:bodyPr anchor="t" rtlCol="false" tIns="0" lIns="0" bIns="0" rIns="0">
            <a:spAutoFit/>
          </a:bodyPr>
          <a:lstStyle/>
          <a:p>
            <a:pPr algn="just">
              <a:lnSpc>
                <a:spcPts val="3219"/>
              </a:lnSpc>
            </a:pPr>
            <a:r>
              <a:rPr lang="en-US" sz="2299">
                <a:solidFill>
                  <a:srgbClr val="FFFFFF"/>
                </a:solidFill>
                <a:latin typeface="Inter"/>
                <a:ea typeface="Inter"/>
                <a:cs typeface="Inter"/>
                <a:sym typeface="Inter"/>
              </a:rPr>
              <a:t>Es el monto del déficit o superávit presupuestario en un momento dado. Fórmula: CV = EV – AC.</a:t>
            </a:r>
          </a:p>
          <a:p>
            <a:pPr algn="l" marL="496569" indent="-248284" lvl="1">
              <a:lnSpc>
                <a:spcPts val="3219"/>
              </a:lnSpc>
              <a:buFont typeface="Arial"/>
              <a:buChar char="•"/>
            </a:pPr>
            <a:r>
              <a:rPr lang="en-US" sz="2299">
                <a:solidFill>
                  <a:srgbClr val="FFFFFF"/>
                </a:solidFill>
                <a:latin typeface="Inter"/>
                <a:ea typeface="Inter"/>
                <a:cs typeface="Inter"/>
                <a:sym typeface="Inter"/>
              </a:rPr>
              <a:t>Indica la relación entre el desempeño real y los costos incurridos.</a:t>
            </a:r>
          </a:p>
          <a:p>
            <a:pPr algn="l" marL="496569" indent="-248284" lvl="1">
              <a:lnSpc>
                <a:spcPts val="3219"/>
              </a:lnSpc>
              <a:buFont typeface="Arial"/>
              <a:buChar char="•"/>
            </a:pPr>
            <a:r>
              <a:rPr lang="en-US" sz="2299">
                <a:solidFill>
                  <a:srgbClr val="FFFFFF"/>
                </a:solidFill>
                <a:latin typeface="Inter"/>
                <a:ea typeface="Inter"/>
                <a:cs typeface="Inter"/>
                <a:sym typeface="Inter"/>
              </a:rPr>
              <a:t>Es una medida del desempeño del costo en un proyecto.</a:t>
            </a:r>
          </a:p>
          <a:p>
            <a:pPr algn="l" marL="496569" indent="-248284" lvl="1">
              <a:lnSpc>
                <a:spcPts val="3219"/>
              </a:lnSpc>
              <a:buFont typeface="Arial"/>
              <a:buChar char="•"/>
            </a:pPr>
            <a:r>
              <a:rPr lang="en-US" sz="2299">
                <a:solidFill>
                  <a:srgbClr val="FFFFFF"/>
                </a:solidFill>
                <a:latin typeface="Inter"/>
                <a:ea typeface="Inter"/>
                <a:cs typeface="Inter"/>
                <a:sym typeface="Inter"/>
              </a:rPr>
              <a:t>CV</a:t>
            </a:r>
            <a:r>
              <a:rPr lang="en-US" sz="2299">
                <a:solidFill>
                  <a:srgbClr val="FFFFFF"/>
                </a:solidFill>
                <a:latin typeface="Inter"/>
                <a:ea typeface="Inter"/>
                <a:cs typeface="Inter"/>
                <a:sym typeface="Inter"/>
              </a:rPr>
              <a:t> final = presupuesto hasta la conclusión (BAC) - cantidad realmente gastada.</a:t>
            </a:r>
          </a:p>
          <a:p>
            <a:pPr algn="l" marL="496569" indent="-248284" lvl="1">
              <a:lnSpc>
                <a:spcPts val="3219"/>
              </a:lnSpc>
              <a:buFont typeface="Arial"/>
              <a:buChar char="•"/>
            </a:pPr>
            <a:r>
              <a:rPr lang="en-US" sz="2299">
                <a:solidFill>
                  <a:srgbClr val="FFFFFF"/>
                </a:solidFill>
                <a:latin typeface="Inter"/>
                <a:ea typeface="Inter"/>
                <a:cs typeface="Inter"/>
                <a:sym typeface="Inter"/>
              </a:rPr>
              <a:t>CV &gt; 0 → bajo presupuesto.</a:t>
            </a:r>
          </a:p>
          <a:p>
            <a:pPr algn="l" marL="496569" indent="-248284" lvl="1">
              <a:lnSpc>
                <a:spcPts val="3219"/>
              </a:lnSpc>
              <a:buFont typeface="Arial"/>
              <a:buChar char="•"/>
            </a:pPr>
            <a:r>
              <a:rPr lang="en-US" sz="2299">
                <a:solidFill>
                  <a:srgbClr val="FFFFFF"/>
                </a:solidFill>
                <a:latin typeface="Inter"/>
                <a:ea typeface="Inter"/>
                <a:cs typeface="Inter"/>
                <a:sym typeface="Inter"/>
              </a:rPr>
              <a:t>CV &lt; 0 → sobrecosto.</a:t>
            </a:r>
          </a:p>
        </p:txBody>
      </p:sp>
      <p:sp>
        <p:nvSpPr>
          <p:cNvPr name="TextBox 14" id="14"/>
          <p:cNvSpPr txBox="true"/>
          <p:nvPr/>
        </p:nvSpPr>
        <p:spPr>
          <a:xfrm rot="0">
            <a:off x="1403689" y="5484953"/>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02</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24497B"/>
        </a:solidFill>
      </p:bgPr>
    </p:bg>
    <p:spTree>
      <p:nvGrpSpPr>
        <p:cNvPr id="1" name=""/>
        <p:cNvGrpSpPr/>
        <p:nvPr/>
      </p:nvGrpSpPr>
      <p:grpSpPr>
        <a:xfrm>
          <a:off x="0" y="0"/>
          <a:ext cx="0" cy="0"/>
          <a:chOff x="0" y="0"/>
          <a:chExt cx="0" cy="0"/>
        </a:xfrm>
      </p:grpSpPr>
      <p:sp>
        <p:nvSpPr>
          <p:cNvPr name="AutoShape 2" id="2"/>
          <p:cNvSpPr/>
          <p:nvPr/>
        </p:nvSpPr>
        <p:spPr>
          <a:xfrm flipV="true">
            <a:off x="1909860" y="667890"/>
            <a:ext cx="0" cy="8871916"/>
          </a:xfrm>
          <a:prstGeom prst="line">
            <a:avLst/>
          </a:prstGeom>
          <a:ln cap="flat" w="38100">
            <a:solidFill>
              <a:srgbClr val="FFFFFF"/>
            </a:solidFill>
            <a:prstDash val="solid"/>
            <a:headEnd type="oval" len="lg" w="lg"/>
            <a:tailEnd type="oval" len="lg" w="lg"/>
          </a:ln>
        </p:spPr>
      </p:sp>
      <p:grpSp>
        <p:nvGrpSpPr>
          <p:cNvPr name="Group 3" id="3"/>
          <p:cNvGrpSpPr/>
          <p:nvPr/>
        </p:nvGrpSpPr>
        <p:grpSpPr>
          <a:xfrm rot="0">
            <a:off x="1259043" y="1028700"/>
            <a:ext cx="1301634" cy="130163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40054" y="2145134"/>
            <a:ext cx="14419246" cy="1989455"/>
          </a:xfrm>
          <a:prstGeom prst="rect">
            <a:avLst/>
          </a:prstGeom>
        </p:spPr>
        <p:txBody>
          <a:bodyPr anchor="t" rtlCol="false" tIns="0" lIns="0" bIns="0" rIns="0">
            <a:spAutoFit/>
          </a:bodyPr>
          <a:lstStyle/>
          <a:p>
            <a:pPr algn="just">
              <a:lnSpc>
                <a:spcPts val="3219"/>
              </a:lnSpc>
            </a:pPr>
            <a:r>
              <a:rPr lang="en-US" sz="2299">
                <a:solidFill>
                  <a:srgbClr val="FFFFFF"/>
                </a:solidFill>
                <a:latin typeface="Inter"/>
                <a:ea typeface="Inter"/>
                <a:cs typeface="Inter"/>
                <a:sym typeface="Inter"/>
              </a:rPr>
              <a:t>Es una medida de eficiencia del cronograma que se expresa como la razón entre el valor ganado y el valor planificado: Fórmula: SPI = EV/PV.</a:t>
            </a:r>
          </a:p>
          <a:p>
            <a:pPr algn="l" marL="496569" indent="-248284" lvl="1">
              <a:lnSpc>
                <a:spcPts val="3219"/>
              </a:lnSpc>
              <a:buFont typeface="Arial"/>
              <a:buChar char="•"/>
            </a:pPr>
            <a:r>
              <a:rPr lang="en-US" sz="2299">
                <a:solidFill>
                  <a:srgbClr val="FFFFFF"/>
                </a:solidFill>
                <a:latin typeface="Inter"/>
                <a:ea typeface="Inter"/>
                <a:cs typeface="Inter"/>
                <a:sym typeface="Inter"/>
              </a:rPr>
              <a:t>Refleja la medida de la eficiencia con que el equipo del proyecto está llevando a cabo el trabajo.</a:t>
            </a:r>
          </a:p>
          <a:p>
            <a:pPr algn="l" marL="496569" indent="-248284" lvl="1">
              <a:lnSpc>
                <a:spcPts val="3219"/>
              </a:lnSpc>
              <a:buFont typeface="Arial"/>
              <a:buChar char="•"/>
            </a:pPr>
            <a:r>
              <a:rPr lang="en-US" sz="2299">
                <a:solidFill>
                  <a:srgbClr val="FFFFFF"/>
                </a:solidFill>
                <a:latin typeface="Inter"/>
                <a:ea typeface="Inter"/>
                <a:cs typeface="Inter"/>
                <a:sym typeface="Inter"/>
              </a:rPr>
              <a:t>SPI &gt; 1 → adelantado: la cantidad de trabajo efectuada es mayor a la prevista</a:t>
            </a:r>
          </a:p>
          <a:p>
            <a:pPr algn="l" marL="496569" indent="-248284" lvl="1">
              <a:lnSpc>
                <a:spcPts val="3219"/>
              </a:lnSpc>
              <a:buFont typeface="Arial"/>
              <a:buChar char="•"/>
            </a:pPr>
            <a:r>
              <a:rPr lang="en-US" sz="2299">
                <a:solidFill>
                  <a:srgbClr val="FFFFFF"/>
                </a:solidFill>
                <a:latin typeface="Inter"/>
                <a:ea typeface="Inter"/>
                <a:cs typeface="Inter"/>
                <a:sym typeface="Inter"/>
              </a:rPr>
              <a:t>SPI &lt; 1 → retrasado: la cantidad de trabajo llevada a cabo es menor que la prevista.</a:t>
            </a:r>
          </a:p>
        </p:txBody>
      </p:sp>
      <p:sp>
        <p:nvSpPr>
          <p:cNvPr name="TextBox 7" id="7"/>
          <p:cNvSpPr txBox="true"/>
          <p:nvPr/>
        </p:nvSpPr>
        <p:spPr>
          <a:xfrm rot="0">
            <a:off x="1403689" y="1370153"/>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03</a:t>
            </a:r>
          </a:p>
        </p:txBody>
      </p:sp>
      <p:grpSp>
        <p:nvGrpSpPr>
          <p:cNvPr name="Group 8" id="8"/>
          <p:cNvGrpSpPr/>
          <p:nvPr/>
        </p:nvGrpSpPr>
        <p:grpSpPr>
          <a:xfrm rot="0">
            <a:off x="1259043" y="5143500"/>
            <a:ext cx="1301634" cy="130163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2840054" y="5562105"/>
            <a:ext cx="7209623"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Índice de desempeño del costo (CPI)</a:t>
            </a:r>
          </a:p>
        </p:txBody>
      </p:sp>
      <p:sp>
        <p:nvSpPr>
          <p:cNvPr name="TextBox 12" id="12"/>
          <p:cNvSpPr txBox="true"/>
          <p:nvPr/>
        </p:nvSpPr>
        <p:spPr>
          <a:xfrm rot="0">
            <a:off x="2840054" y="6152509"/>
            <a:ext cx="14419246" cy="1989455"/>
          </a:xfrm>
          <a:prstGeom prst="rect">
            <a:avLst/>
          </a:prstGeom>
        </p:spPr>
        <p:txBody>
          <a:bodyPr anchor="t" rtlCol="false" tIns="0" lIns="0" bIns="0" rIns="0">
            <a:spAutoFit/>
          </a:bodyPr>
          <a:lstStyle/>
          <a:p>
            <a:pPr algn="just">
              <a:lnSpc>
                <a:spcPts val="3219"/>
              </a:lnSpc>
            </a:pPr>
            <a:r>
              <a:rPr lang="en-US" sz="2299">
                <a:solidFill>
                  <a:srgbClr val="FFFFFF"/>
                </a:solidFill>
                <a:latin typeface="Inter"/>
                <a:ea typeface="Inter"/>
                <a:cs typeface="Inter"/>
                <a:sym typeface="Inter"/>
              </a:rPr>
              <a:t>Es una medida de eficiencia del costo de los recursos presupuestados, expresado como la razón entre el valor ganado y el costo real: Fórmula: CPI = EV/AC.</a:t>
            </a:r>
          </a:p>
          <a:p>
            <a:pPr algn="l" marL="496569" indent="-248284" lvl="1">
              <a:lnSpc>
                <a:spcPts val="3219"/>
              </a:lnSpc>
              <a:buFont typeface="Arial"/>
              <a:buChar char="•"/>
            </a:pPr>
            <a:r>
              <a:rPr lang="en-US" sz="2299">
                <a:solidFill>
                  <a:srgbClr val="FFFFFF"/>
                </a:solidFill>
                <a:latin typeface="Inter"/>
                <a:ea typeface="Inter"/>
                <a:cs typeface="Inter"/>
                <a:sym typeface="Inter"/>
              </a:rPr>
              <a:t>Se considera la métrica más crítica del EVA y mide la eficiencia del costo para el trabajo completado.</a:t>
            </a:r>
          </a:p>
          <a:p>
            <a:pPr algn="l" marL="496569" indent="-248284" lvl="1">
              <a:lnSpc>
                <a:spcPts val="3219"/>
              </a:lnSpc>
              <a:buFont typeface="Arial"/>
              <a:buChar char="•"/>
            </a:pPr>
            <a:r>
              <a:rPr lang="en-US" sz="2299">
                <a:solidFill>
                  <a:srgbClr val="FFFFFF"/>
                </a:solidFill>
                <a:latin typeface="Inter"/>
                <a:ea typeface="Inter"/>
                <a:cs typeface="Inter"/>
                <a:sym typeface="Inter"/>
              </a:rPr>
              <a:t>CPI &gt; 1 → eficiente: indica un costo inferior con respecto al desempeño hasta la fecha</a:t>
            </a:r>
          </a:p>
          <a:p>
            <a:pPr algn="l" marL="496569" indent="-248284" lvl="1">
              <a:lnSpc>
                <a:spcPts val="3219"/>
              </a:lnSpc>
              <a:buFont typeface="Arial"/>
              <a:buChar char="•"/>
            </a:pPr>
            <a:r>
              <a:rPr lang="en-US" sz="2299">
                <a:solidFill>
                  <a:srgbClr val="FFFFFF"/>
                </a:solidFill>
                <a:latin typeface="Inter"/>
                <a:ea typeface="Inter"/>
                <a:cs typeface="Inter"/>
                <a:sym typeface="Inter"/>
              </a:rPr>
              <a:t>CPI &lt; 1 → ineficiente: indica un costo superior al planificado con respecto al trabajo completado.</a:t>
            </a:r>
          </a:p>
        </p:txBody>
      </p:sp>
      <p:sp>
        <p:nvSpPr>
          <p:cNvPr name="TextBox 13" id="13"/>
          <p:cNvSpPr txBox="true"/>
          <p:nvPr/>
        </p:nvSpPr>
        <p:spPr>
          <a:xfrm rot="0">
            <a:off x="1403689" y="5484953"/>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04</a:t>
            </a:r>
          </a:p>
        </p:txBody>
      </p:sp>
      <p:sp>
        <p:nvSpPr>
          <p:cNvPr name="TextBox 14" id="14"/>
          <p:cNvSpPr txBox="true"/>
          <p:nvPr/>
        </p:nvSpPr>
        <p:spPr>
          <a:xfrm rot="0">
            <a:off x="2840054" y="1483168"/>
            <a:ext cx="8010791"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Índice de desempeño del cronograma (SPI)</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5" id="5"/>
          <p:cNvSpPr txBox="true"/>
          <p:nvPr/>
        </p:nvSpPr>
        <p:spPr>
          <a:xfrm rot="0">
            <a:off x="3092942" y="1181100"/>
            <a:ext cx="13915248" cy="1060456"/>
          </a:xfrm>
          <a:prstGeom prst="rect">
            <a:avLst/>
          </a:prstGeom>
        </p:spPr>
        <p:txBody>
          <a:bodyPr anchor="t" rtlCol="false" tIns="0" lIns="0" bIns="0" rIns="0">
            <a:spAutoFit/>
          </a:bodyPr>
          <a:lstStyle/>
          <a:p>
            <a:pPr algn="ctr">
              <a:lnSpc>
                <a:spcPts val="8000"/>
              </a:lnSpc>
            </a:pPr>
            <a:r>
              <a:rPr lang="en-US" sz="8000" spc="-144">
                <a:solidFill>
                  <a:srgbClr val="24497B"/>
                </a:solidFill>
                <a:latin typeface="Anton"/>
                <a:ea typeface="Anton"/>
                <a:cs typeface="Anton"/>
                <a:sym typeface="Anton"/>
              </a:rPr>
              <a:t>ANÁLISIS DE TENDENCIAS</a:t>
            </a:r>
          </a:p>
        </p:txBody>
      </p:sp>
      <p:sp>
        <p:nvSpPr>
          <p:cNvPr name="TextBox 6" id="6"/>
          <p:cNvSpPr txBox="true"/>
          <p:nvPr/>
        </p:nvSpPr>
        <p:spPr>
          <a:xfrm rot="0">
            <a:off x="4875295" y="7566243"/>
            <a:ext cx="3459080" cy="477236"/>
          </a:xfrm>
          <a:prstGeom prst="rect">
            <a:avLst/>
          </a:prstGeom>
        </p:spPr>
        <p:txBody>
          <a:bodyPr anchor="t" rtlCol="false" tIns="0" lIns="0" bIns="0" rIns="0">
            <a:spAutoFit/>
          </a:bodyPr>
          <a:lstStyle/>
          <a:p>
            <a:pPr algn="ctr">
              <a:lnSpc>
                <a:spcPts val="3595"/>
              </a:lnSpc>
            </a:pPr>
            <a:r>
              <a:rPr lang="en-US" sz="3595" spc="-64">
                <a:solidFill>
                  <a:srgbClr val="24497B"/>
                </a:solidFill>
                <a:latin typeface="Anton"/>
                <a:ea typeface="Anton"/>
                <a:cs typeface="Anton"/>
                <a:sym typeface="Anton"/>
              </a:rPr>
              <a:t>Diagramas</a:t>
            </a:r>
          </a:p>
        </p:txBody>
      </p:sp>
      <p:sp>
        <p:nvSpPr>
          <p:cNvPr name="TextBox 7" id="7"/>
          <p:cNvSpPr txBox="true"/>
          <p:nvPr/>
        </p:nvSpPr>
        <p:spPr>
          <a:xfrm rot="0">
            <a:off x="9953625" y="7566243"/>
            <a:ext cx="3459080" cy="477236"/>
          </a:xfrm>
          <a:prstGeom prst="rect">
            <a:avLst/>
          </a:prstGeom>
        </p:spPr>
        <p:txBody>
          <a:bodyPr anchor="t" rtlCol="false" tIns="0" lIns="0" bIns="0" rIns="0">
            <a:spAutoFit/>
          </a:bodyPr>
          <a:lstStyle/>
          <a:p>
            <a:pPr algn="ctr">
              <a:lnSpc>
                <a:spcPts val="3595"/>
              </a:lnSpc>
            </a:pPr>
            <a:r>
              <a:rPr lang="en-US" sz="3595" spc="-64">
                <a:solidFill>
                  <a:srgbClr val="24497B"/>
                </a:solidFill>
                <a:latin typeface="Anton"/>
                <a:ea typeface="Anton"/>
                <a:cs typeface="Anton"/>
                <a:sym typeface="Anton"/>
              </a:rPr>
              <a:t>Pronósticos</a:t>
            </a:r>
          </a:p>
        </p:txBody>
      </p:sp>
      <p:sp>
        <p:nvSpPr>
          <p:cNvPr name="AutoShape 8" id="8"/>
          <p:cNvSpPr/>
          <p:nvPr/>
        </p:nvSpPr>
        <p:spPr>
          <a:xfrm flipV="true">
            <a:off x="9144000" y="7084080"/>
            <a:ext cx="0" cy="1207276"/>
          </a:xfrm>
          <a:prstGeom prst="line">
            <a:avLst/>
          </a:prstGeom>
          <a:ln cap="flat" w="38100">
            <a:solidFill>
              <a:srgbClr val="24497B"/>
            </a:solidFill>
            <a:prstDash val="solid"/>
            <a:headEnd type="oval" len="lg" w="lg"/>
            <a:tailEnd type="oval" len="lg" w="lg"/>
          </a:ln>
        </p:spPr>
      </p:sp>
      <p:grpSp>
        <p:nvGrpSpPr>
          <p:cNvPr name="Group 9" id="9"/>
          <p:cNvGrpSpPr/>
          <p:nvPr/>
        </p:nvGrpSpPr>
        <p:grpSpPr>
          <a:xfrm rot="0">
            <a:off x="2262187" y="1028700"/>
            <a:ext cx="1212856" cy="121285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396967" y="1354660"/>
            <a:ext cx="943296" cy="675237"/>
          </a:xfrm>
          <a:prstGeom prst="rect">
            <a:avLst/>
          </a:prstGeom>
        </p:spPr>
        <p:txBody>
          <a:bodyPr anchor="t" rtlCol="false" tIns="0" lIns="0" bIns="0" rIns="0">
            <a:spAutoFit/>
          </a:bodyPr>
          <a:lstStyle/>
          <a:p>
            <a:pPr algn="ctr">
              <a:lnSpc>
                <a:spcPts val="5193"/>
              </a:lnSpc>
            </a:pPr>
            <a:r>
              <a:rPr lang="en-US" sz="5193" spc="-93">
                <a:solidFill>
                  <a:srgbClr val="FFFFFF"/>
                </a:solidFill>
                <a:latin typeface="Anton"/>
                <a:ea typeface="Anton"/>
                <a:cs typeface="Anton"/>
                <a:sym typeface="Anton"/>
              </a:rPr>
              <a:t>03</a:t>
            </a:r>
          </a:p>
        </p:txBody>
      </p:sp>
      <p:sp>
        <p:nvSpPr>
          <p:cNvPr name="TextBox 13" id="13"/>
          <p:cNvSpPr txBox="true"/>
          <p:nvPr/>
        </p:nvSpPr>
        <p:spPr>
          <a:xfrm rot="0">
            <a:off x="2962791" y="3634003"/>
            <a:ext cx="12362418" cy="2566528"/>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El análisis de tendencias examina el desempeño del proyecto a lo largo del tiempo para determinar si está mejorando o si se está deteriorando. </a:t>
            </a:r>
          </a:p>
          <a:p>
            <a:pPr algn="just">
              <a:lnSpc>
                <a:spcPts val="3437"/>
              </a:lnSpc>
            </a:pPr>
          </a:p>
          <a:p>
            <a:pPr algn="just">
              <a:lnSpc>
                <a:spcPts val="3437"/>
              </a:lnSpc>
            </a:pPr>
            <a:r>
              <a:rPr lang="en-US" sz="2455">
                <a:solidFill>
                  <a:srgbClr val="000000"/>
                </a:solidFill>
                <a:latin typeface="Inter"/>
                <a:ea typeface="Inter"/>
                <a:cs typeface="Inter"/>
                <a:sym typeface="Inter"/>
              </a:rPr>
              <a:t>Las técnicas de análisis gráfico: permiten comprender el desempeño a la fecha y compararlo con los objetivos de desempeño futuros, en términos del BAC con respecto a la estimación a la conclusión (EAC) y las fechas de conclusión.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4497B"/>
        </a:solidFill>
      </p:bgPr>
    </p:bg>
    <p:spTree>
      <p:nvGrpSpPr>
        <p:cNvPr id="1" name=""/>
        <p:cNvGrpSpPr/>
        <p:nvPr/>
      </p:nvGrpSpPr>
      <p:grpSpPr>
        <a:xfrm>
          <a:off x="0" y="0"/>
          <a:ext cx="0" cy="0"/>
          <a:chOff x="0" y="0"/>
          <a:chExt cx="0" cy="0"/>
        </a:xfrm>
      </p:grpSpPr>
      <p:sp>
        <p:nvSpPr>
          <p:cNvPr name="AutoShape 2" id="2"/>
          <p:cNvSpPr/>
          <p:nvPr/>
        </p:nvSpPr>
        <p:spPr>
          <a:xfrm flipV="true">
            <a:off x="1909860" y="667890"/>
            <a:ext cx="0" cy="8871916"/>
          </a:xfrm>
          <a:prstGeom prst="line">
            <a:avLst/>
          </a:prstGeom>
          <a:ln cap="flat" w="38100">
            <a:solidFill>
              <a:srgbClr val="FFFFFF"/>
            </a:solidFill>
            <a:prstDash val="solid"/>
            <a:headEnd type="oval" len="lg" w="lg"/>
            <a:tailEnd type="oval" len="lg" w="lg"/>
          </a:ln>
        </p:spPr>
      </p:sp>
      <p:grpSp>
        <p:nvGrpSpPr>
          <p:cNvPr name="Group 3" id="3"/>
          <p:cNvGrpSpPr/>
          <p:nvPr/>
        </p:nvGrpSpPr>
        <p:grpSpPr>
          <a:xfrm rot="0">
            <a:off x="1259043" y="1028700"/>
            <a:ext cx="1301634" cy="130163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491298" y="3982189"/>
            <a:ext cx="9305404" cy="5734455"/>
          </a:xfrm>
          <a:custGeom>
            <a:avLst/>
            <a:gdLst/>
            <a:ahLst/>
            <a:cxnLst/>
            <a:rect r="r" b="b" t="t" l="l"/>
            <a:pathLst>
              <a:path h="5734455" w="9305404">
                <a:moveTo>
                  <a:pt x="0" y="0"/>
                </a:moveTo>
                <a:lnTo>
                  <a:pt x="9305404" y="0"/>
                </a:lnTo>
                <a:lnTo>
                  <a:pt x="9305404" y="5734455"/>
                </a:lnTo>
                <a:lnTo>
                  <a:pt x="0" y="5734455"/>
                </a:lnTo>
                <a:lnTo>
                  <a:pt x="0" y="0"/>
                </a:lnTo>
                <a:close/>
              </a:path>
            </a:pathLst>
          </a:custGeom>
          <a:blipFill>
            <a:blip r:embed="rId2"/>
            <a:stretch>
              <a:fillRect l="0" t="0" r="0" b="0"/>
            </a:stretch>
          </a:blipFill>
        </p:spPr>
      </p:sp>
      <p:sp>
        <p:nvSpPr>
          <p:cNvPr name="TextBox 7" id="7"/>
          <p:cNvSpPr txBox="true"/>
          <p:nvPr/>
        </p:nvSpPr>
        <p:spPr>
          <a:xfrm rot="0">
            <a:off x="2840054" y="1484464"/>
            <a:ext cx="5822738"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Diagramas</a:t>
            </a:r>
          </a:p>
        </p:txBody>
      </p:sp>
      <p:sp>
        <p:nvSpPr>
          <p:cNvPr name="TextBox 8" id="8"/>
          <p:cNvSpPr txBox="true"/>
          <p:nvPr/>
        </p:nvSpPr>
        <p:spPr>
          <a:xfrm rot="0">
            <a:off x="2840054" y="2145134"/>
            <a:ext cx="14419246" cy="1589405"/>
          </a:xfrm>
          <a:prstGeom prst="rect">
            <a:avLst/>
          </a:prstGeom>
        </p:spPr>
        <p:txBody>
          <a:bodyPr anchor="t" rtlCol="false" tIns="0" lIns="0" bIns="0" rIns="0">
            <a:spAutoFit/>
          </a:bodyPr>
          <a:lstStyle/>
          <a:p>
            <a:pPr algn="just">
              <a:lnSpc>
                <a:spcPts val="3219"/>
              </a:lnSpc>
            </a:pPr>
            <a:r>
              <a:rPr lang="en-US" sz="2299">
                <a:solidFill>
                  <a:srgbClr val="FFFFFF"/>
                </a:solidFill>
                <a:latin typeface="Inter"/>
                <a:ea typeface="Inter"/>
                <a:cs typeface="Inter"/>
                <a:sym typeface="Inter"/>
              </a:rPr>
              <a:t>En el análisis del valor ganado, se puede monitorear e informar sobre tres parámetros (valor planificado, valor ganado y costo real), por períodos (normalmente semanal o mensualmente) y de forma acumulativa. El</a:t>
            </a:r>
            <a:r>
              <a:rPr lang="en-US" sz="2299">
                <a:solidFill>
                  <a:srgbClr val="FFFFFF"/>
                </a:solidFill>
                <a:latin typeface="Inter"/>
                <a:ea typeface="Inter"/>
                <a:cs typeface="Inter"/>
                <a:sym typeface="Inter"/>
              </a:rPr>
              <a:t> Gráfico emplea Curvas S para representar los datos del EV para un proyecto cuyo costo excede el presupuesto y cuyo plan de trabajo está retrasado.</a:t>
            </a:r>
          </a:p>
        </p:txBody>
      </p:sp>
      <p:sp>
        <p:nvSpPr>
          <p:cNvPr name="TextBox 9" id="9"/>
          <p:cNvSpPr txBox="true"/>
          <p:nvPr/>
        </p:nvSpPr>
        <p:spPr>
          <a:xfrm rot="0">
            <a:off x="1403689" y="1370153"/>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01</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24497B"/>
        </a:solidFill>
      </p:bgPr>
    </p:bg>
    <p:spTree>
      <p:nvGrpSpPr>
        <p:cNvPr id="1" name=""/>
        <p:cNvGrpSpPr/>
        <p:nvPr/>
      </p:nvGrpSpPr>
      <p:grpSpPr>
        <a:xfrm>
          <a:off x="0" y="0"/>
          <a:ext cx="0" cy="0"/>
          <a:chOff x="0" y="0"/>
          <a:chExt cx="0" cy="0"/>
        </a:xfrm>
      </p:grpSpPr>
      <p:sp>
        <p:nvSpPr>
          <p:cNvPr name="AutoShape 2" id="2"/>
          <p:cNvSpPr/>
          <p:nvPr/>
        </p:nvSpPr>
        <p:spPr>
          <a:xfrm flipV="true">
            <a:off x="1909860" y="667890"/>
            <a:ext cx="0" cy="8871916"/>
          </a:xfrm>
          <a:prstGeom prst="line">
            <a:avLst/>
          </a:prstGeom>
          <a:ln cap="flat" w="38100">
            <a:solidFill>
              <a:srgbClr val="FFFFFF"/>
            </a:solidFill>
            <a:prstDash val="solid"/>
            <a:headEnd type="oval" len="lg" w="lg"/>
            <a:tailEnd type="oval" len="lg" w="lg"/>
          </a:ln>
        </p:spPr>
      </p:sp>
      <p:grpSp>
        <p:nvGrpSpPr>
          <p:cNvPr name="Group 3" id="3"/>
          <p:cNvGrpSpPr/>
          <p:nvPr/>
        </p:nvGrpSpPr>
        <p:grpSpPr>
          <a:xfrm rot="0">
            <a:off x="1259043" y="1028700"/>
            <a:ext cx="1301634" cy="130163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40054" y="1447305"/>
            <a:ext cx="4247135"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Pronósticos</a:t>
            </a:r>
          </a:p>
        </p:txBody>
      </p:sp>
      <p:sp>
        <p:nvSpPr>
          <p:cNvPr name="TextBox 7" id="7"/>
          <p:cNvSpPr txBox="true"/>
          <p:nvPr/>
        </p:nvSpPr>
        <p:spPr>
          <a:xfrm rot="0">
            <a:off x="2840054" y="2037709"/>
            <a:ext cx="14419246" cy="6790055"/>
          </a:xfrm>
          <a:prstGeom prst="rect">
            <a:avLst/>
          </a:prstGeom>
        </p:spPr>
        <p:txBody>
          <a:bodyPr anchor="t" rtlCol="false" tIns="0" lIns="0" bIns="0" rIns="0">
            <a:spAutoFit/>
          </a:bodyPr>
          <a:lstStyle/>
          <a:p>
            <a:pPr algn="just">
              <a:lnSpc>
                <a:spcPts val="3219"/>
              </a:lnSpc>
            </a:pPr>
            <a:r>
              <a:rPr lang="en-US" sz="2299">
                <a:solidFill>
                  <a:srgbClr val="FFFFFF"/>
                </a:solidFill>
                <a:latin typeface="Inter"/>
                <a:ea typeface="Inter"/>
                <a:cs typeface="Inter"/>
                <a:sym typeface="Inter"/>
              </a:rPr>
              <a:t>Conforme avanza el proyecto, el equipo del proyecto puede desarrollar un pronóstico de la estimación a la conclusión (EAC) que puede diferir del presupuesto hasta la conclusión (BAC), sobre la</a:t>
            </a:r>
            <a:r>
              <a:rPr lang="en-US" sz="2299">
                <a:solidFill>
                  <a:srgbClr val="FFFFFF"/>
                </a:solidFill>
                <a:latin typeface="Inter"/>
                <a:ea typeface="Inter"/>
                <a:cs typeface="Inter"/>
                <a:sym typeface="Inter"/>
              </a:rPr>
              <a:t> base del desempeño del proyecto. </a:t>
            </a:r>
          </a:p>
          <a:p>
            <a:pPr algn="just">
              <a:lnSpc>
                <a:spcPts val="3219"/>
              </a:lnSpc>
            </a:pPr>
          </a:p>
          <a:p>
            <a:pPr algn="l" marL="496569" indent="-248284" lvl="1">
              <a:lnSpc>
                <a:spcPts val="3219"/>
              </a:lnSpc>
              <a:buFont typeface="Arial"/>
              <a:buChar char="•"/>
            </a:pPr>
            <a:r>
              <a:rPr lang="en-US" sz="2299">
                <a:solidFill>
                  <a:srgbClr val="FFFFFF"/>
                </a:solidFill>
                <a:latin typeface="Inter"/>
                <a:ea typeface="Inter"/>
                <a:cs typeface="Inter"/>
                <a:sym typeface="Inter"/>
              </a:rPr>
              <a:t>Las EAC se basan normalmente en los costos reales en los que se ha incurrido para completar el trabajo, más una estimación hasta la conclusión (ETC) para el trabajo restante.</a:t>
            </a:r>
          </a:p>
          <a:p>
            <a:pPr algn="just">
              <a:lnSpc>
                <a:spcPts val="3219"/>
              </a:lnSpc>
            </a:pPr>
          </a:p>
          <a:p>
            <a:pPr algn="l" marL="496569" indent="-248284" lvl="1">
              <a:lnSpc>
                <a:spcPts val="3219"/>
              </a:lnSpc>
              <a:buFont typeface="Arial"/>
              <a:buChar char="•"/>
            </a:pPr>
            <a:r>
              <a:rPr lang="en-US" sz="2299">
                <a:solidFill>
                  <a:srgbClr val="FFFFFF"/>
                </a:solidFill>
                <a:latin typeface="Inter"/>
                <a:ea typeface="Inter"/>
                <a:cs typeface="Inter"/>
                <a:sym typeface="Inter"/>
              </a:rPr>
              <a:t>El método más común de pronóstico de la EAC es una suma ascendente manual, efectuada por el director del proyecto y el equipo del proyecto. Fórmula: EAC = AC + ETC ascendente. Se basa en los costos reales y en la experiencia adquirida a partir del trabajo completado.</a:t>
            </a:r>
          </a:p>
          <a:p>
            <a:pPr algn="just">
              <a:lnSpc>
                <a:spcPts val="3219"/>
              </a:lnSpc>
            </a:pPr>
          </a:p>
          <a:p>
            <a:pPr algn="just">
              <a:lnSpc>
                <a:spcPts val="3219"/>
              </a:lnSpc>
            </a:pPr>
            <a:r>
              <a:rPr lang="en-US" sz="2299">
                <a:solidFill>
                  <a:srgbClr val="FFFFFF"/>
                </a:solidFill>
                <a:latin typeface="Inter"/>
                <a:ea typeface="Inter"/>
                <a:cs typeface="Inter"/>
                <a:sym typeface="Inter"/>
              </a:rPr>
              <a:t>Rango de EACs calculadas y que representan diferentes escenarios de riesgo:</a:t>
            </a:r>
          </a:p>
          <a:p>
            <a:pPr algn="just">
              <a:lnSpc>
                <a:spcPts val="3219"/>
              </a:lnSpc>
            </a:pPr>
          </a:p>
          <a:p>
            <a:pPr algn="l" marL="496569" indent="-248284" lvl="1">
              <a:lnSpc>
                <a:spcPts val="3219"/>
              </a:lnSpc>
              <a:buFont typeface="Arial"/>
              <a:buChar char="•"/>
            </a:pPr>
            <a:r>
              <a:rPr lang="en-US" sz="2299">
                <a:solidFill>
                  <a:srgbClr val="FFFFFF"/>
                </a:solidFill>
                <a:latin typeface="Inter"/>
                <a:ea typeface="Inter"/>
                <a:cs typeface="Inter"/>
                <a:sym typeface="Inter"/>
              </a:rPr>
              <a:t>Pronóstico de la EAC para trabajo de ETC a la tasa presupuestada: Fórmula: EAC = AC + (BAC – EV).</a:t>
            </a:r>
          </a:p>
          <a:p>
            <a:pPr algn="l" marL="496569" indent="-248284" lvl="1">
              <a:lnSpc>
                <a:spcPts val="3219"/>
              </a:lnSpc>
              <a:buFont typeface="Arial"/>
              <a:buChar char="•"/>
            </a:pPr>
            <a:r>
              <a:rPr lang="en-US" sz="2299">
                <a:solidFill>
                  <a:srgbClr val="FFFFFF"/>
                </a:solidFill>
                <a:latin typeface="Inter"/>
                <a:ea typeface="Inter"/>
                <a:cs typeface="Inter"/>
                <a:sym typeface="Inter"/>
              </a:rPr>
              <a:t>Pronóstico de la EAC para trabajo de la ETC con el CPI actual: Fórmula: EAC = BAC / CPI.</a:t>
            </a:r>
          </a:p>
          <a:p>
            <a:pPr algn="l" marL="496569" indent="-248284" lvl="1">
              <a:lnSpc>
                <a:spcPts val="3219"/>
              </a:lnSpc>
              <a:buFont typeface="Arial"/>
              <a:buChar char="•"/>
            </a:pPr>
            <a:r>
              <a:rPr lang="en-US" sz="2299">
                <a:solidFill>
                  <a:srgbClr val="FFFFFF"/>
                </a:solidFill>
                <a:latin typeface="Inter"/>
                <a:ea typeface="Inter"/>
                <a:cs typeface="Inter"/>
                <a:sym typeface="Inter"/>
              </a:rPr>
              <a:t>Pronóstico de la EAC para trabajo de la ETC considerando ambos factores, SPI y CPI: Fórmula: EAC = AC + [(BAC – EV) / (CPI × SPI)].</a:t>
            </a:r>
          </a:p>
        </p:txBody>
      </p:sp>
      <p:sp>
        <p:nvSpPr>
          <p:cNvPr name="TextBox 8" id="8"/>
          <p:cNvSpPr txBox="true"/>
          <p:nvPr/>
        </p:nvSpPr>
        <p:spPr>
          <a:xfrm rot="0">
            <a:off x="1403689" y="1370153"/>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02</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5" id="5"/>
          <p:cNvSpPr txBox="true"/>
          <p:nvPr/>
        </p:nvSpPr>
        <p:spPr>
          <a:xfrm rot="0">
            <a:off x="3092942" y="1181100"/>
            <a:ext cx="13915248" cy="1060456"/>
          </a:xfrm>
          <a:prstGeom prst="rect">
            <a:avLst/>
          </a:prstGeom>
        </p:spPr>
        <p:txBody>
          <a:bodyPr anchor="t" rtlCol="false" tIns="0" lIns="0" bIns="0" rIns="0">
            <a:spAutoFit/>
          </a:bodyPr>
          <a:lstStyle/>
          <a:p>
            <a:pPr algn="ctr">
              <a:lnSpc>
                <a:spcPts val="8000"/>
              </a:lnSpc>
            </a:pPr>
            <a:r>
              <a:rPr lang="en-US" sz="8000" spc="-144">
                <a:solidFill>
                  <a:srgbClr val="24497B"/>
                </a:solidFill>
                <a:latin typeface="Anton"/>
                <a:ea typeface="Anton"/>
                <a:cs typeface="Anton"/>
                <a:sym typeface="Anton"/>
              </a:rPr>
              <a:t>ANÁLISIS DE RESERVA</a:t>
            </a:r>
          </a:p>
        </p:txBody>
      </p:sp>
      <p:grpSp>
        <p:nvGrpSpPr>
          <p:cNvPr name="Group 6" id="6"/>
          <p:cNvGrpSpPr/>
          <p:nvPr/>
        </p:nvGrpSpPr>
        <p:grpSpPr>
          <a:xfrm rot="0">
            <a:off x="2262187" y="1028700"/>
            <a:ext cx="1212856" cy="121285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2396967" y="1354660"/>
            <a:ext cx="943296" cy="675237"/>
          </a:xfrm>
          <a:prstGeom prst="rect">
            <a:avLst/>
          </a:prstGeom>
        </p:spPr>
        <p:txBody>
          <a:bodyPr anchor="t" rtlCol="false" tIns="0" lIns="0" bIns="0" rIns="0">
            <a:spAutoFit/>
          </a:bodyPr>
          <a:lstStyle/>
          <a:p>
            <a:pPr algn="ctr">
              <a:lnSpc>
                <a:spcPts val="5193"/>
              </a:lnSpc>
            </a:pPr>
            <a:r>
              <a:rPr lang="en-US" sz="5193" spc="-93">
                <a:solidFill>
                  <a:srgbClr val="FFFFFF"/>
                </a:solidFill>
                <a:latin typeface="Anton"/>
                <a:ea typeface="Anton"/>
                <a:cs typeface="Anton"/>
                <a:sym typeface="Anton"/>
              </a:rPr>
              <a:t>04</a:t>
            </a:r>
          </a:p>
        </p:txBody>
      </p:sp>
      <p:sp>
        <p:nvSpPr>
          <p:cNvPr name="TextBox 10" id="10"/>
          <p:cNvSpPr txBox="true"/>
          <p:nvPr/>
        </p:nvSpPr>
        <p:spPr>
          <a:xfrm rot="0">
            <a:off x="2962791" y="3634003"/>
            <a:ext cx="12362418" cy="3423778"/>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Durante el control de los costos se utiliza el análisis de reservas para monitorear el estado de las reservas para contingencias y de gestión, a fin de determinar si el proyecto todavía necesita de estas reservas o si se han de solicitar reservas adicionales.</a:t>
            </a:r>
          </a:p>
          <a:p>
            <a:pPr algn="just">
              <a:lnSpc>
                <a:spcPts val="3437"/>
              </a:lnSpc>
            </a:pPr>
          </a:p>
          <a:p>
            <a:pPr algn="just">
              <a:lnSpc>
                <a:spcPts val="3437"/>
              </a:lnSpc>
            </a:pPr>
            <a:r>
              <a:rPr lang="en-US" sz="2455">
                <a:solidFill>
                  <a:srgbClr val="000000"/>
                </a:solidFill>
                <a:latin typeface="Inter"/>
                <a:ea typeface="Inter"/>
                <a:cs typeface="Inter"/>
                <a:sym typeface="Inter"/>
              </a:rPr>
              <a:t>Si los riesgos identificados no se producen, las reservas para las contingencias no utilizadas se podrían retirar del presupuesto del proyecto a fin de liberar recursos para otros proyectos u operaciones</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5" id="5"/>
          <p:cNvSpPr txBox="true"/>
          <p:nvPr/>
        </p:nvSpPr>
        <p:spPr>
          <a:xfrm rot="0">
            <a:off x="3092942" y="1162050"/>
            <a:ext cx="13915248" cy="1816110"/>
          </a:xfrm>
          <a:prstGeom prst="rect">
            <a:avLst/>
          </a:prstGeom>
        </p:spPr>
        <p:txBody>
          <a:bodyPr anchor="t" rtlCol="false" tIns="0" lIns="0" bIns="0" rIns="0">
            <a:spAutoFit/>
          </a:bodyPr>
          <a:lstStyle/>
          <a:p>
            <a:pPr algn="ctr">
              <a:lnSpc>
                <a:spcPts val="7000"/>
              </a:lnSpc>
            </a:pPr>
            <a:r>
              <a:rPr lang="en-US" sz="7000" spc="-126">
                <a:solidFill>
                  <a:srgbClr val="24497B"/>
                </a:solidFill>
                <a:latin typeface="Anton"/>
                <a:ea typeface="Anton"/>
                <a:cs typeface="Anton"/>
                <a:sym typeface="Anton"/>
              </a:rPr>
              <a:t>ÍNDICE DE DESEMPEÑO DEL TRABAJO POR COMPLETAR (TCPI)</a:t>
            </a:r>
          </a:p>
        </p:txBody>
      </p:sp>
      <p:sp>
        <p:nvSpPr>
          <p:cNvPr name="TextBox 6" id="6"/>
          <p:cNvSpPr txBox="true"/>
          <p:nvPr/>
        </p:nvSpPr>
        <p:spPr>
          <a:xfrm rot="0">
            <a:off x="2396967" y="3194056"/>
            <a:ext cx="13937645" cy="3852403"/>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Es una medida del desempeño del costo que se debe alcanzar con los recursos restantes a fin de cumplir con un determinado objetivo de gestión; se expresa como la tasa entre el costo pa</a:t>
            </a:r>
            <a:r>
              <a:rPr lang="en-US" sz="2455">
                <a:solidFill>
                  <a:srgbClr val="000000"/>
                </a:solidFill>
                <a:latin typeface="Inter"/>
                <a:ea typeface="Inter"/>
                <a:cs typeface="Inter"/>
                <a:sym typeface="Inter"/>
              </a:rPr>
              <a:t>r</a:t>
            </a:r>
            <a:r>
              <a:rPr lang="en-US" sz="2455">
                <a:solidFill>
                  <a:srgbClr val="000000"/>
                </a:solidFill>
                <a:latin typeface="Inter"/>
                <a:ea typeface="Inter"/>
                <a:cs typeface="Inter"/>
                <a:sym typeface="Inter"/>
              </a:rPr>
              <a:t>a culminar el trabajo pendiente y </a:t>
            </a:r>
            <a:r>
              <a:rPr lang="en-US" sz="2455">
                <a:solidFill>
                  <a:srgbClr val="000000"/>
                </a:solidFill>
                <a:latin typeface="Inter"/>
                <a:ea typeface="Inter"/>
                <a:cs typeface="Inter"/>
                <a:sym typeface="Inter"/>
              </a:rPr>
              <a:t>e</a:t>
            </a:r>
            <a:r>
              <a:rPr lang="en-US" sz="2455">
                <a:solidFill>
                  <a:srgbClr val="000000"/>
                </a:solidFill>
                <a:latin typeface="Inter"/>
                <a:ea typeface="Inter"/>
                <a:cs typeface="Inter"/>
                <a:sym typeface="Inter"/>
              </a:rPr>
              <a:t>l</a:t>
            </a:r>
            <a:r>
              <a:rPr lang="en-US" sz="2455">
                <a:solidFill>
                  <a:srgbClr val="000000"/>
                </a:solidFill>
                <a:latin typeface="Inter"/>
                <a:ea typeface="Inter"/>
                <a:cs typeface="Inter"/>
                <a:sym typeface="Inter"/>
              </a:rPr>
              <a:t> presupuest</a:t>
            </a:r>
            <a:r>
              <a:rPr lang="en-US" sz="2455">
                <a:solidFill>
                  <a:srgbClr val="000000"/>
                </a:solidFill>
                <a:latin typeface="Inter"/>
                <a:ea typeface="Inter"/>
                <a:cs typeface="Inter"/>
                <a:sym typeface="Inter"/>
              </a:rPr>
              <a:t>o re</a:t>
            </a:r>
            <a:r>
              <a:rPr lang="en-US" sz="2455">
                <a:solidFill>
                  <a:srgbClr val="000000"/>
                </a:solidFill>
                <a:latin typeface="Inter"/>
                <a:ea typeface="Inter"/>
                <a:cs typeface="Inter"/>
                <a:sym typeface="Inter"/>
              </a:rPr>
              <a:t>s</a:t>
            </a:r>
            <a:r>
              <a:rPr lang="en-US" sz="2455">
                <a:solidFill>
                  <a:srgbClr val="000000"/>
                </a:solidFill>
                <a:latin typeface="Inter"/>
                <a:ea typeface="Inter"/>
                <a:cs typeface="Inter"/>
                <a:sym typeface="Inter"/>
              </a:rPr>
              <a:t>tante. El TCPI es la proyección calculada del desempeño del costo que debe lograrse para el trabajo restante con el propósito de cumplir con una meta de gestión especificada, tal y como sucede con el BAC o la EAC.</a:t>
            </a:r>
          </a:p>
          <a:p>
            <a:pPr algn="just">
              <a:lnSpc>
                <a:spcPts val="3437"/>
              </a:lnSpc>
            </a:pPr>
          </a:p>
          <a:p>
            <a:pPr algn="just">
              <a:lnSpc>
                <a:spcPts val="3437"/>
              </a:lnSpc>
            </a:pPr>
            <a:r>
              <a:rPr lang="en-US" sz="2455">
                <a:solidFill>
                  <a:srgbClr val="000000"/>
                </a:solidFill>
                <a:latin typeface="Inter"/>
                <a:ea typeface="Inter"/>
                <a:cs typeface="Inter"/>
                <a:sym typeface="Inter"/>
              </a:rPr>
              <a:t>La fórmula para el TCPI basada en el BAC es la siguiente: (BAC – EV) / (BAC – AC), ó (BAC – EV) / (EAC – AC).</a:t>
            </a:r>
          </a:p>
        </p:txBody>
      </p:sp>
      <p:grpSp>
        <p:nvGrpSpPr>
          <p:cNvPr name="Group 7" id="7"/>
          <p:cNvGrpSpPr/>
          <p:nvPr/>
        </p:nvGrpSpPr>
        <p:grpSpPr>
          <a:xfrm rot="0">
            <a:off x="2262187" y="1028700"/>
            <a:ext cx="1212856" cy="121285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2396967" y="1354660"/>
            <a:ext cx="943296" cy="675237"/>
          </a:xfrm>
          <a:prstGeom prst="rect">
            <a:avLst/>
          </a:prstGeom>
        </p:spPr>
        <p:txBody>
          <a:bodyPr anchor="t" rtlCol="false" tIns="0" lIns="0" bIns="0" rIns="0">
            <a:spAutoFit/>
          </a:bodyPr>
          <a:lstStyle/>
          <a:p>
            <a:pPr algn="ctr">
              <a:lnSpc>
                <a:spcPts val="5193"/>
              </a:lnSpc>
            </a:pPr>
            <a:r>
              <a:rPr lang="en-US" sz="5193" spc="-93">
                <a:solidFill>
                  <a:srgbClr val="FFFFFF"/>
                </a:solidFill>
                <a:latin typeface="Anton"/>
                <a:ea typeface="Anton"/>
                <a:cs typeface="Anton"/>
                <a:sym typeface="Anton"/>
              </a:rPr>
              <a:t>05</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Freeform 5" id="5"/>
          <p:cNvSpPr/>
          <p:nvPr/>
        </p:nvSpPr>
        <p:spPr>
          <a:xfrm flipH="false" flipV="false" rot="0">
            <a:off x="7723593" y="3480238"/>
            <a:ext cx="9535707" cy="6102852"/>
          </a:xfrm>
          <a:custGeom>
            <a:avLst/>
            <a:gdLst/>
            <a:ahLst/>
            <a:cxnLst/>
            <a:rect r="r" b="b" t="t" l="l"/>
            <a:pathLst>
              <a:path h="6102852" w="9535707">
                <a:moveTo>
                  <a:pt x="0" y="0"/>
                </a:moveTo>
                <a:lnTo>
                  <a:pt x="9535707" y="0"/>
                </a:lnTo>
                <a:lnTo>
                  <a:pt x="9535707" y="6102852"/>
                </a:lnTo>
                <a:lnTo>
                  <a:pt x="0" y="6102852"/>
                </a:lnTo>
                <a:lnTo>
                  <a:pt x="0" y="0"/>
                </a:lnTo>
                <a:close/>
              </a:path>
            </a:pathLst>
          </a:custGeom>
          <a:blipFill>
            <a:blip r:embed="rId2"/>
            <a:stretch>
              <a:fillRect l="0" t="0" r="0" b="0"/>
            </a:stretch>
          </a:blipFill>
        </p:spPr>
      </p:sp>
      <p:sp>
        <p:nvSpPr>
          <p:cNvPr name="TextBox 6" id="6"/>
          <p:cNvSpPr txBox="true"/>
          <p:nvPr/>
        </p:nvSpPr>
        <p:spPr>
          <a:xfrm rot="0">
            <a:off x="3092942" y="1162050"/>
            <a:ext cx="13915248" cy="1816110"/>
          </a:xfrm>
          <a:prstGeom prst="rect">
            <a:avLst/>
          </a:prstGeom>
        </p:spPr>
        <p:txBody>
          <a:bodyPr anchor="t" rtlCol="false" tIns="0" lIns="0" bIns="0" rIns="0">
            <a:spAutoFit/>
          </a:bodyPr>
          <a:lstStyle/>
          <a:p>
            <a:pPr algn="ctr">
              <a:lnSpc>
                <a:spcPts val="7000"/>
              </a:lnSpc>
            </a:pPr>
            <a:r>
              <a:rPr lang="en-US" sz="7000" spc="-126">
                <a:solidFill>
                  <a:srgbClr val="24497B"/>
                </a:solidFill>
                <a:latin typeface="Anton"/>
                <a:ea typeface="Anton"/>
                <a:cs typeface="Anton"/>
                <a:sym typeface="Anton"/>
              </a:rPr>
              <a:t>ÍNDICE DE DESEMPEÑO DEL TRABAJO POR COMPLETAR (TCPI)</a:t>
            </a:r>
          </a:p>
        </p:txBody>
      </p:sp>
      <p:grpSp>
        <p:nvGrpSpPr>
          <p:cNvPr name="Group 7" id="7"/>
          <p:cNvGrpSpPr/>
          <p:nvPr/>
        </p:nvGrpSpPr>
        <p:grpSpPr>
          <a:xfrm rot="0">
            <a:off x="2262187" y="1028700"/>
            <a:ext cx="1212856" cy="121285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2396967" y="1354660"/>
            <a:ext cx="943296" cy="675237"/>
          </a:xfrm>
          <a:prstGeom prst="rect">
            <a:avLst/>
          </a:prstGeom>
        </p:spPr>
        <p:txBody>
          <a:bodyPr anchor="t" rtlCol="false" tIns="0" lIns="0" bIns="0" rIns="0">
            <a:spAutoFit/>
          </a:bodyPr>
          <a:lstStyle/>
          <a:p>
            <a:pPr algn="ctr">
              <a:lnSpc>
                <a:spcPts val="5193"/>
              </a:lnSpc>
            </a:pPr>
            <a:r>
              <a:rPr lang="en-US" sz="5193" spc="-93">
                <a:solidFill>
                  <a:srgbClr val="FFFFFF"/>
                </a:solidFill>
                <a:latin typeface="Anton"/>
                <a:ea typeface="Anton"/>
                <a:cs typeface="Anton"/>
                <a:sym typeface="Anton"/>
              </a:rPr>
              <a:t>05</a:t>
            </a:r>
          </a:p>
        </p:txBody>
      </p:sp>
      <p:sp>
        <p:nvSpPr>
          <p:cNvPr name="TextBox 11" id="11"/>
          <p:cNvSpPr txBox="true"/>
          <p:nvPr/>
        </p:nvSpPr>
        <p:spPr>
          <a:xfrm rot="0">
            <a:off x="2396967" y="4182080"/>
            <a:ext cx="5099342" cy="3423778"/>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Si el CPI acumulativo cae por debajo de la línea base, todo el trabajo futuro del proyecto se tendrá que realizar inmediatamente en el rango del TCPI (BAC) para mantenerse dentro del rango del BAC autorizado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5" id="5"/>
          <p:cNvSpPr txBox="true"/>
          <p:nvPr/>
        </p:nvSpPr>
        <p:spPr>
          <a:xfrm rot="0">
            <a:off x="740279" y="1432948"/>
            <a:ext cx="13831055" cy="1060451"/>
          </a:xfrm>
          <a:prstGeom prst="rect">
            <a:avLst/>
          </a:prstGeom>
        </p:spPr>
        <p:txBody>
          <a:bodyPr anchor="t" rtlCol="false" tIns="0" lIns="0" bIns="0" rIns="0">
            <a:spAutoFit/>
          </a:bodyPr>
          <a:lstStyle/>
          <a:p>
            <a:pPr algn="ctr">
              <a:lnSpc>
                <a:spcPts val="8000"/>
              </a:lnSpc>
            </a:pPr>
            <a:r>
              <a:rPr lang="en-US" sz="8000" spc="-144">
                <a:solidFill>
                  <a:srgbClr val="24497B"/>
                </a:solidFill>
                <a:latin typeface="Anton"/>
                <a:ea typeface="Anton"/>
                <a:cs typeface="Anton"/>
                <a:sym typeface="Anton"/>
              </a:rPr>
              <a:t>CONTROL DE LOS COSTOS: SALI</a:t>
            </a:r>
            <a:r>
              <a:rPr lang="en-US" sz="8000" spc="-144">
                <a:solidFill>
                  <a:srgbClr val="24497B"/>
                </a:solidFill>
                <a:latin typeface="Anton"/>
                <a:ea typeface="Anton"/>
                <a:cs typeface="Anton"/>
                <a:sym typeface="Anton"/>
              </a:rPr>
              <a:t>DAS</a:t>
            </a:r>
          </a:p>
        </p:txBody>
      </p:sp>
      <p:grpSp>
        <p:nvGrpSpPr>
          <p:cNvPr name="Group 6" id="6"/>
          <p:cNvGrpSpPr/>
          <p:nvPr/>
        </p:nvGrpSpPr>
        <p:grpSpPr>
          <a:xfrm rot="0">
            <a:off x="2037332" y="3040748"/>
            <a:ext cx="8924176" cy="608217"/>
            <a:chOff x="0" y="0"/>
            <a:chExt cx="2538448" cy="173005"/>
          </a:xfrm>
        </p:grpSpPr>
        <p:sp>
          <p:nvSpPr>
            <p:cNvPr name="Freeform 7" id="7"/>
            <p:cNvSpPr/>
            <p:nvPr/>
          </p:nvSpPr>
          <p:spPr>
            <a:xfrm flipH="false" flipV="false" rot="0">
              <a:off x="0" y="0"/>
              <a:ext cx="2538448" cy="173005"/>
            </a:xfrm>
            <a:custGeom>
              <a:avLst/>
              <a:gdLst/>
              <a:ahLst/>
              <a:cxnLst/>
              <a:rect r="r" b="b" t="t" l="l"/>
              <a:pathLst>
                <a:path h="173005" w="2538448">
                  <a:moveTo>
                    <a:pt x="44244" y="0"/>
                  </a:moveTo>
                  <a:lnTo>
                    <a:pt x="2494204" y="0"/>
                  </a:lnTo>
                  <a:cubicBezTo>
                    <a:pt x="2505939" y="0"/>
                    <a:pt x="2517192" y="4661"/>
                    <a:pt x="2525489" y="12959"/>
                  </a:cubicBezTo>
                  <a:cubicBezTo>
                    <a:pt x="2533787" y="21256"/>
                    <a:pt x="2538448" y="32509"/>
                    <a:pt x="2538448" y="44244"/>
                  </a:cubicBezTo>
                  <a:lnTo>
                    <a:pt x="2538448" y="128761"/>
                  </a:lnTo>
                  <a:cubicBezTo>
                    <a:pt x="2538448" y="140496"/>
                    <a:pt x="2533787" y="151749"/>
                    <a:pt x="2525489" y="160046"/>
                  </a:cubicBezTo>
                  <a:cubicBezTo>
                    <a:pt x="2517192" y="168344"/>
                    <a:pt x="2505939" y="173005"/>
                    <a:pt x="2494204" y="173005"/>
                  </a:cubicBezTo>
                  <a:lnTo>
                    <a:pt x="44244" y="173005"/>
                  </a:lnTo>
                  <a:cubicBezTo>
                    <a:pt x="32509" y="173005"/>
                    <a:pt x="21256" y="168344"/>
                    <a:pt x="12959" y="160046"/>
                  </a:cubicBezTo>
                  <a:cubicBezTo>
                    <a:pt x="4661" y="151749"/>
                    <a:pt x="0" y="140496"/>
                    <a:pt x="0" y="128761"/>
                  </a:cubicBezTo>
                  <a:lnTo>
                    <a:pt x="0" y="44244"/>
                  </a:lnTo>
                  <a:cubicBezTo>
                    <a:pt x="0" y="32509"/>
                    <a:pt x="4661" y="21256"/>
                    <a:pt x="12959" y="12959"/>
                  </a:cubicBezTo>
                  <a:cubicBezTo>
                    <a:pt x="21256" y="4661"/>
                    <a:pt x="32509" y="0"/>
                    <a:pt x="44244" y="0"/>
                  </a:cubicBezTo>
                  <a:close/>
                </a:path>
              </a:pathLst>
            </a:custGeom>
            <a:solidFill>
              <a:srgbClr val="24497B"/>
            </a:solidFill>
          </p:spPr>
        </p:sp>
        <p:sp>
          <p:nvSpPr>
            <p:cNvPr name="TextBox 8" id="8"/>
            <p:cNvSpPr txBox="true"/>
            <p:nvPr/>
          </p:nvSpPr>
          <p:spPr>
            <a:xfrm>
              <a:off x="0" y="-38100"/>
              <a:ext cx="2538448" cy="211105"/>
            </a:xfrm>
            <a:prstGeom prst="rect">
              <a:avLst/>
            </a:prstGeom>
          </p:spPr>
          <p:txBody>
            <a:bodyPr anchor="ctr" rtlCol="false" tIns="50800" lIns="50800" bIns="50800" rIns="50800"/>
            <a:lstStyle/>
            <a:p>
              <a:pPr algn="ctr">
                <a:lnSpc>
                  <a:spcPts val="2138"/>
                </a:lnSpc>
              </a:pPr>
            </a:p>
          </p:txBody>
        </p:sp>
      </p:grpSp>
      <p:sp>
        <p:nvSpPr>
          <p:cNvPr name="Freeform 9" id="9"/>
          <p:cNvSpPr/>
          <p:nvPr/>
        </p:nvSpPr>
        <p:spPr>
          <a:xfrm flipH="false" flipV="false" rot="0">
            <a:off x="2121618" y="3112292"/>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2819566" y="3175168"/>
            <a:ext cx="7880852"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INFORMACIÓN DE DESEMPEÑO DEL TRABAJO</a:t>
            </a:r>
          </a:p>
        </p:txBody>
      </p:sp>
      <p:grpSp>
        <p:nvGrpSpPr>
          <p:cNvPr name="Group 11" id="11"/>
          <p:cNvGrpSpPr/>
          <p:nvPr/>
        </p:nvGrpSpPr>
        <p:grpSpPr>
          <a:xfrm rot="0">
            <a:off x="2037332" y="3842215"/>
            <a:ext cx="8924176" cy="608217"/>
            <a:chOff x="0" y="0"/>
            <a:chExt cx="2538448" cy="173005"/>
          </a:xfrm>
        </p:grpSpPr>
        <p:sp>
          <p:nvSpPr>
            <p:cNvPr name="Freeform 12" id="12"/>
            <p:cNvSpPr/>
            <p:nvPr/>
          </p:nvSpPr>
          <p:spPr>
            <a:xfrm flipH="false" flipV="false" rot="0">
              <a:off x="0" y="0"/>
              <a:ext cx="2538448" cy="173005"/>
            </a:xfrm>
            <a:custGeom>
              <a:avLst/>
              <a:gdLst/>
              <a:ahLst/>
              <a:cxnLst/>
              <a:rect r="r" b="b" t="t" l="l"/>
              <a:pathLst>
                <a:path h="173005" w="2538448">
                  <a:moveTo>
                    <a:pt x="44244" y="0"/>
                  </a:moveTo>
                  <a:lnTo>
                    <a:pt x="2494204" y="0"/>
                  </a:lnTo>
                  <a:cubicBezTo>
                    <a:pt x="2505939" y="0"/>
                    <a:pt x="2517192" y="4661"/>
                    <a:pt x="2525489" y="12959"/>
                  </a:cubicBezTo>
                  <a:cubicBezTo>
                    <a:pt x="2533787" y="21256"/>
                    <a:pt x="2538448" y="32509"/>
                    <a:pt x="2538448" y="44244"/>
                  </a:cubicBezTo>
                  <a:lnTo>
                    <a:pt x="2538448" y="128761"/>
                  </a:lnTo>
                  <a:cubicBezTo>
                    <a:pt x="2538448" y="140496"/>
                    <a:pt x="2533787" y="151749"/>
                    <a:pt x="2525489" y="160046"/>
                  </a:cubicBezTo>
                  <a:cubicBezTo>
                    <a:pt x="2517192" y="168344"/>
                    <a:pt x="2505939" y="173005"/>
                    <a:pt x="2494204" y="173005"/>
                  </a:cubicBezTo>
                  <a:lnTo>
                    <a:pt x="44244" y="173005"/>
                  </a:lnTo>
                  <a:cubicBezTo>
                    <a:pt x="32509" y="173005"/>
                    <a:pt x="21256" y="168344"/>
                    <a:pt x="12959" y="160046"/>
                  </a:cubicBezTo>
                  <a:cubicBezTo>
                    <a:pt x="4661" y="151749"/>
                    <a:pt x="0" y="140496"/>
                    <a:pt x="0" y="128761"/>
                  </a:cubicBezTo>
                  <a:lnTo>
                    <a:pt x="0" y="44244"/>
                  </a:lnTo>
                  <a:cubicBezTo>
                    <a:pt x="0" y="32509"/>
                    <a:pt x="4661" y="21256"/>
                    <a:pt x="12959" y="12959"/>
                  </a:cubicBezTo>
                  <a:cubicBezTo>
                    <a:pt x="21256" y="4661"/>
                    <a:pt x="32509" y="0"/>
                    <a:pt x="44244" y="0"/>
                  </a:cubicBezTo>
                  <a:close/>
                </a:path>
              </a:pathLst>
            </a:custGeom>
            <a:solidFill>
              <a:srgbClr val="24497B"/>
            </a:solidFill>
          </p:spPr>
        </p:sp>
        <p:sp>
          <p:nvSpPr>
            <p:cNvPr name="TextBox 13" id="13"/>
            <p:cNvSpPr txBox="true"/>
            <p:nvPr/>
          </p:nvSpPr>
          <p:spPr>
            <a:xfrm>
              <a:off x="0" y="-38100"/>
              <a:ext cx="2538448" cy="211105"/>
            </a:xfrm>
            <a:prstGeom prst="rect">
              <a:avLst/>
            </a:prstGeom>
          </p:spPr>
          <p:txBody>
            <a:bodyPr anchor="ctr" rtlCol="false" tIns="50800" lIns="50800" bIns="50800" rIns="50800"/>
            <a:lstStyle/>
            <a:p>
              <a:pPr algn="ctr">
                <a:lnSpc>
                  <a:spcPts val="2138"/>
                </a:lnSpc>
              </a:pPr>
            </a:p>
          </p:txBody>
        </p:sp>
      </p:grpSp>
      <p:sp>
        <p:nvSpPr>
          <p:cNvPr name="Freeform 14" id="14"/>
          <p:cNvSpPr/>
          <p:nvPr/>
        </p:nvSpPr>
        <p:spPr>
          <a:xfrm flipH="false" flipV="false" rot="0">
            <a:off x="2121618" y="3913759"/>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2819566" y="3976635"/>
            <a:ext cx="7880852"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PRONÓSTICOS DE COSTOS</a:t>
            </a:r>
          </a:p>
        </p:txBody>
      </p:sp>
      <p:grpSp>
        <p:nvGrpSpPr>
          <p:cNvPr name="Group 16" id="16"/>
          <p:cNvGrpSpPr/>
          <p:nvPr/>
        </p:nvGrpSpPr>
        <p:grpSpPr>
          <a:xfrm rot="0">
            <a:off x="2037332" y="4645038"/>
            <a:ext cx="8924176" cy="608217"/>
            <a:chOff x="0" y="0"/>
            <a:chExt cx="2538448" cy="173005"/>
          </a:xfrm>
        </p:grpSpPr>
        <p:sp>
          <p:nvSpPr>
            <p:cNvPr name="Freeform 17" id="17"/>
            <p:cNvSpPr/>
            <p:nvPr/>
          </p:nvSpPr>
          <p:spPr>
            <a:xfrm flipH="false" flipV="false" rot="0">
              <a:off x="0" y="0"/>
              <a:ext cx="2538448" cy="173005"/>
            </a:xfrm>
            <a:custGeom>
              <a:avLst/>
              <a:gdLst/>
              <a:ahLst/>
              <a:cxnLst/>
              <a:rect r="r" b="b" t="t" l="l"/>
              <a:pathLst>
                <a:path h="173005" w="2538448">
                  <a:moveTo>
                    <a:pt x="44244" y="0"/>
                  </a:moveTo>
                  <a:lnTo>
                    <a:pt x="2494204" y="0"/>
                  </a:lnTo>
                  <a:cubicBezTo>
                    <a:pt x="2505939" y="0"/>
                    <a:pt x="2517192" y="4661"/>
                    <a:pt x="2525489" y="12959"/>
                  </a:cubicBezTo>
                  <a:cubicBezTo>
                    <a:pt x="2533787" y="21256"/>
                    <a:pt x="2538448" y="32509"/>
                    <a:pt x="2538448" y="44244"/>
                  </a:cubicBezTo>
                  <a:lnTo>
                    <a:pt x="2538448" y="128761"/>
                  </a:lnTo>
                  <a:cubicBezTo>
                    <a:pt x="2538448" y="140496"/>
                    <a:pt x="2533787" y="151749"/>
                    <a:pt x="2525489" y="160046"/>
                  </a:cubicBezTo>
                  <a:cubicBezTo>
                    <a:pt x="2517192" y="168344"/>
                    <a:pt x="2505939" y="173005"/>
                    <a:pt x="2494204" y="173005"/>
                  </a:cubicBezTo>
                  <a:lnTo>
                    <a:pt x="44244" y="173005"/>
                  </a:lnTo>
                  <a:cubicBezTo>
                    <a:pt x="32509" y="173005"/>
                    <a:pt x="21256" y="168344"/>
                    <a:pt x="12959" y="160046"/>
                  </a:cubicBezTo>
                  <a:cubicBezTo>
                    <a:pt x="4661" y="151749"/>
                    <a:pt x="0" y="140496"/>
                    <a:pt x="0" y="128761"/>
                  </a:cubicBezTo>
                  <a:lnTo>
                    <a:pt x="0" y="44244"/>
                  </a:lnTo>
                  <a:cubicBezTo>
                    <a:pt x="0" y="32509"/>
                    <a:pt x="4661" y="21256"/>
                    <a:pt x="12959" y="12959"/>
                  </a:cubicBezTo>
                  <a:cubicBezTo>
                    <a:pt x="21256" y="4661"/>
                    <a:pt x="32509" y="0"/>
                    <a:pt x="44244" y="0"/>
                  </a:cubicBezTo>
                  <a:close/>
                </a:path>
              </a:pathLst>
            </a:custGeom>
            <a:solidFill>
              <a:srgbClr val="24497B"/>
            </a:solidFill>
          </p:spPr>
        </p:sp>
        <p:sp>
          <p:nvSpPr>
            <p:cNvPr name="TextBox 18" id="18"/>
            <p:cNvSpPr txBox="true"/>
            <p:nvPr/>
          </p:nvSpPr>
          <p:spPr>
            <a:xfrm>
              <a:off x="0" y="-38100"/>
              <a:ext cx="2538448" cy="211105"/>
            </a:xfrm>
            <a:prstGeom prst="rect">
              <a:avLst/>
            </a:prstGeom>
          </p:spPr>
          <p:txBody>
            <a:bodyPr anchor="ctr" rtlCol="false" tIns="50800" lIns="50800" bIns="50800" rIns="50800"/>
            <a:lstStyle/>
            <a:p>
              <a:pPr algn="ctr">
                <a:lnSpc>
                  <a:spcPts val="2138"/>
                </a:lnSpc>
              </a:pPr>
            </a:p>
          </p:txBody>
        </p:sp>
      </p:grpSp>
      <p:sp>
        <p:nvSpPr>
          <p:cNvPr name="Freeform 19" id="19"/>
          <p:cNvSpPr/>
          <p:nvPr/>
        </p:nvSpPr>
        <p:spPr>
          <a:xfrm flipH="false" flipV="false" rot="0">
            <a:off x="2121618" y="4716582"/>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2819566" y="4779458"/>
            <a:ext cx="7880852"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SOLICITUDES DE CAMBIO</a:t>
            </a:r>
          </a:p>
        </p:txBody>
      </p:sp>
      <p:grpSp>
        <p:nvGrpSpPr>
          <p:cNvPr name="Group 21" id="21"/>
          <p:cNvGrpSpPr/>
          <p:nvPr/>
        </p:nvGrpSpPr>
        <p:grpSpPr>
          <a:xfrm rot="0">
            <a:off x="2037332" y="5443755"/>
            <a:ext cx="8924176" cy="608217"/>
            <a:chOff x="0" y="0"/>
            <a:chExt cx="2538448" cy="173005"/>
          </a:xfrm>
        </p:grpSpPr>
        <p:sp>
          <p:nvSpPr>
            <p:cNvPr name="Freeform 22" id="22"/>
            <p:cNvSpPr/>
            <p:nvPr/>
          </p:nvSpPr>
          <p:spPr>
            <a:xfrm flipH="false" flipV="false" rot="0">
              <a:off x="0" y="0"/>
              <a:ext cx="2538448" cy="173005"/>
            </a:xfrm>
            <a:custGeom>
              <a:avLst/>
              <a:gdLst/>
              <a:ahLst/>
              <a:cxnLst/>
              <a:rect r="r" b="b" t="t" l="l"/>
              <a:pathLst>
                <a:path h="173005" w="2538448">
                  <a:moveTo>
                    <a:pt x="44244" y="0"/>
                  </a:moveTo>
                  <a:lnTo>
                    <a:pt x="2494204" y="0"/>
                  </a:lnTo>
                  <a:cubicBezTo>
                    <a:pt x="2505939" y="0"/>
                    <a:pt x="2517192" y="4661"/>
                    <a:pt x="2525489" y="12959"/>
                  </a:cubicBezTo>
                  <a:cubicBezTo>
                    <a:pt x="2533787" y="21256"/>
                    <a:pt x="2538448" y="32509"/>
                    <a:pt x="2538448" y="44244"/>
                  </a:cubicBezTo>
                  <a:lnTo>
                    <a:pt x="2538448" y="128761"/>
                  </a:lnTo>
                  <a:cubicBezTo>
                    <a:pt x="2538448" y="140496"/>
                    <a:pt x="2533787" y="151749"/>
                    <a:pt x="2525489" y="160046"/>
                  </a:cubicBezTo>
                  <a:cubicBezTo>
                    <a:pt x="2517192" y="168344"/>
                    <a:pt x="2505939" y="173005"/>
                    <a:pt x="2494204" y="173005"/>
                  </a:cubicBezTo>
                  <a:lnTo>
                    <a:pt x="44244" y="173005"/>
                  </a:lnTo>
                  <a:cubicBezTo>
                    <a:pt x="32509" y="173005"/>
                    <a:pt x="21256" y="168344"/>
                    <a:pt x="12959" y="160046"/>
                  </a:cubicBezTo>
                  <a:cubicBezTo>
                    <a:pt x="4661" y="151749"/>
                    <a:pt x="0" y="140496"/>
                    <a:pt x="0" y="128761"/>
                  </a:cubicBezTo>
                  <a:lnTo>
                    <a:pt x="0" y="44244"/>
                  </a:lnTo>
                  <a:cubicBezTo>
                    <a:pt x="0" y="32509"/>
                    <a:pt x="4661" y="21256"/>
                    <a:pt x="12959" y="12959"/>
                  </a:cubicBezTo>
                  <a:cubicBezTo>
                    <a:pt x="21256" y="4661"/>
                    <a:pt x="32509" y="0"/>
                    <a:pt x="44244" y="0"/>
                  </a:cubicBezTo>
                  <a:close/>
                </a:path>
              </a:pathLst>
            </a:custGeom>
            <a:solidFill>
              <a:srgbClr val="24497B"/>
            </a:solidFill>
          </p:spPr>
        </p:sp>
        <p:sp>
          <p:nvSpPr>
            <p:cNvPr name="TextBox 23" id="23"/>
            <p:cNvSpPr txBox="true"/>
            <p:nvPr/>
          </p:nvSpPr>
          <p:spPr>
            <a:xfrm>
              <a:off x="0" y="-38100"/>
              <a:ext cx="2538448" cy="211105"/>
            </a:xfrm>
            <a:prstGeom prst="rect">
              <a:avLst/>
            </a:prstGeom>
          </p:spPr>
          <p:txBody>
            <a:bodyPr anchor="ctr" rtlCol="false" tIns="50800" lIns="50800" bIns="50800" rIns="50800"/>
            <a:lstStyle/>
            <a:p>
              <a:pPr algn="ctr">
                <a:lnSpc>
                  <a:spcPts val="2138"/>
                </a:lnSpc>
              </a:pPr>
            </a:p>
          </p:txBody>
        </p:sp>
      </p:grpSp>
      <p:sp>
        <p:nvSpPr>
          <p:cNvPr name="Freeform 24" id="24"/>
          <p:cNvSpPr/>
          <p:nvPr/>
        </p:nvSpPr>
        <p:spPr>
          <a:xfrm flipH="false" flipV="false" rot="0">
            <a:off x="2121618" y="5515299"/>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5" id="25"/>
          <p:cNvSpPr txBox="true"/>
          <p:nvPr/>
        </p:nvSpPr>
        <p:spPr>
          <a:xfrm rot="0">
            <a:off x="2819566" y="5578175"/>
            <a:ext cx="7880852"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ACTUALIZACIONES DEL PLAN PARA LA DIRECCIÓN DEL PROYECTO</a:t>
            </a:r>
          </a:p>
        </p:txBody>
      </p:sp>
      <p:grpSp>
        <p:nvGrpSpPr>
          <p:cNvPr name="Group 26" id="26"/>
          <p:cNvGrpSpPr/>
          <p:nvPr/>
        </p:nvGrpSpPr>
        <p:grpSpPr>
          <a:xfrm rot="0">
            <a:off x="2037332" y="6246578"/>
            <a:ext cx="8924176" cy="608217"/>
            <a:chOff x="0" y="0"/>
            <a:chExt cx="2538448" cy="173005"/>
          </a:xfrm>
        </p:grpSpPr>
        <p:sp>
          <p:nvSpPr>
            <p:cNvPr name="Freeform 27" id="27"/>
            <p:cNvSpPr/>
            <p:nvPr/>
          </p:nvSpPr>
          <p:spPr>
            <a:xfrm flipH="false" flipV="false" rot="0">
              <a:off x="0" y="0"/>
              <a:ext cx="2538448" cy="173005"/>
            </a:xfrm>
            <a:custGeom>
              <a:avLst/>
              <a:gdLst/>
              <a:ahLst/>
              <a:cxnLst/>
              <a:rect r="r" b="b" t="t" l="l"/>
              <a:pathLst>
                <a:path h="173005" w="2538448">
                  <a:moveTo>
                    <a:pt x="44244" y="0"/>
                  </a:moveTo>
                  <a:lnTo>
                    <a:pt x="2494204" y="0"/>
                  </a:lnTo>
                  <a:cubicBezTo>
                    <a:pt x="2505939" y="0"/>
                    <a:pt x="2517192" y="4661"/>
                    <a:pt x="2525489" y="12959"/>
                  </a:cubicBezTo>
                  <a:cubicBezTo>
                    <a:pt x="2533787" y="21256"/>
                    <a:pt x="2538448" y="32509"/>
                    <a:pt x="2538448" y="44244"/>
                  </a:cubicBezTo>
                  <a:lnTo>
                    <a:pt x="2538448" y="128761"/>
                  </a:lnTo>
                  <a:cubicBezTo>
                    <a:pt x="2538448" y="140496"/>
                    <a:pt x="2533787" y="151749"/>
                    <a:pt x="2525489" y="160046"/>
                  </a:cubicBezTo>
                  <a:cubicBezTo>
                    <a:pt x="2517192" y="168344"/>
                    <a:pt x="2505939" y="173005"/>
                    <a:pt x="2494204" y="173005"/>
                  </a:cubicBezTo>
                  <a:lnTo>
                    <a:pt x="44244" y="173005"/>
                  </a:lnTo>
                  <a:cubicBezTo>
                    <a:pt x="32509" y="173005"/>
                    <a:pt x="21256" y="168344"/>
                    <a:pt x="12959" y="160046"/>
                  </a:cubicBezTo>
                  <a:cubicBezTo>
                    <a:pt x="4661" y="151749"/>
                    <a:pt x="0" y="140496"/>
                    <a:pt x="0" y="128761"/>
                  </a:cubicBezTo>
                  <a:lnTo>
                    <a:pt x="0" y="44244"/>
                  </a:lnTo>
                  <a:cubicBezTo>
                    <a:pt x="0" y="32509"/>
                    <a:pt x="4661" y="21256"/>
                    <a:pt x="12959" y="12959"/>
                  </a:cubicBezTo>
                  <a:cubicBezTo>
                    <a:pt x="21256" y="4661"/>
                    <a:pt x="32509" y="0"/>
                    <a:pt x="44244" y="0"/>
                  </a:cubicBezTo>
                  <a:close/>
                </a:path>
              </a:pathLst>
            </a:custGeom>
            <a:solidFill>
              <a:srgbClr val="24497B"/>
            </a:solidFill>
          </p:spPr>
        </p:sp>
        <p:sp>
          <p:nvSpPr>
            <p:cNvPr name="TextBox 28" id="28"/>
            <p:cNvSpPr txBox="true"/>
            <p:nvPr/>
          </p:nvSpPr>
          <p:spPr>
            <a:xfrm>
              <a:off x="0" y="-38100"/>
              <a:ext cx="2538448" cy="211105"/>
            </a:xfrm>
            <a:prstGeom prst="rect">
              <a:avLst/>
            </a:prstGeom>
          </p:spPr>
          <p:txBody>
            <a:bodyPr anchor="ctr" rtlCol="false" tIns="50800" lIns="50800" bIns="50800" rIns="50800"/>
            <a:lstStyle/>
            <a:p>
              <a:pPr algn="ctr">
                <a:lnSpc>
                  <a:spcPts val="2138"/>
                </a:lnSpc>
              </a:pPr>
            </a:p>
          </p:txBody>
        </p:sp>
      </p:grpSp>
      <p:sp>
        <p:nvSpPr>
          <p:cNvPr name="Freeform 29" id="29"/>
          <p:cNvSpPr/>
          <p:nvPr/>
        </p:nvSpPr>
        <p:spPr>
          <a:xfrm flipH="false" flipV="false" rot="0">
            <a:off x="2121618" y="6318122"/>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0" id="30"/>
          <p:cNvSpPr txBox="true"/>
          <p:nvPr/>
        </p:nvSpPr>
        <p:spPr>
          <a:xfrm rot="0">
            <a:off x="2819566" y="6380998"/>
            <a:ext cx="7880852"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ACTUALIZACIONES A LOS DOCUMENTOS DEL PROYECTO</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5" id="5"/>
          <p:cNvSpPr txBox="true"/>
          <p:nvPr/>
        </p:nvSpPr>
        <p:spPr>
          <a:xfrm rot="0">
            <a:off x="1028700" y="2044857"/>
            <a:ext cx="7678083" cy="2070101"/>
          </a:xfrm>
          <a:prstGeom prst="rect">
            <a:avLst/>
          </a:prstGeom>
        </p:spPr>
        <p:txBody>
          <a:bodyPr anchor="t" rtlCol="false" tIns="0" lIns="0" bIns="0" rIns="0">
            <a:spAutoFit/>
          </a:bodyPr>
          <a:lstStyle/>
          <a:p>
            <a:pPr algn="l">
              <a:lnSpc>
                <a:spcPts val="8000"/>
              </a:lnSpc>
            </a:pPr>
            <a:r>
              <a:rPr lang="en-US" sz="8000" spc="-144">
                <a:solidFill>
                  <a:srgbClr val="24497B"/>
                </a:solidFill>
                <a:latin typeface="Anton"/>
                <a:ea typeface="Anton"/>
                <a:cs typeface="Anton"/>
                <a:sym typeface="Anton"/>
              </a:rPr>
              <a:t>ANALISIS DEL VALOR</a:t>
            </a:r>
          </a:p>
          <a:p>
            <a:pPr algn="ctr">
              <a:lnSpc>
                <a:spcPts val="8000"/>
              </a:lnSpc>
            </a:pPr>
            <a:r>
              <a:rPr lang="en-US" sz="8000" spc="-144">
                <a:solidFill>
                  <a:srgbClr val="24497B"/>
                </a:solidFill>
                <a:latin typeface="Anton"/>
                <a:ea typeface="Anton"/>
                <a:cs typeface="Anton"/>
                <a:sym typeface="Anton"/>
              </a:rPr>
              <a:t>GANADO (EVA)</a:t>
            </a:r>
          </a:p>
        </p:txBody>
      </p:sp>
      <p:sp>
        <p:nvSpPr>
          <p:cNvPr name="TextBox 6" id="6"/>
          <p:cNvSpPr txBox="true"/>
          <p:nvPr/>
        </p:nvSpPr>
        <p:spPr>
          <a:xfrm rot="0">
            <a:off x="883673" y="5107574"/>
            <a:ext cx="7467922" cy="2995153"/>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El análisis del valor ganado compara la línea base para la medición del desempeño con respecto al desempeño real del cronograma y del costo. El EVM integra la línea base del alcance con la línea base de costos y la línea base del cronograma para generar la línea base para la medición del desempeño. </a:t>
            </a:r>
          </a:p>
        </p:txBody>
      </p:sp>
      <p:grpSp>
        <p:nvGrpSpPr>
          <p:cNvPr name="Group 7" id="7"/>
          <p:cNvGrpSpPr/>
          <p:nvPr/>
        </p:nvGrpSpPr>
        <p:grpSpPr>
          <a:xfrm rot="0">
            <a:off x="9745180" y="4599264"/>
            <a:ext cx="7514120" cy="608217"/>
            <a:chOff x="0" y="0"/>
            <a:chExt cx="2137363" cy="173005"/>
          </a:xfrm>
        </p:grpSpPr>
        <p:sp>
          <p:nvSpPr>
            <p:cNvPr name="Freeform 8" id="8"/>
            <p:cNvSpPr/>
            <p:nvPr/>
          </p:nvSpPr>
          <p:spPr>
            <a:xfrm flipH="false" flipV="false" rot="0">
              <a:off x="0" y="0"/>
              <a:ext cx="2137363" cy="173005"/>
            </a:xfrm>
            <a:custGeom>
              <a:avLst/>
              <a:gdLst/>
              <a:ahLst/>
              <a:cxnLst/>
              <a:rect r="r" b="b" t="t" l="l"/>
              <a:pathLst>
                <a:path h="173005" w="2137363">
                  <a:moveTo>
                    <a:pt x="52546" y="0"/>
                  </a:moveTo>
                  <a:lnTo>
                    <a:pt x="2084817" y="0"/>
                  </a:lnTo>
                  <a:cubicBezTo>
                    <a:pt x="2098753" y="0"/>
                    <a:pt x="2112118" y="5536"/>
                    <a:pt x="2121973" y="15390"/>
                  </a:cubicBezTo>
                  <a:cubicBezTo>
                    <a:pt x="2131827" y="25245"/>
                    <a:pt x="2137363" y="38610"/>
                    <a:pt x="2137363" y="52546"/>
                  </a:cubicBezTo>
                  <a:lnTo>
                    <a:pt x="2137363" y="120459"/>
                  </a:lnTo>
                  <a:cubicBezTo>
                    <a:pt x="2137363" y="149479"/>
                    <a:pt x="2113837" y="173005"/>
                    <a:pt x="2084817" y="173005"/>
                  </a:cubicBezTo>
                  <a:lnTo>
                    <a:pt x="52546" y="173005"/>
                  </a:lnTo>
                  <a:cubicBezTo>
                    <a:pt x="23526" y="173005"/>
                    <a:pt x="0" y="149479"/>
                    <a:pt x="0" y="120459"/>
                  </a:cubicBezTo>
                  <a:lnTo>
                    <a:pt x="0" y="52546"/>
                  </a:lnTo>
                  <a:cubicBezTo>
                    <a:pt x="0" y="38610"/>
                    <a:pt x="5536" y="25245"/>
                    <a:pt x="15390" y="15390"/>
                  </a:cubicBezTo>
                  <a:cubicBezTo>
                    <a:pt x="25245" y="5536"/>
                    <a:pt x="38610" y="0"/>
                    <a:pt x="52546" y="0"/>
                  </a:cubicBezTo>
                  <a:close/>
                </a:path>
              </a:pathLst>
            </a:custGeom>
            <a:solidFill>
              <a:srgbClr val="24497B"/>
            </a:solidFill>
          </p:spPr>
        </p:sp>
        <p:sp>
          <p:nvSpPr>
            <p:cNvPr name="TextBox 9" id="9"/>
            <p:cNvSpPr txBox="true"/>
            <p:nvPr/>
          </p:nvSpPr>
          <p:spPr>
            <a:xfrm>
              <a:off x="0" y="-38100"/>
              <a:ext cx="2137363" cy="211105"/>
            </a:xfrm>
            <a:prstGeom prst="rect">
              <a:avLst/>
            </a:prstGeom>
          </p:spPr>
          <p:txBody>
            <a:bodyPr anchor="ctr" rtlCol="false" tIns="50800" lIns="50800" bIns="50800" rIns="50800"/>
            <a:lstStyle/>
            <a:p>
              <a:pPr algn="ctr">
                <a:lnSpc>
                  <a:spcPts val="2138"/>
                </a:lnSpc>
              </a:pPr>
            </a:p>
          </p:txBody>
        </p:sp>
      </p:grpSp>
      <p:sp>
        <p:nvSpPr>
          <p:cNvPr name="Freeform 10" id="10"/>
          <p:cNvSpPr/>
          <p:nvPr/>
        </p:nvSpPr>
        <p:spPr>
          <a:xfrm flipH="false" flipV="false" rot="0">
            <a:off x="9829465" y="4670808"/>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0403817" y="4733684"/>
            <a:ext cx="6635645"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VALOR PLANIFICADO (PV)</a:t>
            </a:r>
          </a:p>
        </p:txBody>
      </p:sp>
      <p:grpSp>
        <p:nvGrpSpPr>
          <p:cNvPr name="Group 12" id="12"/>
          <p:cNvGrpSpPr/>
          <p:nvPr/>
        </p:nvGrpSpPr>
        <p:grpSpPr>
          <a:xfrm rot="0">
            <a:off x="9745180" y="5400731"/>
            <a:ext cx="7514120" cy="608217"/>
            <a:chOff x="0" y="0"/>
            <a:chExt cx="2137363" cy="173005"/>
          </a:xfrm>
        </p:grpSpPr>
        <p:sp>
          <p:nvSpPr>
            <p:cNvPr name="Freeform 13" id="13"/>
            <p:cNvSpPr/>
            <p:nvPr/>
          </p:nvSpPr>
          <p:spPr>
            <a:xfrm flipH="false" flipV="false" rot="0">
              <a:off x="0" y="0"/>
              <a:ext cx="2137363" cy="173005"/>
            </a:xfrm>
            <a:custGeom>
              <a:avLst/>
              <a:gdLst/>
              <a:ahLst/>
              <a:cxnLst/>
              <a:rect r="r" b="b" t="t" l="l"/>
              <a:pathLst>
                <a:path h="173005" w="2137363">
                  <a:moveTo>
                    <a:pt x="52546" y="0"/>
                  </a:moveTo>
                  <a:lnTo>
                    <a:pt x="2084817" y="0"/>
                  </a:lnTo>
                  <a:cubicBezTo>
                    <a:pt x="2098753" y="0"/>
                    <a:pt x="2112118" y="5536"/>
                    <a:pt x="2121973" y="15390"/>
                  </a:cubicBezTo>
                  <a:cubicBezTo>
                    <a:pt x="2131827" y="25245"/>
                    <a:pt x="2137363" y="38610"/>
                    <a:pt x="2137363" y="52546"/>
                  </a:cubicBezTo>
                  <a:lnTo>
                    <a:pt x="2137363" y="120459"/>
                  </a:lnTo>
                  <a:cubicBezTo>
                    <a:pt x="2137363" y="149479"/>
                    <a:pt x="2113837" y="173005"/>
                    <a:pt x="2084817" y="173005"/>
                  </a:cubicBezTo>
                  <a:lnTo>
                    <a:pt x="52546" y="173005"/>
                  </a:lnTo>
                  <a:cubicBezTo>
                    <a:pt x="23526" y="173005"/>
                    <a:pt x="0" y="149479"/>
                    <a:pt x="0" y="120459"/>
                  </a:cubicBezTo>
                  <a:lnTo>
                    <a:pt x="0" y="52546"/>
                  </a:lnTo>
                  <a:cubicBezTo>
                    <a:pt x="0" y="38610"/>
                    <a:pt x="5536" y="25245"/>
                    <a:pt x="15390" y="15390"/>
                  </a:cubicBezTo>
                  <a:cubicBezTo>
                    <a:pt x="25245" y="5536"/>
                    <a:pt x="38610" y="0"/>
                    <a:pt x="52546" y="0"/>
                  </a:cubicBezTo>
                  <a:close/>
                </a:path>
              </a:pathLst>
            </a:custGeom>
            <a:solidFill>
              <a:srgbClr val="24497B"/>
            </a:solidFill>
          </p:spPr>
        </p:sp>
        <p:sp>
          <p:nvSpPr>
            <p:cNvPr name="TextBox 14" id="14"/>
            <p:cNvSpPr txBox="true"/>
            <p:nvPr/>
          </p:nvSpPr>
          <p:spPr>
            <a:xfrm>
              <a:off x="0" y="-38100"/>
              <a:ext cx="2137363" cy="211105"/>
            </a:xfrm>
            <a:prstGeom prst="rect">
              <a:avLst/>
            </a:prstGeom>
          </p:spPr>
          <p:txBody>
            <a:bodyPr anchor="ctr" rtlCol="false" tIns="50800" lIns="50800" bIns="50800" rIns="50800"/>
            <a:lstStyle/>
            <a:p>
              <a:pPr algn="ctr">
                <a:lnSpc>
                  <a:spcPts val="2138"/>
                </a:lnSpc>
              </a:pPr>
            </a:p>
          </p:txBody>
        </p:sp>
      </p:grpSp>
      <p:sp>
        <p:nvSpPr>
          <p:cNvPr name="Freeform 15" id="15"/>
          <p:cNvSpPr/>
          <p:nvPr/>
        </p:nvSpPr>
        <p:spPr>
          <a:xfrm flipH="false" flipV="false" rot="0">
            <a:off x="9829465" y="5472275"/>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10403817" y="5535151"/>
            <a:ext cx="6635645"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VALOR GANADO (EV)</a:t>
            </a:r>
          </a:p>
        </p:txBody>
      </p:sp>
      <p:grpSp>
        <p:nvGrpSpPr>
          <p:cNvPr name="Group 17" id="17"/>
          <p:cNvGrpSpPr/>
          <p:nvPr/>
        </p:nvGrpSpPr>
        <p:grpSpPr>
          <a:xfrm rot="0">
            <a:off x="9745180" y="6203554"/>
            <a:ext cx="7514120" cy="608217"/>
            <a:chOff x="0" y="0"/>
            <a:chExt cx="2137363" cy="173005"/>
          </a:xfrm>
        </p:grpSpPr>
        <p:sp>
          <p:nvSpPr>
            <p:cNvPr name="Freeform 18" id="18"/>
            <p:cNvSpPr/>
            <p:nvPr/>
          </p:nvSpPr>
          <p:spPr>
            <a:xfrm flipH="false" flipV="false" rot="0">
              <a:off x="0" y="0"/>
              <a:ext cx="2137363" cy="173005"/>
            </a:xfrm>
            <a:custGeom>
              <a:avLst/>
              <a:gdLst/>
              <a:ahLst/>
              <a:cxnLst/>
              <a:rect r="r" b="b" t="t" l="l"/>
              <a:pathLst>
                <a:path h="173005" w="2137363">
                  <a:moveTo>
                    <a:pt x="52546" y="0"/>
                  </a:moveTo>
                  <a:lnTo>
                    <a:pt x="2084817" y="0"/>
                  </a:lnTo>
                  <a:cubicBezTo>
                    <a:pt x="2098753" y="0"/>
                    <a:pt x="2112118" y="5536"/>
                    <a:pt x="2121973" y="15390"/>
                  </a:cubicBezTo>
                  <a:cubicBezTo>
                    <a:pt x="2131827" y="25245"/>
                    <a:pt x="2137363" y="38610"/>
                    <a:pt x="2137363" y="52546"/>
                  </a:cubicBezTo>
                  <a:lnTo>
                    <a:pt x="2137363" y="120459"/>
                  </a:lnTo>
                  <a:cubicBezTo>
                    <a:pt x="2137363" y="149479"/>
                    <a:pt x="2113837" y="173005"/>
                    <a:pt x="2084817" y="173005"/>
                  </a:cubicBezTo>
                  <a:lnTo>
                    <a:pt x="52546" y="173005"/>
                  </a:lnTo>
                  <a:cubicBezTo>
                    <a:pt x="23526" y="173005"/>
                    <a:pt x="0" y="149479"/>
                    <a:pt x="0" y="120459"/>
                  </a:cubicBezTo>
                  <a:lnTo>
                    <a:pt x="0" y="52546"/>
                  </a:lnTo>
                  <a:cubicBezTo>
                    <a:pt x="0" y="38610"/>
                    <a:pt x="5536" y="25245"/>
                    <a:pt x="15390" y="15390"/>
                  </a:cubicBezTo>
                  <a:cubicBezTo>
                    <a:pt x="25245" y="5536"/>
                    <a:pt x="38610" y="0"/>
                    <a:pt x="52546" y="0"/>
                  </a:cubicBezTo>
                  <a:close/>
                </a:path>
              </a:pathLst>
            </a:custGeom>
            <a:solidFill>
              <a:srgbClr val="24497B"/>
            </a:solidFill>
          </p:spPr>
        </p:sp>
        <p:sp>
          <p:nvSpPr>
            <p:cNvPr name="TextBox 19" id="19"/>
            <p:cNvSpPr txBox="true"/>
            <p:nvPr/>
          </p:nvSpPr>
          <p:spPr>
            <a:xfrm>
              <a:off x="0" y="-38100"/>
              <a:ext cx="2137363" cy="211105"/>
            </a:xfrm>
            <a:prstGeom prst="rect">
              <a:avLst/>
            </a:prstGeom>
          </p:spPr>
          <p:txBody>
            <a:bodyPr anchor="ctr" rtlCol="false" tIns="50800" lIns="50800" bIns="50800" rIns="50800"/>
            <a:lstStyle/>
            <a:p>
              <a:pPr algn="ctr">
                <a:lnSpc>
                  <a:spcPts val="2138"/>
                </a:lnSpc>
              </a:pPr>
            </a:p>
          </p:txBody>
        </p:sp>
      </p:grpSp>
      <p:sp>
        <p:nvSpPr>
          <p:cNvPr name="Freeform 20" id="20"/>
          <p:cNvSpPr/>
          <p:nvPr/>
        </p:nvSpPr>
        <p:spPr>
          <a:xfrm flipH="false" flipV="false" rot="0">
            <a:off x="9829465" y="6275098"/>
            <a:ext cx="465129" cy="465129"/>
          </a:xfrm>
          <a:custGeom>
            <a:avLst/>
            <a:gdLst/>
            <a:ahLst/>
            <a:cxnLst/>
            <a:rect r="r" b="b" t="t" l="l"/>
            <a:pathLst>
              <a:path h="465129" w="465129">
                <a:moveTo>
                  <a:pt x="0" y="0"/>
                </a:moveTo>
                <a:lnTo>
                  <a:pt x="465129" y="0"/>
                </a:lnTo>
                <a:lnTo>
                  <a:pt x="465129" y="465129"/>
                </a:lnTo>
                <a:lnTo>
                  <a:pt x="0" y="46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10403817" y="6337974"/>
            <a:ext cx="6635645" cy="306190"/>
          </a:xfrm>
          <a:prstGeom prst="rect">
            <a:avLst/>
          </a:prstGeom>
        </p:spPr>
        <p:txBody>
          <a:bodyPr anchor="t" rtlCol="false" tIns="0" lIns="0" bIns="0" rIns="0">
            <a:spAutoFit/>
          </a:bodyPr>
          <a:lstStyle/>
          <a:p>
            <a:pPr algn="ctr">
              <a:lnSpc>
                <a:spcPts val="2548"/>
              </a:lnSpc>
            </a:pPr>
            <a:r>
              <a:rPr lang="en-US" b="true" sz="1820">
                <a:solidFill>
                  <a:srgbClr val="FFFFFF"/>
                </a:solidFill>
                <a:latin typeface="Inter Bold"/>
                <a:ea typeface="Inter Bold"/>
                <a:cs typeface="Inter Bold"/>
                <a:sym typeface="Inter Bold"/>
              </a:rPr>
              <a:t>COSTO REAL (AC)</a:t>
            </a:r>
          </a:p>
        </p:txBody>
      </p:sp>
      <p:sp>
        <p:nvSpPr>
          <p:cNvPr name="TextBox 22" id="22"/>
          <p:cNvSpPr txBox="true"/>
          <p:nvPr/>
        </p:nvSpPr>
        <p:spPr>
          <a:xfrm rot="0">
            <a:off x="9702031" y="2946558"/>
            <a:ext cx="7467922" cy="1280653"/>
          </a:xfrm>
          <a:prstGeom prst="rect">
            <a:avLst/>
          </a:prstGeom>
        </p:spPr>
        <p:txBody>
          <a:bodyPr anchor="t" rtlCol="false" tIns="0" lIns="0" bIns="0" rIns="0">
            <a:spAutoFit/>
          </a:bodyPr>
          <a:lstStyle/>
          <a:p>
            <a:pPr algn="just">
              <a:lnSpc>
                <a:spcPts val="3437"/>
              </a:lnSpc>
            </a:pPr>
            <a:r>
              <a:rPr lang="en-US" sz="2455">
                <a:solidFill>
                  <a:srgbClr val="000000"/>
                </a:solidFill>
                <a:latin typeface="Inter"/>
                <a:ea typeface="Inter"/>
                <a:cs typeface="Inter"/>
                <a:sym typeface="Inter"/>
              </a:rPr>
              <a:t>El EVM establece y monitorea tres dimensiones clave para cada paquete de trabajo y cada cuenta de control:</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91585" y="1445795"/>
            <a:ext cx="4611615" cy="7395410"/>
            <a:chOff x="0" y="0"/>
            <a:chExt cx="714460" cy="1145743"/>
          </a:xfrm>
        </p:grpSpPr>
        <p:sp>
          <p:nvSpPr>
            <p:cNvPr name="Freeform 3" id="3"/>
            <p:cNvSpPr/>
            <p:nvPr/>
          </p:nvSpPr>
          <p:spPr>
            <a:xfrm flipH="false" flipV="false" rot="0">
              <a:off x="0" y="0"/>
              <a:ext cx="714460" cy="1145743"/>
            </a:xfrm>
            <a:custGeom>
              <a:avLst/>
              <a:gdLst/>
              <a:ahLst/>
              <a:cxnLst/>
              <a:rect r="r" b="b" t="t" l="l"/>
              <a:pathLst>
                <a:path h="1145743" w="714460">
                  <a:moveTo>
                    <a:pt x="0" y="0"/>
                  </a:moveTo>
                  <a:lnTo>
                    <a:pt x="714460" y="0"/>
                  </a:lnTo>
                  <a:lnTo>
                    <a:pt x="714460" y="1145743"/>
                  </a:lnTo>
                  <a:lnTo>
                    <a:pt x="0" y="1145743"/>
                  </a:lnTo>
                  <a:close/>
                </a:path>
              </a:pathLst>
            </a:custGeom>
            <a:blipFill>
              <a:blip r:embed="rId2"/>
              <a:stretch>
                <a:fillRect l="-3521" t="0" r="-3521" b="0"/>
              </a:stretch>
            </a:blipFill>
          </p:spPr>
        </p:sp>
      </p:grpSp>
      <p:sp>
        <p:nvSpPr>
          <p:cNvPr name="TextBox 4" id="4"/>
          <p:cNvSpPr txBox="true"/>
          <p:nvPr/>
        </p:nvSpPr>
        <p:spPr>
          <a:xfrm rot="0">
            <a:off x="7282652" y="2137457"/>
            <a:ext cx="9613762" cy="1943426"/>
          </a:xfrm>
          <a:prstGeom prst="rect">
            <a:avLst/>
          </a:prstGeom>
        </p:spPr>
        <p:txBody>
          <a:bodyPr anchor="t" rtlCol="false" tIns="0" lIns="0" bIns="0" rIns="0">
            <a:spAutoFit/>
          </a:bodyPr>
          <a:lstStyle/>
          <a:p>
            <a:pPr algn="l">
              <a:lnSpc>
                <a:spcPts val="14615"/>
              </a:lnSpc>
            </a:pPr>
            <a:r>
              <a:rPr lang="en-US" sz="14615" spc="-263">
                <a:solidFill>
                  <a:srgbClr val="24497B"/>
                </a:solidFill>
                <a:latin typeface="Anton"/>
                <a:ea typeface="Anton"/>
                <a:cs typeface="Anton"/>
                <a:sym typeface="Anton"/>
              </a:rPr>
              <a:t>INTRODUCCIÓN</a:t>
            </a:r>
          </a:p>
        </p:txBody>
      </p:sp>
      <p:sp>
        <p:nvSpPr>
          <p:cNvPr name="TextBox 5" id="5"/>
          <p:cNvSpPr txBox="true"/>
          <p:nvPr/>
        </p:nvSpPr>
        <p:spPr>
          <a:xfrm rot="0">
            <a:off x="7282652" y="4023734"/>
            <a:ext cx="9302487" cy="2137903"/>
          </a:xfrm>
          <a:prstGeom prst="rect">
            <a:avLst/>
          </a:prstGeom>
        </p:spPr>
        <p:txBody>
          <a:bodyPr anchor="t" rtlCol="false" tIns="0" lIns="0" bIns="0" rIns="0">
            <a:spAutoFit/>
          </a:bodyPr>
          <a:lstStyle/>
          <a:p>
            <a:pPr algn="l">
              <a:lnSpc>
                <a:spcPts val="3437"/>
              </a:lnSpc>
            </a:pPr>
            <a:r>
              <a:rPr lang="en-US" sz="2455">
                <a:solidFill>
                  <a:srgbClr val="000000"/>
                </a:solidFill>
                <a:latin typeface="Inter"/>
                <a:ea typeface="Inter"/>
                <a:cs typeface="Inter"/>
                <a:sym typeface="Inter"/>
              </a:rPr>
              <a:t>Esta propuesta nace de una realidad muy presente: cada vez más personas buscan experiencias simples, auténticas y que realmente les sumen valor en su día a día. Sin embargo, la mayoría de las marcas aún comunican de forma fría, sin lograr conectar emocionalmente con sus audiencias.</a:t>
            </a:r>
          </a:p>
        </p:txBody>
      </p:sp>
      <p:sp>
        <p:nvSpPr>
          <p:cNvPr name="TextBox 6" id="6"/>
          <p:cNvSpPr txBox="true"/>
          <p:nvPr/>
        </p:nvSpPr>
        <p:spPr>
          <a:xfrm rot="0">
            <a:off x="7282652" y="7025568"/>
            <a:ext cx="4806881" cy="432414"/>
          </a:xfrm>
          <a:prstGeom prst="rect">
            <a:avLst/>
          </a:prstGeom>
        </p:spPr>
        <p:txBody>
          <a:bodyPr anchor="t" rtlCol="false" tIns="0" lIns="0" bIns="0" rIns="0">
            <a:spAutoFit/>
          </a:bodyPr>
          <a:lstStyle/>
          <a:p>
            <a:pPr algn="l">
              <a:lnSpc>
                <a:spcPts val="3235"/>
              </a:lnSpc>
            </a:pPr>
            <a:r>
              <a:rPr lang="en-US" sz="3235" spc="-58">
                <a:solidFill>
                  <a:srgbClr val="24497B"/>
                </a:solidFill>
                <a:latin typeface="Anton"/>
                <a:ea typeface="Anton"/>
                <a:cs typeface="Anton"/>
                <a:sym typeface="Anton"/>
              </a:rPr>
              <a:t>Nuestro objetivo es claro</a:t>
            </a:r>
          </a:p>
        </p:txBody>
      </p:sp>
      <p:sp>
        <p:nvSpPr>
          <p:cNvPr name="TextBox 7" id="7"/>
          <p:cNvSpPr txBox="true"/>
          <p:nvPr/>
        </p:nvSpPr>
        <p:spPr>
          <a:xfrm rot="0">
            <a:off x="7282652" y="7572587"/>
            <a:ext cx="9976648" cy="836204"/>
          </a:xfrm>
          <a:prstGeom prst="rect">
            <a:avLst/>
          </a:prstGeom>
        </p:spPr>
        <p:txBody>
          <a:bodyPr anchor="t" rtlCol="false" tIns="0" lIns="0" bIns="0" rIns="0">
            <a:spAutoFit/>
          </a:bodyPr>
          <a:lstStyle/>
          <a:p>
            <a:pPr algn="l">
              <a:lnSpc>
                <a:spcPts val="3365"/>
              </a:lnSpc>
            </a:pPr>
            <a:r>
              <a:rPr lang="en-US" sz="2403" i="true" b="true">
                <a:solidFill>
                  <a:srgbClr val="000000"/>
                </a:solidFill>
                <a:latin typeface="Inter Bold Italics"/>
                <a:ea typeface="Inter Bold Italics"/>
                <a:cs typeface="Inter Bold Italics"/>
                <a:sym typeface="Inter Bold Italics"/>
              </a:rPr>
              <a:t>Crear un proyecto que no solo ofrezca un producto o servicio, sino que genere cercanía, comunidad y experiencias memorables.</a:t>
            </a:r>
          </a:p>
        </p:txBody>
      </p:sp>
      <p:sp>
        <p:nvSpPr>
          <p:cNvPr name="AutoShape 8" id="8"/>
          <p:cNvSpPr/>
          <p:nvPr/>
        </p:nvSpPr>
        <p:spPr>
          <a:xfrm>
            <a:off x="7282652" y="6578375"/>
            <a:ext cx="2403441" cy="0"/>
          </a:xfrm>
          <a:prstGeom prst="line">
            <a:avLst/>
          </a:prstGeom>
          <a:ln cap="flat" w="38100">
            <a:solidFill>
              <a:srgbClr val="24497B"/>
            </a:solidFill>
            <a:prstDash val="solid"/>
            <a:headEnd type="oval" len="lg" w="lg"/>
            <a:tailEnd type="oval" len="lg" w="lg"/>
          </a:ln>
        </p:spPr>
      </p:sp>
      <p:grpSp>
        <p:nvGrpSpPr>
          <p:cNvPr name="Group 9" id="9"/>
          <p:cNvGrpSpPr/>
          <p:nvPr/>
        </p:nvGrpSpPr>
        <p:grpSpPr>
          <a:xfrm rot="0">
            <a:off x="-514350" y="9603531"/>
            <a:ext cx="22951717" cy="3086100"/>
            <a:chOff x="0" y="0"/>
            <a:chExt cx="6044897" cy="812800"/>
          </a:xfrm>
        </p:grpSpPr>
        <p:sp>
          <p:nvSpPr>
            <p:cNvPr name="Freeform 10" id="10"/>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11" id="11"/>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24497B"/>
        </a:solidFill>
      </p:bgPr>
    </p:bg>
    <p:spTree>
      <p:nvGrpSpPr>
        <p:cNvPr id="1" name=""/>
        <p:cNvGrpSpPr/>
        <p:nvPr/>
      </p:nvGrpSpPr>
      <p:grpSpPr>
        <a:xfrm>
          <a:off x="0" y="0"/>
          <a:ext cx="0" cy="0"/>
          <a:chOff x="0" y="0"/>
          <a:chExt cx="0" cy="0"/>
        </a:xfrm>
      </p:grpSpPr>
      <p:grpSp>
        <p:nvGrpSpPr>
          <p:cNvPr name="Group 2" id="2"/>
          <p:cNvGrpSpPr/>
          <p:nvPr/>
        </p:nvGrpSpPr>
        <p:grpSpPr>
          <a:xfrm rot="0">
            <a:off x="12012930" y="1028700"/>
            <a:ext cx="5246370" cy="3921541"/>
            <a:chOff x="0" y="0"/>
            <a:chExt cx="955596" cy="714286"/>
          </a:xfrm>
        </p:grpSpPr>
        <p:sp>
          <p:nvSpPr>
            <p:cNvPr name="Freeform 3" id="3"/>
            <p:cNvSpPr/>
            <p:nvPr/>
          </p:nvSpPr>
          <p:spPr>
            <a:xfrm flipH="false" flipV="false" rot="0">
              <a:off x="0" y="0"/>
              <a:ext cx="955596" cy="714286"/>
            </a:xfrm>
            <a:custGeom>
              <a:avLst/>
              <a:gdLst/>
              <a:ahLst/>
              <a:cxnLst/>
              <a:rect r="r" b="b" t="t" l="l"/>
              <a:pathLst>
                <a:path h="714286" w="955596">
                  <a:moveTo>
                    <a:pt x="0" y="0"/>
                  </a:moveTo>
                  <a:lnTo>
                    <a:pt x="955596" y="0"/>
                  </a:lnTo>
                  <a:lnTo>
                    <a:pt x="955596" y="714286"/>
                  </a:lnTo>
                  <a:lnTo>
                    <a:pt x="0" y="714286"/>
                  </a:lnTo>
                  <a:close/>
                </a:path>
              </a:pathLst>
            </a:custGeom>
            <a:blipFill>
              <a:blip r:embed="rId2"/>
              <a:stretch>
                <a:fillRect l="0" t="-55135" r="0" b="-45665"/>
              </a:stretch>
            </a:blipFill>
          </p:spPr>
        </p:sp>
      </p:grpSp>
      <p:sp>
        <p:nvSpPr>
          <p:cNvPr name="TextBox 4" id="4"/>
          <p:cNvSpPr txBox="true"/>
          <p:nvPr/>
        </p:nvSpPr>
        <p:spPr>
          <a:xfrm rot="0">
            <a:off x="484989" y="3141870"/>
            <a:ext cx="7808641" cy="1060451"/>
          </a:xfrm>
          <a:prstGeom prst="rect">
            <a:avLst/>
          </a:prstGeom>
        </p:spPr>
        <p:txBody>
          <a:bodyPr anchor="t" rtlCol="false" tIns="0" lIns="0" bIns="0" rIns="0">
            <a:spAutoFit/>
          </a:bodyPr>
          <a:lstStyle/>
          <a:p>
            <a:pPr algn="ctr">
              <a:lnSpc>
                <a:spcPts val="8000"/>
              </a:lnSpc>
            </a:pPr>
            <a:r>
              <a:rPr lang="en-US" sz="8000" spc="-144">
                <a:solidFill>
                  <a:srgbClr val="FFFFFF"/>
                </a:solidFill>
                <a:latin typeface="Anton"/>
                <a:ea typeface="Anton"/>
                <a:cs typeface="Anton"/>
                <a:sym typeface="Anton"/>
              </a:rPr>
              <a:t>CONTROL DE COSTOS</a:t>
            </a:r>
          </a:p>
        </p:txBody>
      </p:sp>
      <p:sp>
        <p:nvSpPr>
          <p:cNvPr name="TextBox 5" id="5"/>
          <p:cNvSpPr txBox="true"/>
          <p:nvPr/>
        </p:nvSpPr>
        <p:spPr>
          <a:xfrm rot="0">
            <a:off x="1028700" y="5086350"/>
            <a:ext cx="6895206" cy="3423778"/>
          </a:xfrm>
          <a:prstGeom prst="rect">
            <a:avLst/>
          </a:prstGeom>
        </p:spPr>
        <p:txBody>
          <a:bodyPr anchor="t" rtlCol="false" tIns="0" lIns="0" bIns="0" rIns="0">
            <a:spAutoFit/>
          </a:bodyPr>
          <a:lstStyle/>
          <a:p>
            <a:pPr algn="just">
              <a:lnSpc>
                <a:spcPts val="3437"/>
              </a:lnSpc>
            </a:pPr>
            <a:r>
              <a:rPr lang="en-US" sz="2455">
                <a:solidFill>
                  <a:srgbClr val="FFFFFF"/>
                </a:solidFill>
                <a:latin typeface="Inter"/>
                <a:ea typeface="Inter"/>
                <a:cs typeface="Inter"/>
                <a:sym typeface="Inter"/>
              </a:rPr>
              <a:t>El contro de los costos es el proceso de monitorear el estado del proyecto para actualizar los costos del proyecto y gestionar cambios a la línea base de costos. El beneficio </a:t>
            </a:r>
            <a:r>
              <a:rPr lang="en-US" sz="2455">
                <a:solidFill>
                  <a:srgbClr val="FFFFFF"/>
                </a:solidFill>
                <a:latin typeface="Inter"/>
                <a:ea typeface="Inter"/>
                <a:cs typeface="Inter"/>
                <a:sym typeface="Inter"/>
              </a:rPr>
              <a:t>c</a:t>
            </a:r>
            <a:r>
              <a:rPr lang="en-US" sz="2455">
                <a:solidFill>
                  <a:srgbClr val="FFFFFF"/>
                </a:solidFill>
                <a:latin typeface="Inter"/>
                <a:ea typeface="Inter"/>
                <a:cs typeface="Inter"/>
                <a:sym typeface="Inter"/>
              </a:rPr>
              <a:t>l</a:t>
            </a:r>
            <a:r>
              <a:rPr lang="en-US" sz="2455">
                <a:solidFill>
                  <a:srgbClr val="FFFFFF"/>
                </a:solidFill>
                <a:latin typeface="Inter"/>
                <a:ea typeface="Inter"/>
                <a:cs typeface="Inter"/>
                <a:sym typeface="Inter"/>
              </a:rPr>
              <a:t>a</a:t>
            </a:r>
            <a:r>
              <a:rPr lang="en-US" sz="2455">
                <a:solidFill>
                  <a:srgbClr val="FFFFFF"/>
                </a:solidFill>
                <a:latin typeface="Inter"/>
                <a:ea typeface="Inter"/>
                <a:cs typeface="Inter"/>
                <a:sym typeface="Inter"/>
              </a:rPr>
              <a:t>ve de</a:t>
            </a:r>
            <a:r>
              <a:rPr lang="en-US" sz="2455">
                <a:solidFill>
                  <a:srgbClr val="FFFFFF"/>
                </a:solidFill>
                <a:latin typeface="Inter"/>
                <a:ea typeface="Inter"/>
                <a:cs typeface="Inter"/>
                <a:sym typeface="Inter"/>
              </a:rPr>
              <a:t> </a:t>
            </a:r>
            <a:r>
              <a:rPr lang="en-US" sz="2455">
                <a:solidFill>
                  <a:srgbClr val="FFFFFF"/>
                </a:solidFill>
                <a:latin typeface="Inter"/>
                <a:ea typeface="Inter"/>
                <a:cs typeface="Inter"/>
                <a:sym typeface="Inter"/>
              </a:rPr>
              <a:t>e</a:t>
            </a:r>
            <a:r>
              <a:rPr lang="en-US" sz="2455">
                <a:solidFill>
                  <a:srgbClr val="FFFFFF"/>
                </a:solidFill>
                <a:latin typeface="Inter"/>
                <a:ea typeface="Inter"/>
                <a:cs typeface="Inter"/>
                <a:sym typeface="Inter"/>
              </a:rPr>
              <a:t>ste pr</a:t>
            </a:r>
            <a:r>
              <a:rPr lang="en-US" sz="2455">
                <a:solidFill>
                  <a:srgbClr val="FFFFFF"/>
                </a:solidFill>
                <a:latin typeface="Inter"/>
                <a:ea typeface="Inter"/>
                <a:cs typeface="Inter"/>
                <a:sym typeface="Inter"/>
              </a:rPr>
              <a:t>oc</a:t>
            </a:r>
            <a:r>
              <a:rPr lang="en-US" sz="2455">
                <a:solidFill>
                  <a:srgbClr val="FFFFFF"/>
                </a:solidFill>
                <a:latin typeface="Inter"/>
                <a:ea typeface="Inter"/>
                <a:cs typeface="Inter"/>
                <a:sym typeface="Inter"/>
              </a:rPr>
              <a:t>e</a:t>
            </a:r>
            <a:r>
              <a:rPr lang="en-US" sz="2455">
                <a:solidFill>
                  <a:srgbClr val="FFFFFF"/>
                </a:solidFill>
                <a:latin typeface="Inter"/>
                <a:ea typeface="Inter"/>
                <a:cs typeface="Inter"/>
                <a:sym typeface="Inter"/>
              </a:rPr>
              <a:t>so</a:t>
            </a:r>
            <a:r>
              <a:rPr lang="en-US" sz="2455">
                <a:solidFill>
                  <a:srgbClr val="FFFFFF"/>
                </a:solidFill>
                <a:latin typeface="Inter"/>
                <a:ea typeface="Inter"/>
                <a:cs typeface="Inter"/>
                <a:sym typeface="Inter"/>
              </a:rPr>
              <a:t> e</a:t>
            </a:r>
            <a:r>
              <a:rPr lang="en-US" sz="2455">
                <a:solidFill>
                  <a:srgbClr val="FFFFFF"/>
                </a:solidFill>
                <a:latin typeface="Inter"/>
                <a:ea typeface="Inter"/>
                <a:cs typeface="Inter"/>
                <a:sym typeface="Inter"/>
              </a:rPr>
              <a:t>s que la línea base de costos es mantenida a lo largo del proyecto. Este proceso se lleva a cabo a lo largo de todo el proyecto.  </a:t>
            </a:r>
          </a:p>
        </p:txBody>
      </p:sp>
      <p:grpSp>
        <p:nvGrpSpPr>
          <p:cNvPr name="Group 6" id="6"/>
          <p:cNvGrpSpPr/>
          <p:nvPr/>
        </p:nvGrpSpPr>
        <p:grpSpPr>
          <a:xfrm rot="0">
            <a:off x="12012930" y="5336759"/>
            <a:ext cx="5246370" cy="3921541"/>
            <a:chOff x="0" y="0"/>
            <a:chExt cx="955596" cy="714286"/>
          </a:xfrm>
        </p:grpSpPr>
        <p:sp>
          <p:nvSpPr>
            <p:cNvPr name="Freeform 7" id="7"/>
            <p:cNvSpPr/>
            <p:nvPr/>
          </p:nvSpPr>
          <p:spPr>
            <a:xfrm flipH="false" flipV="false" rot="0">
              <a:off x="0" y="0"/>
              <a:ext cx="955596" cy="714286"/>
            </a:xfrm>
            <a:custGeom>
              <a:avLst/>
              <a:gdLst/>
              <a:ahLst/>
              <a:cxnLst/>
              <a:rect r="r" b="b" t="t" l="l"/>
              <a:pathLst>
                <a:path h="714286" w="955596">
                  <a:moveTo>
                    <a:pt x="0" y="0"/>
                  </a:moveTo>
                  <a:lnTo>
                    <a:pt x="955596" y="0"/>
                  </a:lnTo>
                  <a:lnTo>
                    <a:pt x="955596" y="714286"/>
                  </a:lnTo>
                  <a:lnTo>
                    <a:pt x="0" y="714286"/>
                  </a:lnTo>
                  <a:close/>
                </a:path>
              </a:pathLst>
            </a:custGeom>
            <a:blipFill>
              <a:blip r:embed="rId3"/>
              <a:stretch>
                <a:fillRect l="-5990" t="0" r="-5990" b="0"/>
              </a:stretch>
            </a:blipFill>
          </p:spPr>
        </p:sp>
      </p:gr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839871" y="2390295"/>
            <a:ext cx="1064272" cy="106427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641197" y="2390295"/>
            <a:ext cx="1064272" cy="106427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839871" y="5457769"/>
            <a:ext cx="1064272" cy="106427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3641197" y="5457769"/>
            <a:ext cx="1064272" cy="106427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514350" y="9603531"/>
            <a:ext cx="22951717" cy="3086100"/>
            <a:chOff x="0" y="0"/>
            <a:chExt cx="6044897" cy="812800"/>
          </a:xfrm>
        </p:grpSpPr>
        <p:sp>
          <p:nvSpPr>
            <p:cNvPr name="Freeform 15" id="15"/>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16" id="16"/>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17" id="17"/>
          <p:cNvSpPr txBox="true"/>
          <p:nvPr/>
        </p:nvSpPr>
        <p:spPr>
          <a:xfrm rot="0">
            <a:off x="1028700" y="2773936"/>
            <a:ext cx="6663544" cy="3791850"/>
          </a:xfrm>
          <a:prstGeom prst="rect">
            <a:avLst/>
          </a:prstGeom>
        </p:spPr>
        <p:txBody>
          <a:bodyPr anchor="t" rtlCol="false" tIns="0" lIns="0" bIns="0" rIns="0">
            <a:spAutoFit/>
          </a:bodyPr>
          <a:lstStyle/>
          <a:p>
            <a:pPr algn="l">
              <a:lnSpc>
                <a:spcPts val="14615"/>
              </a:lnSpc>
            </a:pPr>
            <a:r>
              <a:rPr lang="en-US" sz="14615" spc="-263">
                <a:solidFill>
                  <a:srgbClr val="24497B"/>
                </a:solidFill>
                <a:latin typeface="Anton"/>
                <a:ea typeface="Anton"/>
                <a:cs typeface="Anton"/>
                <a:sym typeface="Anton"/>
              </a:rPr>
              <a:t>SOLUCIÓN POSIBLE</a:t>
            </a:r>
          </a:p>
        </p:txBody>
      </p:sp>
      <p:sp>
        <p:nvSpPr>
          <p:cNvPr name="TextBox 18" id="18"/>
          <p:cNvSpPr txBox="true"/>
          <p:nvPr/>
        </p:nvSpPr>
        <p:spPr>
          <a:xfrm rot="0">
            <a:off x="1028700" y="6508636"/>
            <a:ext cx="6168403" cy="1280653"/>
          </a:xfrm>
          <a:prstGeom prst="rect">
            <a:avLst/>
          </a:prstGeom>
        </p:spPr>
        <p:txBody>
          <a:bodyPr anchor="t" rtlCol="false" tIns="0" lIns="0" bIns="0" rIns="0">
            <a:spAutoFit/>
          </a:bodyPr>
          <a:lstStyle/>
          <a:p>
            <a:pPr algn="l">
              <a:lnSpc>
                <a:spcPts val="3437"/>
              </a:lnSpc>
            </a:pPr>
            <a:r>
              <a:rPr lang="en-US" sz="2455">
                <a:solidFill>
                  <a:srgbClr val="000000"/>
                </a:solidFill>
                <a:latin typeface="Inter"/>
                <a:ea typeface="Inter"/>
                <a:cs typeface="Inter"/>
                <a:sym typeface="Inter"/>
              </a:rPr>
              <a:t>N</a:t>
            </a:r>
            <a:r>
              <a:rPr lang="en-US" sz="2455">
                <a:solidFill>
                  <a:srgbClr val="000000"/>
                </a:solidFill>
                <a:latin typeface="Inter"/>
                <a:ea typeface="Inter"/>
                <a:cs typeface="Inter"/>
                <a:sym typeface="Inter"/>
              </a:rPr>
              <a:t>uestra propuesta es conectar con lo </a:t>
            </a:r>
            <a:r>
              <a:rPr lang="en-US" sz="2455">
                <a:solidFill>
                  <a:srgbClr val="000000"/>
                </a:solidFill>
                <a:latin typeface="Inter"/>
                <a:ea typeface="Inter"/>
                <a:cs typeface="Inter"/>
                <a:sym typeface="Inter"/>
              </a:rPr>
              <a:t>si</a:t>
            </a:r>
            <a:r>
              <a:rPr lang="en-US" sz="2455">
                <a:solidFill>
                  <a:srgbClr val="000000"/>
                </a:solidFill>
                <a:latin typeface="Inter"/>
                <a:ea typeface="Inter"/>
                <a:cs typeface="Inter"/>
                <a:sym typeface="Inter"/>
              </a:rPr>
              <a:t>m</a:t>
            </a:r>
            <a:r>
              <a:rPr lang="en-US" sz="2455">
                <a:solidFill>
                  <a:srgbClr val="000000"/>
                </a:solidFill>
                <a:latin typeface="Inter"/>
                <a:ea typeface="Inter"/>
                <a:cs typeface="Inter"/>
                <a:sym typeface="Inter"/>
              </a:rPr>
              <a:t>p</a:t>
            </a:r>
            <a:r>
              <a:rPr lang="en-US" sz="2455">
                <a:solidFill>
                  <a:srgbClr val="000000"/>
                </a:solidFill>
                <a:latin typeface="Inter"/>
                <a:ea typeface="Inter"/>
                <a:cs typeface="Inter"/>
                <a:sym typeface="Inter"/>
              </a:rPr>
              <a:t>l</a:t>
            </a:r>
            <a:r>
              <a:rPr lang="en-US" sz="2455">
                <a:solidFill>
                  <a:srgbClr val="000000"/>
                </a:solidFill>
                <a:latin typeface="Inter"/>
                <a:ea typeface="Inter"/>
                <a:cs typeface="Inter"/>
                <a:sym typeface="Inter"/>
              </a:rPr>
              <a:t>e</a:t>
            </a:r>
            <a:r>
              <a:rPr lang="en-US" sz="2455">
                <a:solidFill>
                  <a:srgbClr val="000000"/>
                </a:solidFill>
                <a:latin typeface="Inter"/>
                <a:ea typeface="Inter"/>
                <a:cs typeface="Inter"/>
                <a:sym typeface="Inter"/>
              </a:rPr>
              <a:t>, un modelo de negocio centrado en la autenticidad.</a:t>
            </a:r>
          </a:p>
        </p:txBody>
      </p:sp>
      <p:sp>
        <p:nvSpPr>
          <p:cNvPr name="TextBox 19" id="19"/>
          <p:cNvSpPr txBox="true"/>
          <p:nvPr/>
        </p:nvSpPr>
        <p:spPr>
          <a:xfrm rot="0">
            <a:off x="9958140" y="2652225"/>
            <a:ext cx="827735" cy="616612"/>
          </a:xfrm>
          <a:prstGeom prst="rect">
            <a:avLst/>
          </a:prstGeom>
        </p:spPr>
        <p:txBody>
          <a:bodyPr anchor="t" rtlCol="false" tIns="0" lIns="0" bIns="0" rIns="0">
            <a:spAutoFit/>
          </a:bodyPr>
          <a:lstStyle/>
          <a:p>
            <a:pPr algn="ctr">
              <a:lnSpc>
                <a:spcPts val="4556"/>
              </a:lnSpc>
            </a:pPr>
            <a:r>
              <a:rPr lang="en-US" sz="4556" spc="-82">
                <a:solidFill>
                  <a:srgbClr val="FFFFFF"/>
                </a:solidFill>
                <a:latin typeface="Anton"/>
                <a:ea typeface="Anton"/>
                <a:cs typeface="Anton"/>
                <a:sym typeface="Anton"/>
              </a:rPr>
              <a:t>01</a:t>
            </a:r>
          </a:p>
        </p:txBody>
      </p:sp>
      <p:sp>
        <p:nvSpPr>
          <p:cNvPr name="TextBox 20" id="20"/>
          <p:cNvSpPr txBox="true"/>
          <p:nvPr/>
        </p:nvSpPr>
        <p:spPr>
          <a:xfrm rot="0">
            <a:off x="9839871" y="3689565"/>
            <a:ext cx="2869977" cy="730896"/>
          </a:xfrm>
          <a:prstGeom prst="rect">
            <a:avLst/>
          </a:prstGeom>
        </p:spPr>
        <p:txBody>
          <a:bodyPr anchor="t" rtlCol="false" tIns="0" lIns="0" bIns="0" rIns="0">
            <a:spAutoFit/>
          </a:bodyPr>
          <a:lstStyle/>
          <a:p>
            <a:pPr algn="l">
              <a:lnSpc>
                <a:spcPts val="2842"/>
              </a:lnSpc>
            </a:pPr>
            <a:r>
              <a:rPr lang="en-US" sz="2842" spc="-51">
                <a:solidFill>
                  <a:srgbClr val="24497B"/>
                </a:solidFill>
                <a:latin typeface="Anton"/>
                <a:ea typeface="Anton"/>
                <a:cs typeface="Anton"/>
                <a:sym typeface="Anton"/>
              </a:rPr>
              <a:t>Producto/servicio de calidad real</a:t>
            </a:r>
          </a:p>
        </p:txBody>
      </p:sp>
      <p:sp>
        <p:nvSpPr>
          <p:cNvPr name="TextBox 21" id="21"/>
          <p:cNvSpPr txBox="true"/>
          <p:nvPr/>
        </p:nvSpPr>
        <p:spPr>
          <a:xfrm rot="0">
            <a:off x="9839871" y="4563336"/>
            <a:ext cx="2734391" cy="532483"/>
          </a:xfrm>
          <a:prstGeom prst="rect">
            <a:avLst/>
          </a:prstGeom>
        </p:spPr>
        <p:txBody>
          <a:bodyPr anchor="t" rtlCol="false" tIns="0" lIns="0" bIns="0" rIns="0">
            <a:spAutoFit/>
          </a:bodyPr>
          <a:lstStyle/>
          <a:p>
            <a:pPr algn="l">
              <a:lnSpc>
                <a:spcPts val="2138"/>
              </a:lnSpc>
            </a:pPr>
            <a:r>
              <a:rPr lang="en-US" sz="1527">
                <a:solidFill>
                  <a:srgbClr val="000000"/>
                </a:solidFill>
                <a:latin typeface="Inter"/>
                <a:ea typeface="Inter"/>
                <a:cs typeface="Inter"/>
                <a:sym typeface="Inter"/>
              </a:rPr>
              <a:t>Una marca que de verdad cumple lo que promete.</a:t>
            </a:r>
          </a:p>
        </p:txBody>
      </p:sp>
      <p:sp>
        <p:nvSpPr>
          <p:cNvPr name="TextBox 22" id="22"/>
          <p:cNvSpPr txBox="true"/>
          <p:nvPr/>
        </p:nvSpPr>
        <p:spPr>
          <a:xfrm rot="0">
            <a:off x="13759466" y="2652225"/>
            <a:ext cx="827735" cy="616612"/>
          </a:xfrm>
          <a:prstGeom prst="rect">
            <a:avLst/>
          </a:prstGeom>
        </p:spPr>
        <p:txBody>
          <a:bodyPr anchor="t" rtlCol="false" tIns="0" lIns="0" bIns="0" rIns="0">
            <a:spAutoFit/>
          </a:bodyPr>
          <a:lstStyle/>
          <a:p>
            <a:pPr algn="ctr">
              <a:lnSpc>
                <a:spcPts val="4556"/>
              </a:lnSpc>
            </a:pPr>
            <a:r>
              <a:rPr lang="en-US" sz="4556" spc="-82">
                <a:solidFill>
                  <a:srgbClr val="FFFFFF"/>
                </a:solidFill>
                <a:latin typeface="Anton"/>
                <a:ea typeface="Anton"/>
                <a:cs typeface="Anton"/>
                <a:sym typeface="Anton"/>
              </a:rPr>
              <a:t>02</a:t>
            </a:r>
          </a:p>
        </p:txBody>
      </p:sp>
      <p:sp>
        <p:nvSpPr>
          <p:cNvPr name="TextBox 23" id="23"/>
          <p:cNvSpPr txBox="true"/>
          <p:nvPr/>
        </p:nvSpPr>
        <p:spPr>
          <a:xfrm rot="0">
            <a:off x="13641197" y="3689565"/>
            <a:ext cx="3011817" cy="730896"/>
          </a:xfrm>
          <a:prstGeom prst="rect">
            <a:avLst/>
          </a:prstGeom>
        </p:spPr>
        <p:txBody>
          <a:bodyPr anchor="t" rtlCol="false" tIns="0" lIns="0" bIns="0" rIns="0">
            <a:spAutoFit/>
          </a:bodyPr>
          <a:lstStyle/>
          <a:p>
            <a:pPr algn="l">
              <a:lnSpc>
                <a:spcPts val="2842"/>
              </a:lnSpc>
            </a:pPr>
            <a:r>
              <a:rPr lang="en-US" sz="2842" spc="-51">
                <a:solidFill>
                  <a:srgbClr val="24497B"/>
                </a:solidFill>
                <a:latin typeface="Anton"/>
                <a:ea typeface="Anton"/>
                <a:cs typeface="Anton"/>
                <a:sym typeface="Anton"/>
              </a:rPr>
              <a:t>Crear una experiencia cercana</a:t>
            </a:r>
          </a:p>
        </p:txBody>
      </p:sp>
      <p:sp>
        <p:nvSpPr>
          <p:cNvPr name="TextBox 24" id="24"/>
          <p:cNvSpPr txBox="true"/>
          <p:nvPr/>
        </p:nvSpPr>
        <p:spPr>
          <a:xfrm rot="0">
            <a:off x="13641197" y="4563336"/>
            <a:ext cx="2734391" cy="532483"/>
          </a:xfrm>
          <a:prstGeom prst="rect">
            <a:avLst/>
          </a:prstGeom>
        </p:spPr>
        <p:txBody>
          <a:bodyPr anchor="t" rtlCol="false" tIns="0" lIns="0" bIns="0" rIns="0">
            <a:spAutoFit/>
          </a:bodyPr>
          <a:lstStyle/>
          <a:p>
            <a:pPr algn="l">
              <a:lnSpc>
                <a:spcPts val="2138"/>
              </a:lnSpc>
            </a:pPr>
            <a:r>
              <a:rPr lang="en-US" sz="1527">
                <a:solidFill>
                  <a:srgbClr val="000000"/>
                </a:solidFill>
                <a:latin typeface="Inter"/>
                <a:ea typeface="Inter"/>
                <a:cs typeface="Inter"/>
                <a:sym typeface="Inter"/>
              </a:rPr>
              <a:t>Donde cada cliente se siente parte de una comunidad.</a:t>
            </a:r>
          </a:p>
        </p:txBody>
      </p:sp>
      <p:sp>
        <p:nvSpPr>
          <p:cNvPr name="TextBox 25" id="25"/>
          <p:cNvSpPr txBox="true"/>
          <p:nvPr/>
        </p:nvSpPr>
        <p:spPr>
          <a:xfrm rot="0">
            <a:off x="9958140" y="5719699"/>
            <a:ext cx="827735" cy="616612"/>
          </a:xfrm>
          <a:prstGeom prst="rect">
            <a:avLst/>
          </a:prstGeom>
        </p:spPr>
        <p:txBody>
          <a:bodyPr anchor="t" rtlCol="false" tIns="0" lIns="0" bIns="0" rIns="0">
            <a:spAutoFit/>
          </a:bodyPr>
          <a:lstStyle/>
          <a:p>
            <a:pPr algn="ctr">
              <a:lnSpc>
                <a:spcPts val="4556"/>
              </a:lnSpc>
            </a:pPr>
            <a:r>
              <a:rPr lang="en-US" sz="4556" spc="-82">
                <a:solidFill>
                  <a:srgbClr val="FFFFFF"/>
                </a:solidFill>
                <a:latin typeface="Anton"/>
                <a:ea typeface="Anton"/>
                <a:cs typeface="Anton"/>
                <a:sym typeface="Anton"/>
              </a:rPr>
              <a:t>03</a:t>
            </a:r>
          </a:p>
        </p:txBody>
      </p:sp>
      <p:sp>
        <p:nvSpPr>
          <p:cNvPr name="TextBox 26" id="26"/>
          <p:cNvSpPr txBox="true"/>
          <p:nvPr/>
        </p:nvSpPr>
        <p:spPr>
          <a:xfrm rot="0">
            <a:off x="9839871" y="6757039"/>
            <a:ext cx="2869977" cy="730896"/>
          </a:xfrm>
          <a:prstGeom prst="rect">
            <a:avLst/>
          </a:prstGeom>
        </p:spPr>
        <p:txBody>
          <a:bodyPr anchor="t" rtlCol="false" tIns="0" lIns="0" bIns="0" rIns="0">
            <a:spAutoFit/>
          </a:bodyPr>
          <a:lstStyle/>
          <a:p>
            <a:pPr algn="l">
              <a:lnSpc>
                <a:spcPts val="2842"/>
              </a:lnSpc>
            </a:pPr>
            <a:r>
              <a:rPr lang="en-US" sz="2842" spc="-51">
                <a:solidFill>
                  <a:srgbClr val="24497B"/>
                </a:solidFill>
                <a:latin typeface="Anton"/>
                <a:ea typeface="Anton"/>
                <a:cs typeface="Anton"/>
                <a:sym typeface="Anton"/>
              </a:rPr>
              <a:t>Comunicación fresca y clara</a:t>
            </a:r>
          </a:p>
        </p:txBody>
      </p:sp>
      <p:sp>
        <p:nvSpPr>
          <p:cNvPr name="TextBox 27" id="27"/>
          <p:cNvSpPr txBox="true"/>
          <p:nvPr/>
        </p:nvSpPr>
        <p:spPr>
          <a:xfrm rot="0">
            <a:off x="9839871" y="7630810"/>
            <a:ext cx="2734391" cy="265895"/>
          </a:xfrm>
          <a:prstGeom prst="rect">
            <a:avLst/>
          </a:prstGeom>
        </p:spPr>
        <p:txBody>
          <a:bodyPr anchor="t" rtlCol="false" tIns="0" lIns="0" bIns="0" rIns="0">
            <a:spAutoFit/>
          </a:bodyPr>
          <a:lstStyle/>
          <a:p>
            <a:pPr algn="l">
              <a:lnSpc>
                <a:spcPts val="2138"/>
              </a:lnSpc>
            </a:pPr>
            <a:r>
              <a:rPr lang="en-US" sz="1527">
                <a:solidFill>
                  <a:srgbClr val="000000"/>
                </a:solidFill>
                <a:latin typeface="Inter"/>
                <a:ea typeface="Inter"/>
                <a:cs typeface="Inter"/>
                <a:sym typeface="Inter"/>
              </a:rPr>
              <a:t>Que inspira y no abruma.</a:t>
            </a:r>
          </a:p>
        </p:txBody>
      </p:sp>
      <p:sp>
        <p:nvSpPr>
          <p:cNvPr name="TextBox 28" id="28"/>
          <p:cNvSpPr txBox="true"/>
          <p:nvPr/>
        </p:nvSpPr>
        <p:spPr>
          <a:xfrm rot="0">
            <a:off x="13759466" y="5719699"/>
            <a:ext cx="827735" cy="616612"/>
          </a:xfrm>
          <a:prstGeom prst="rect">
            <a:avLst/>
          </a:prstGeom>
        </p:spPr>
        <p:txBody>
          <a:bodyPr anchor="t" rtlCol="false" tIns="0" lIns="0" bIns="0" rIns="0">
            <a:spAutoFit/>
          </a:bodyPr>
          <a:lstStyle/>
          <a:p>
            <a:pPr algn="ctr">
              <a:lnSpc>
                <a:spcPts val="4556"/>
              </a:lnSpc>
            </a:pPr>
            <a:r>
              <a:rPr lang="en-US" sz="4556" spc="-82">
                <a:solidFill>
                  <a:srgbClr val="FFFFFF"/>
                </a:solidFill>
                <a:latin typeface="Anton"/>
                <a:ea typeface="Anton"/>
                <a:cs typeface="Anton"/>
                <a:sym typeface="Anton"/>
              </a:rPr>
              <a:t>04</a:t>
            </a:r>
          </a:p>
        </p:txBody>
      </p:sp>
      <p:sp>
        <p:nvSpPr>
          <p:cNvPr name="TextBox 29" id="29"/>
          <p:cNvSpPr txBox="true"/>
          <p:nvPr/>
        </p:nvSpPr>
        <p:spPr>
          <a:xfrm rot="0">
            <a:off x="13641197" y="6757039"/>
            <a:ext cx="2869977" cy="730896"/>
          </a:xfrm>
          <a:prstGeom prst="rect">
            <a:avLst/>
          </a:prstGeom>
        </p:spPr>
        <p:txBody>
          <a:bodyPr anchor="t" rtlCol="false" tIns="0" lIns="0" bIns="0" rIns="0">
            <a:spAutoFit/>
          </a:bodyPr>
          <a:lstStyle/>
          <a:p>
            <a:pPr algn="l">
              <a:lnSpc>
                <a:spcPts val="2842"/>
              </a:lnSpc>
            </a:pPr>
            <a:r>
              <a:rPr lang="en-US" sz="2842" spc="-51">
                <a:solidFill>
                  <a:srgbClr val="24497B"/>
                </a:solidFill>
                <a:latin typeface="Anton"/>
                <a:ea typeface="Anton"/>
                <a:cs typeface="Anton"/>
                <a:sym typeface="Anton"/>
              </a:rPr>
              <a:t>Identidad de marca consistente</a:t>
            </a:r>
          </a:p>
        </p:txBody>
      </p:sp>
      <p:sp>
        <p:nvSpPr>
          <p:cNvPr name="TextBox 30" id="30"/>
          <p:cNvSpPr txBox="true"/>
          <p:nvPr/>
        </p:nvSpPr>
        <p:spPr>
          <a:xfrm rot="0">
            <a:off x="13641197" y="7630810"/>
            <a:ext cx="2734391" cy="265895"/>
          </a:xfrm>
          <a:prstGeom prst="rect">
            <a:avLst/>
          </a:prstGeom>
        </p:spPr>
        <p:txBody>
          <a:bodyPr anchor="t" rtlCol="false" tIns="0" lIns="0" bIns="0" rIns="0">
            <a:spAutoFit/>
          </a:bodyPr>
          <a:lstStyle/>
          <a:p>
            <a:pPr algn="l">
              <a:lnSpc>
                <a:spcPts val="2138"/>
              </a:lnSpc>
            </a:pPr>
            <a:r>
              <a:rPr lang="en-US" sz="1527">
                <a:solidFill>
                  <a:srgbClr val="000000"/>
                </a:solidFill>
                <a:latin typeface="Inter"/>
                <a:ea typeface="Inter"/>
                <a:cs typeface="Inter"/>
                <a:sym typeface="Inter"/>
              </a:rPr>
              <a:t>Que identifica y conecta.</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24497B"/>
        </a:solidFill>
      </p:bgPr>
    </p:bg>
    <p:spTree>
      <p:nvGrpSpPr>
        <p:cNvPr id="1" name=""/>
        <p:cNvGrpSpPr/>
        <p:nvPr/>
      </p:nvGrpSpPr>
      <p:grpSpPr>
        <a:xfrm>
          <a:off x="0" y="0"/>
          <a:ext cx="0" cy="0"/>
          <a:chOff x="0" y="0"/>
          <a:chExt cx="0" cy="0"/>
        </a:xfrm>
      </p:grpSpPr>
      <p:grpSp>
        <p:nvGrpSpPr>
          <p:cNvPr name="Group 2" id="2"/>
          <p:cNvGrpSpPr/>
          <p:nvPr/>
        </p:nvGrpSpPr>
        <p:grpSpPr>
          <a:xfrm rot="0">
            <a:off x="1028700" y="6806997"/>
            <a:ext cx="6987811" cy="565616"/>
            <a:chOff x="0" y="0"/>
            <a:chExt cx="2137363" cy="173005"/>
          </a:xfrm>
        </p:grpSpPr>
        <p:sp>
          <p:nvSpPr>
            <p:cNvPr name="Freeform 3" id="3"/>
            <p:cNvSpPr/>
            <p:nvPr/>
          </p:nvSpPr>
          <p:spPr>
            <a:xfrm flipH="false" flipV="false" rot="0">
              <a:off x="0" y="0"/>
              <a:ext cx="2137363" cy="173005"/>
            </a:xfrm>
            <a:custGeom>
              <a:avLst/>
              <a:gdLst/>
              <a:ahLst/>
              <a:cxnLst/>
              <a:rect r="r" b="b" t="t" l="l"/>
              <a:pathLst>
                <a:path h="173005" w="2137363">
                  <a:moveTo>
                    <a:pt x="56504" y="0"/>
                  </a:moveTo>
                  <a:lnTo>
                    <a:pt x="2080859" y="0"/>
                  </a:lnTo>
                  <a:cubicBezTo>
                    <a:pt x="2095845" y="0"/>
                    <a:pt x="2110217" y="5953"/>
                    <a:pt x="2120813" y="16550"/>
                  </a:cubicBezTo>
                  <a:cubicBezTo>
                    <a:pt x="2131410" y="27146"/>
                    <a:pt x="2137363" y="41518"/>
                    <a:pt x="2137363" y="56504"/>
                  </a:cubicBezTo>
                  <a:lnTo>
                    <a:pt x="2137363" y="116501"/>
                  </a:lnTo>
                  <a:cubicBezTo>
                    <a:pt x="2137363" y="131487"/>
                    <a:pt x="2131410" y="145859"/>
                    <a:pt x="2120813" y="156456"/>
                  </a:cubicBezTo>
                  <a:cubicBezTo>
                    <a:pt x="2110217" y="167052"/>
                    <a:pt x="2095845" y="173005"/>
                    <a:pt x="2080859" y="173005"/>
                  </a:cubicBezTo>
                  <a:lnTo>
                    <a:pt x="56504" y="173005"/>
                  </a:lnTo>
                  <a:cubicBezTo>
                    <a:pt x="41518" y="173005"/>
                    <a:pt x="27146" y="167052"/>
                    <a:pt x="16550" y="156456"/>
                  </a:cubicBezTo>
                  <a:cubicBezTo>
                    <a:pt x="5953" y="145859"/>
                    <a:pt x="0" y="131487"/>
                    <a:pt x="0" y="116501"/>
                  </a:cubicBezTo>
                  <a:lnTo>
                    <a:pt x="0" y="56504"/>
                  </a:lnTo>
                  <a:cubicBezTo>
                    <a:pt x="0" y="41518"/>
                    <a:pt x="5953" y="27146"/>
                    <a:pt x="16550" y="16550"/>
                  </a:cubicBezTo>
                  <a:cubicBezTo>
                    <a:pt x="27146" y="5953"/>
                    <a:pt x="41518" y="0"/>
                    <a:pt x="56504" y="0"/>
                  </a:cubicBezTo>
                  <a:close/>
                </a:path>
              </a:pathLst>
            </a:custGeom>
            <a:solidFill>
              <a:srgbClr val="FFFFFF"/>
            </a:solidFill>
          </p:spPr>
        </p:sp>
        <p:sp>
          <p:nvSpPr>
            <p:cNvPr name="TextBox 4" id="4"/>
            <p:cNvSpPr txBox="true"/>
            <p:nvPr/>
          </p:nvSpPr>
          <p:spPr>
            <a:xfrm>
              <a:off x="0" y="-38100"/>
              <a:ext cx="2137363" cy="211105"/>
            </a:xfrm>
            <a:prstGeom prst="rect">
              <a:avLst/>
            </a:prstGeom>
          </p:spPr>
          <p:txBody>
            <a:bodyPr anchor="ctr" rtlCol="false" tIns="50800" lIns="50800" bIns="50800" rIns="50800"/>
            <a:lstStyle/>
            <a:p>
              <a:pPr algn="ctr">
                <a:lnSpc>
                  <a:spcPts val="2138"/>
                </a:lnSpc>
              </a:pPr>
            </a:p>
          </p:txBody>
        </p:sp>
      </p:grpSp>
      <p:sp>
        <p:nvSpPr>
          <p:cNvPr name="Freeform 5" id="5"/>
          <p:cNvSpPr/>
          <p:nvPr/>
        </p:nvSpPr>
        <p:spPr>
          <a:xfrm flipH="false" flipV="false" rot="0">
            <a:off x="1107082" y="6873531"/>
            <a:ext cx="432550" cy="432550"/>
          </a:xfrm>
          <a:custGeom>
            <a:avLst/>
            <a:gdLst/>
            <a:ahLst/>
            <a:cxnLst/>
            <a:rect r="r" b="b" t="t" l="l"/>
            <a:pathLst>
              <a:path h="432550" w="432550">
                <a:moveTo>
                  <a:pt x="0" y="0"/>
                </a:moveTo>
                <a:lnTo>
                  <a:pt x="432550" y="0"/>
                </a:lnTo>
                <a:lnTo>
                  <a:pt x="432550" y="432550"/>
                </a:lnTo>
                <a:lnTo>
                  <a:pt x="0" y="4325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1754983"/>
            <a:ext cx="9613762" cy="3791850"/>
          </a:xfrm>
          <a:prstGeom prst="rect">
            <a:avLst/>
          </a:prstGeom>
        </p:spPr>
        <p:txBody>
          <a:bodyPr anchor="t" rtlCol="false" tIns="0" lIns="0" bIns="0" rIns="0">
            <a:spAutoFit/>
          </a:bodyPr>
          <a:lstStyle/>
          <a:p>
            <a:pPr algn="l">
              <a:lnSpc>
                <a:spcPts val="14615"/>
              </a:lnSpc>
            </a:pPr>
            <a:r>
              <a:rPr lang="en-US" sz="14615" spc="-263">
                <a:solidFill>
                  <a:srgbClr val="FFFFFF"/>
                </a:solidFill>
                <a:latin typeface="Anton"/>
                <a:ea typeface="Anton"/>
                <a:cs typeface="Anton"/>
                <a:sym typeface="Anton"/>
              </a:rPr>
              <a:t>A QUIÉN NOS DIRIGIMOS</a:t>
            </a:r>
          </a:p>
        </p:txBody>
      </p:sp>
      <p:sp>
        <p:nvSpPr>
          <p:cNvPr name="TextBox 7" id="7"/>
          <p:cNvSpPr txBox="true"/>
          <p:nvPr/>
        </p:nvSpPr>
        <p:spPr>
          <a:xfrm rot="0">
            <a:off x="1028700" y="5581563"/>
            <a:ext cx="7047820" cy="852028"/>
          </a:xfrm>
          <a:prstGeom prst="rect">
            <a:avLst/>
          </a:prstGeom>
        </p:spPr>
        <p:txBody>
          <a:bodyPr anchor="t" rtlCol="false" tIns="0" lIns="0" bIns="0" rIns="0">
            <a:spAutoFit/>
          </a:bodyPr>
          <a:lstStyle/>
          <a:p>
            <a:pPr algn="l">
              <a:lnSpc>
                <a:spcPts val="3437"/>
              </a:lnSpc>
            </a:pPr>
            <a:r>
              <a:rPr lang="en-US" sz="2455">
                <a:solidFill>
                  <a:srgbClr val="FFFFFF"/>
                </a:solidFill>
                <a:latin typeface="Inter"/>
                <a:ea typeface="Inter"/>
                <a:cs typeface="Inter"/>
                <a:sym typeface="Inter"/>
              </a:rPr>
              <a:t>Nuestro público son principalmente</a:t>
            </a:r>
            <a:r>
              <a:rPr lang="en-US" sz="2455" b="true">
                <a:solidFill>
                  <a:srgbClr val="FFFFFF"/>
                </a:solidFill>
                <a:latin typeface="Inter Bold"/>
                <a:ea typeface="Inter Bold"/>
                <a:cs typeface="Inter Bold"/>
                <a:sym typeface="Inter Bold"/>
              </a:rPr>
              <a:t> jóvenes adultos entre 20 y 35 años</a:t>
            </a:r>
            <a:r>
              <a:rPr lang="en-US" sz="2455">
                <a:solidFill>
                  <a:srgbClr val="FFFFFF"/>
                </a:solidFill>
                <a:latin typeface="Inter"/>
                <a:ea typeface="Inter"/>
                <a:cs typeface="Inter"/>
                <a:sym typeface="Inter"/>
              </a:rPr>
              <a:t>, que valoran:</a:t>
            </a:r>
          </a:p>
        </p:txBody>
      </p:sp>
      <p:sp>
        <p:nvSpPr>
          <p:cNvPr name="TextBox 8" id="8"/>
          <p:cNvSpPr txBox="true"/>
          <p:nvPr/>
        </p:nvSpPr>
        <p:spPr>
          <a:xfrm rot="0">
            <a:off x="1641205" y="6884497"/>
            <a:ext cx="6002257" cy="362993"/>
          </a:xfrm>
          <a:prstGeom prst="rect">
            <a:avLst/>
          </a:prstGeom>
        </p:spPr>
        <p:txBody>
          <a:bodyPr anchor="t" rtlCol="false" tIns="0" lIns="0" bIns="0" rIns="0">
            <a:spAutoFit/>
          </a:bodyPr>
          <a:lstStyle/>
          <a:p>
            <a:pPr algn="just">
              <a:lnSpc>
                <a:spcPts val="2960"/>
              </a:lnSpc>
            </a:pPr>
            <a:r>
              <a:rPr lang="en-US" b="true" sz="2114">
                <a:solidFill>
                  <a:srgbClr val="24497B"/>
                </a:solidFill>
                <a:latin typeface="Inter Bold"/>
                <a:ea typeface="Inter Bold"/>
                <a:cs typeface="Inter Bold"/>
                <a:sym typeface="Inter Bold"/>
              </a:rPr>
              <a:t>LA SIMPLICID</a:t>
            </a:r>
            <a:r>
              <a:rPr lang="en-US" b="true" sz="2114">
                <a:solidFill>
                  <a:srgbClr val="24497B"/>
                </a:solidFill>
                <a:latin typeface="Inter Bold"/>
                <a:ea typeface="Inter Bold"/>
                <a:cs typeface="Inter Bold"/>
                <a:sym typeface="Inter Bold"/>
              </a:rPr>
              <a:t>AD APLICADA AL CONSUMO.</a:t>
            </a:r>
          </a:p>
        </p:txBody>
      </p:sp>
      <p:grpSp>
        <p:nvGrpSpPr>
          <p:cNvPr name="Group 9" id="9"/>
          <p:cNvGrpSpPr/>
          <p:nvPr/>
        </p:nvGrpSpPr>
        <p:grpSpPr>
          <a:xfrm rot="0">
            <a:off x="1028700" y="7524609"/>
            <a:ext cx="6987811" cy="565616"/>
            <a:chOff x="0" y="0"/>
            <a:chExt cx="2137363" cy="173005"/>
          </a:xfrm>
        </p:grpSpPr>
        <p:sp>
          <p:nvSpPr>
            <p:cNvPr name="Freeform 10" id="10"/>
            <p:cNvSpPr/>
            <p:nvPr/>
          </p:nvSpPr>
          <p:spPr>
            <a:xfrm flipH="false" flipV="false" rot="0">
              <a:off x="0" y="0"/>
              <a:ext cx="2137363" cy="173005"/>
            </a:xfrm>
            <a:custGeom>
              <a:avLst/>
              <a:gdLst/>
              <a:ahLst/>
              <a:cxnLst/>
              <a:rect r="r" b="b" t="t" l="l"/>
              <a:pathLst>
                <a:path h="173005" w="2137363">
                  <a:moveTo>
                    <a:pt x="56504" y="0"/>
                  </a:moveTo>
                  <a:lnTo>
                    <a:pt x="2080859" y="0"/>
                  </a:lnTo>
                  <a:cubicBezTo>
                    <a:pt x="2095845" y="0"/>
                    <a:pt x="2110217" y="5953"/>
                    <a:pt x="2120813" y="16550"/>
                  </a:cubicBezTo>
                  <a:cubicBezTo>
                    <a:pt x="2131410" y="27146"/>
                    <a:pt x="2137363" y="41518"/>
                    <a:pt x="2137363" y="56504"/>
                  </a:cubicBezTo>
                  <a:lnTo>
                    <a:pt x="2137363" y="116501"/>
                  </a:lnTo>
                  <a:cubicBezTo>
                    <a:pt x="2137363" y="131487"/>
                    <a:pt x="2131410" y="145859"/>
                    <a:pt x="2120813" y="156456"/>
                  </a:cubicBezTo>
                  <a:cubicBezTo>
                    <a:pt x="2110217" y="167052"/>
                    <a:pt x="2095845" y="173005"/>
                    <a:pt x="2080859" y="173005"/>
                  </a:cubicBezTo>
                  <a:lnTo>
                    <a:pt x="56504" y="173005"/>
                  </a:lnTo>
                  <a:cubicBezTo>
                    <a:pt x="41518" y="173005"/>
                    <a:pt x="27146" y="167052"/>
                    <a:pt x="16550" y="156456"/>
                  </a:cubicBezTo>
                  <a:cubicBezTo>
                    <a:pt x="5953" y="145859"/>
                    <a:pt x="0" y="131487"/>
                    <a:pt x="0" y="116501"/>
                  </a:cubicBezTo>
                  <a:lnTo>
                    <a:pt x="0" y="56504"/>
                  </a:lnTo>
                  <a:cubicBezTo>
                    <a:pt x="0" y="41518"/>
                    <a:pt x="5953" y="27146"/>
                    <a:pt x="16550" y="16550"/>
                  </a:cubicBezTo>
                  <a:cubicBezTo>
                    <a:pt x="27146" y="5953"/>
                    <a:pt x="41518" y="0"/>
                    <a:pt x="56504" y="0"/>
                  </a:cubicBezTo>
                  <a:close/>
                </a:path>
              </a:pathLst>
            </a:custGeom>
            <a:solidFill>
              <a:srgbClr val="FFFFFF"/>
            </a:solidFill>
          </p:spPr>
        </p:sp>
        <p:sp>
          <p:nvSpPr>
            <p:cNvPr name="TextBox 11" id="11"/>
            <p:cNvSpPr txBox="true"/>
            <p:nvPr/>
          </p:nvSpPr>
          <p:spPr>
            <a:xfrm>
              <a:off x="0" y="-38100"/>
              <a:ext cx="2137363" cy="211105"/>
            </a:xfrm>
            <a:prstGeom prst="rect">
              <a:avLst/>
            </a:prstGeom>
          </p:spPr>
          <p:txBody>
            <a:bodyPr anchor="ctr" rtlCol="false" tIns="50800" lIns="50800" bIns="50800" rIns="50800"/>
            <a:lstStyle/>
            <a:p>
              <a:pPr algn="ctr">
                <a:lnSpc>
                  <a:spcPts val="2138"/>
                </a:lnSpc>
              </a:pPr>
            </a:p>
          </p:txBody>
        </p:sp>
      </p:grpSp>
      <p:sp>
        <p:nvSpPr>
          <p:cNvPr name="Freeform 12" id="12"/>
          <p:cNvSpPr/>
          <p:nvPr/>
        </p:nvSpPr>
        <p:spPr>
          <a:xfrm flipH="false" flipV="false" rot="0">
            <a:off x="1107082" y="7591143"/>
            <a:ext cx="432550" cy="432550"/>
          </a:xfrm>
          <a:custGeom>
            <a:avLst/>
            <a:gdLst/>
            <a:ahLst/>
            <a:cxnLst/>
            <a:rect r="r" b="b" t="t" l="l"/>
            <a:pathLst>
              <a:path h="432550" w="432550">
                <a:moveTo>
                  <a:pt x="0" y="0"/>
                </a:moveTo>
                <a:lnTo>
                  <a:pt x="432550" y="0"/>
                </a:lnTo>
                <a:lnTo>
                  <a:pt x="432550" y="432550"/>
                </a:lnTo>
                <a:lnTo>
                  <a:pt x="0" y="4325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641205" y="7602108"/>
            <a:ext cx="6318048" cy="362993"/>
          </a:xfrm>
          <a:prstGeom prst="rect">
            <a:avLst/>
          </a:prstGeom>
        </p:spPr>
        <p:txBody>
          <a:bodyPr anchor="t" rtlCol="false" tIns="0" lIns="0" bIns="0" rIns="0">
            <a:spAutoFit/>
          </a:bodyPr>
          <a:lstStyle/>
          <a:p>
            <a:pPr algn="just">
              <a:lnSpc>
                <a:spcPts val="2960"/>
              </a:lnSpc>
            </a:pPr>
            <a:r>
              <a:rPr lang="en-US" b="true" sz="2114">
                <a:solidFill>
                  <a:srgbClr val="24497B"/>
                </a:solidFill>
                <a:latin typeface="Inter Bold"/>
                <a:ea typeface="Inter Bold"/>
                <a:cs typeface="Inter Bold"/>
                <a:sym typeface="Inter Bold"/>
              </a:rPr>
              <a:t>MARCAS TRANSPARENTES Y CON PROPÓSITO.</a:t>
            </a:r>
          </a:p>
        </p:txBody>
      </p:sp>
      <p:grpSp>
        <p:nvGrpSpPr>
          <p:cNvPr name="Group 14" id="14"/>
          <p:cNvGrpSpPr/>
          <p:nvPr/>
        </p:nvGrpSpPr>
        <p:grpSpPr>
          <a:xfrm rot="0">
            <a:off x="1028700" y="8242626"/>
            <a:ext cx="6987811" cy="565616"/>
            <a:chOff x="0" y="0"/>
            <a:chExt cx="2137363" cy="173005"/>
          </a:xfrm>
        </p:grpSpPr>
        <p:sp>
          <p:nvSpPr>
            <p:cNvPr name="Freeform 15" id="15"/>
            <p:cNvSpPr/>
            <p:nvPr/>
          </p:nvSpPr>
          <p:spPr>
            <a:xfrm flipH="false" flipV="false" rot="0">
              <a:off x="0" y="0"/>
              <a:ext cx="2137363" cy="173005"/>
            </a:xfrm>
            <a:custGeom>
              <a:avLst/>
              <a:gdLst/>
              <a:ahLst/>
              <a:cxnLst/>
              <a:rect r="r" b="b" t="t" l="l"/>
              <a:pathLst>
                <a:path h="173005" w="2137363">
                  <a:moveTo>
                    <a:pt x="56504" y="0"/>
                  </a:moveTo>
                  <a:lnTo>
                    <a:pt x="2080859" y="0"/>
                  </a:lnTo>
                  <a:cubicBezTo>
                    <a:pt x="2095845" y="0"/>
                    <a:pt x="2110217" y="5953"/>
                    <a:pt x="2120813" y="16550"/>
                  </a:cubicBezTo>
                  <a:cubicBezTo>
                    <a:pt x="2131410" y="27146"/>
                    <a:pt x="2137363" y="41518"/>
                    <a:pt x="2137363" y="56504"/>
                  </a:cubicBezTo>
                  <a:lnTo>
                    <a:pt x="2137363" y="116501"/>
                  </a:lnTo>
                  <a:cubicBezTo>
                    <a:pt x="2137363" y="131487"/>
                    <a:pt x="2131410" y="145859"/>
                    <a:pt x="2120813" y="156456"/>
                  </a:cubicBezTo>
                  <a:cubicBezTo>
                    <a:pt x="2110217" y="167052"/>
                    <a:pt x="2095845" y="173005"/>
                    <a:pt x="2080859" y="173005"/>
                  </a:cubicBezTo>
                  <a:lnTo>
                    <a:pt x="56504" y="173005"/>
                  </a:lnTo>
                  <a:cubicBezTo>
                    <a:pt x="41518" y="173005"/>
                    <a:pt x="27146" y="167052"/>
                    <a:pt x="16550" y="156456"/>
                  </a:cubicBezTo>
                  <a:cubicBezTo>
                    <a:pt x="5953" y="145859"/>
                    <a:pt x="0" y="131487"/>
                    <a:pt x="0" y="116501"/>
                  </a:cubicBezTo>
                  <a:lnTo>
                    <a:pt x="0" y="56504"/>
                  </a:lnTo>
                  <a:cubicBezTo>
                    <a:pt x="0" y="41518"/>
                    <a:pt x="5953" y="27146"/>
                    <a:pt x="16550" y="16550"/>
                  </a:cubicBezTo>
                  <a:cubicBezTo>
                    <a:pt x="27146" y="5953"/>
                    <a:pt x="41518" y="0"/>
                    <a:pt x="56504" y="0"/>
                  </a:cubicBezTo>
                  <a:close/>
                </a:path>
              </a:pathLst>
            </a:custGeom>
            <a:solidFill>
              <a:srgbClr val="FFFFFF"/>
            </a:solidFill>
          </p:spPr>
        </p:sp>
        <p:sp>
          <p:nvSpPr>
            <p:cNvPr name="TextBox 16" id="16"/>
            <p:cNvSpPr txBox="true"/>
            <p:nvPr/>
          </p:nvSpPr>
          <p:spPr>
            <a:xfrm>
              <a:off x="0" y="-38100"/>
              <a:ext cx="2137363" cy="211105"/>
            </a:xfrm>
            <a:prstGeom prst="rect">
              <a:avLst/>
            </a:prstGeom>
          </p:spPr>
          <p:txBody>
            <a:bodyPr anchor="ctr" rtlCol="false" tIns="50800" lIns="50800" bIns="50800" rIns="50800"/>
            <a:lstStyle/>
            <a:p>
              <a:pPr algn="ctr">
                <a:lnSpc>
                  <a:spcPts val="2138"/>
                </a:lnSpc>
              </a:pPr>
            </a:p>
          </p:txBody>
        </p:sp>
      </p:grpSp>
      <p:sp>
        <p:nvSpPr>
          <p:cNvPr name="Freeform 17" id="17"/>
          <p:cNvSpPr/>
          <p:nvPr/>
        </p:nvSpPr>
        <p:spPr>
          <a:xfrm flipH="false" flipV="false" rot="0">
            <a:off x="1107082" y="8309159"/>
            <a:ext cx="432550" cy="432550"/>
          </a:xfrm>
          <a:custGeom>
            <a:avLst/>
            <a:gdLst/>
            <a:ahLst/>
            <a:cxnLst/>
            <a:rect r="r" b="b" t="t" l="l"/>
            <a:pathLst>
              <a:path h="432550" w="432550">
                <a:moveTo>
                  <a:pt x="0" y="0"/>
                </a:moveTo>
                <a:lnTo>
                  <a:pt x="432550" y="0"/>
                </a:lnTo>
                <a:lnTo>
                  <a:pt x="432550" y="432550"/>
                </a:lnTo>
                <a:lnTo>
                  <a:pt x="0" y="4325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1641205" y="8320125"/>
            <a:ext cx="6318048" cy="362993"/>
          </a:xfrm>
          <a:prstGeom prst="rect">
            <a:avLst/>
          </a:prstGeom>
        </p:spPr>
        <p:txBody>
          <a:bodyPr anchor="t" rtlCol="false" tIns="0" lIns="0" bIns="0" rIns="0">
            <a:spAutoFit/>
          </a:bodyPr>
          <a:lstStyle/>
          <a:p>
            <a:pPr algn="just">
              <a:lnSpc>
                <a:spcPts val="2960"/>
              </a:lnSpc>
            </a:pPr>
            <a:r>
              <a:rPr lang="en-US" b="true" sz="2114">
                <a:solidFill>
                  <a:srgbClr val="24497B"/>
                </a:solidFill>
                <a:latin typeface="Inter Bold"/>
                <a:ea typeface="Inter Bold"/>
                <a:cs typeface="Inter Bold"/>
                <a:sym typeface="Inter Bold"/>
              </a:rPr>
              <a:t>EXPERIENCIAS QUE GENEREN BIENESTAR.</a:t>
            </a:r>
          </a:p>
        </p:txBody>
      </p:sp>
      <p:grpSp>
        <p:nvGrpSpPr>
          <p:cNvPr name="Group 19" id="19"/>
          <p:cNvGrpSpPr/>
          <p:nvPr/>
        </p:nvGrpSpPr>
        <p:grpSpPr>
          <a:xfrm rot="0">
            <a:off x="11291344" y="1772271"/>
            <a:ext cx="5246370" cy="5181705"/>
            <a:chOff x="0" y="0"/>
            <a:chExt cx="955596" cy="943818"/>
          </a:xfrm>
        </p:grpSpPr>
        <p:sp>
          <p:nvSpPr>
            <p:cNvPr name="Freeform 20" id="20"/>
            <p:cNvSpPr/>
            <p:nvPr/>
          </p:nvSpPr>
          <p:spPr>
            <a:xfrm flipH="false" flipV="false" rot="0">
              <a:off x="0" y="0"/>
              <a:ext cx="955596" cy="943818"/>
            </a:xfrm>
            <a:custGeom>
              <a:avLst/>
              <a:gdLst/>
              <a:ahLst/>
              <a:cxnLst/>
              <a:rect r="r" b="b" t="t" l="l"/>
              <a:pathLst>
                <a:path h="943818" w="955596">
                  <a:moveTo>
                    <a:pt x="0" y="0"/>
                  </a:moveTo>
                  <a:lnTo>
                    <a:pt x="955596" y="0"/>
                  </a:lnTo>
                  <a:lnTo>
                    <a:pt x="955596" y="943818"/>
                  </a:lnTo>
                  <a:lnTo>
                    <a:pt x="0" y="943818"/>
                  </a:lnTo>
                  <a:close/>
                </a:path>
              </a:pathLst>
            </a:custGeom>
            <a:blipFill>
              <a:blip r:embed="rId4"/>
              <a:stretch>
                <a:fillRect l="0" t="-4642" r="0" b="-47324"/>
              </a:stretch>
            </a:blipFill>
          </p:spPr>
        </p:sp>
      </p:grpSp>
      <p:sp>
        <p:nvSpPr>
          <p:cNvPr name="TextBox 21" id="21"/>
          <p:cNvSpPr txBox="true"/>
          <p:nvPr/>
        </p:nvSpPr>
        <p:spPr>
          <a:xfrm rot="0">
            <a:off x="11896833" y="7207863"/>
            <a:ext cx="4035392" cy="1306866"/>
          </a:xfrm>
          <a:prstGeom prst="rect">
            <a:avLst/>
          </a:prstGeom>
        </p:spPr>
        <p:txBody>
          <a:bodyPr anchor="t" rtlCol="false" tIns="0" lIns="0" bIns="0" rIns="0">
            <a:spAutoFit/>
          </a:bodyPr>
          <a:lstStyle/>
          <a:p>
            <a:pPr algn="ctr">
              <a:lnSpc>
                <a:spcPts val="2640"/>
              </a:lnSpc>
            </a:pPr>
            <a:r>
              <a:rPr lang="en-US" sz="1885" i="true">
                <a:solidFill>
                  <a:srgbClr val="FFFFFF"/>
                </a:solidFill>
                <a:latin typeface="Inter Italics"/>
                <a:ea typeface="Inter Italics"/>
                <a:cs typeface="Inter Italics"/>
                <a:sym typeface="Inter Italics"/>
              </a:rPr>
              <a:t>Son personas activas en redes sociales, que </a:t>
            </a:r>
            <a:r>
              <a:rPr lang="en-US" b="true" sz="1885" i="true" u="sng">
                <a:solidFill>
                  <a:srgbClr val="FFFFFF"/>
                </a:solidFill>
                <a:latin typeface="Inter Bold Italics"/>
                <a:ea typeface="Inter Bold Italics"/>
                <a:cs typeface="Inter Bold Italics"/>
                <a:sym typeface="Inter Bold Italics"/>
              </a:rPr>
              <a:t>prefieren apoyar negocios auténticos</a:t>
            </a:r>
            <a:r>
              <a:rPr lang="en-US" sz="1885" i="true">
                <a:solidFill>
                  <a:srgbClr val="FFFFFF"/>
                </a:solidFill>
                <a:latin typeface="Inter Italics"/>
                <a:ea typeface="Inter Italics"/>
                <a:cs typeface="Inter Italics"/>
                <a:sym typeface="Inter Italics"/>
              </a:rPr>
              <a:t> antes que grandes corporaciones.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24497B"/>
        </a:solidFill>
      </p:bgPr>
    </p:bg>
    <p:spTree>
      <p:nvGrpSpPr>
        <p:cNvPr id="1" name=""/>
        <p:cNvGrpSpPr/>
        <p:nvPr/>
      </p:nvGrpSpPr>
      <p:grpSpPr>
        <a:xfrm>
          <a:off x="0" y="0"/>
          <a:ext cx="0" cy="0"/>
          <a:chOff x="0" y="0"/>
          <a:chExt cx="0" cy="0"/>
        </a:xfrm>
      </p:grpSpPr>
      <p:sp>
        <p:nvSpPr>
          <p:cNvPr name="TextBox 2" id="2"/>
          <p:cNvSpPr txBox="true"/>
          <p:nvPr/>
        </p:nvSpPr>
        <p:spPr>
          <a:xfrm rot="0">
            <a:off x="1028700" y="1747851"/>
            <a:ext cx="9613762" cy="3791850"/>
          </a:xfrm>
          <a:prstGeom prst="rect">
            <a:avLst/>
          </a:prstGeom>
        </p:spPr>
        <p:txBody>
          <a:bodyPr anchor="t" rtlCol="false" tIns="0" lIns="0" bIns="0" rIns="0">
            <a:spAutoFit/>
          </a:bodyPr>
          <a:lstStyle/>
          <a:p>
            <a:pPr algn="l">
              <a:lnSpc>
                <a:spcPts val="14615"/>
              </a:lnSpc>
            </a:pPr>
            <a:r>
              <a:rPr lang="en-US" sz="14615" spc="-263">
                <a:solidFill>
                  <a:srgbClr val="FFFFFF"/>
                </a:solidFill>
                <a:latin typeface="Anton"/>
                <a:ea typeface="Anton"/>
                <a:cs typeface="Anton"/>
                <a:sym typeface="Anton"/>
              </a:rPr>
              <a:t>ESTRATEGIA DE CRECIMIENTO</a:t>
            </a:r>
          </a:p>
        </p:txBody>
      </p:sp>
      <p:sp>
        <p:nvSpPr>
          <p:cNvPr name="AutoShape 3" id="3"/>
          <p:cNvSpPr/>
          <p:nvPr/>
        </p:nvSpPr>
        <p:spPr>
          <a:xfrm flipV="true">
            <a:off x="1597700" y="6650138"/>
            <a:ext cx="15661600" cy="19050"/>
          </a:xfrm>
          <a:prstGeom prst="line">
            <a:avLst/>
          </a:prstGeom>
          <a:ln cap="flat" w="38100">
            <a:solidFill>
              <a:srgbClr val="FFFFFF"/>
            </a:solidFill>
            <a:prstDash val="solid"/>
            <a:headEnd type="none" len="sm" w="sm"/>
            <a:tailEnd type="oval" len="lg" w="lg"/>
          </a:ln>
        </p:spPr>
      </p:sp>
      <p:grpSp>
        <p:nvGrpSpPr>
          <p:cNvPr name="Group 4" id="4"/>
          <p:cNvGrpSpPr/>
          <p:nvPr/>
        </p:nvGrpSpPr>
        <p:grpSpPr>
          <a:xfrm rot="0">
            <a:off x="1028700" y="6099003"/>
            <a:ext cx="1102269" cy="110226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19050"/>
              <a:ext cx="660400" cy="717550"/>
            </a:xfrm>
            <a:prstGeom prst="rect">
              <a:avLst/>
            </a:prstGeom>
          </p:spPr>
          <p:txBody>
            <a:bodyPr anchor="ctr" rtlCol="false" tIns="50800" lIns="50800" bIns="50800" rIns="50800"/>
            <a:lstStyle/>
            <a:p>
              <a:pPr algn="l">
                <a:lnSpc>
                  <a:spcPts val="2659"/>
                </a:lnSpc>
              </a:pPr>
            </a:p>
          </p:txBody>
        </p:sp>
      </p:grpSp>
      <p:sp>
        <p:nvSpPr>
          <p:cNvPr name="TextBox 7" id="7"/>
          <p:cNvSpPr txBox="true"/>
          <p:nvPr/>
        </p:nvSpPr>
        <p:spPr>
          <a:xfrm rot="0">
            <a:off x="1230978" y="6379972"/>
            <a:ext cx="697713" cy="626057"/>
          </a:xfrm>
          <a:prstGeom prst="rect">
            <a:avLst/>
          </a:prstGeom>
        </p:spPr>
        <p:txBody>
          <a:bodyPr anchor="t" rtlCol="false" tIns="0" lIns="0" bIns="0" rIns="0">
            <a:spAutoFit/>
          </a:bodyPr>
          <a:lstStyle/>
          <a:p>
            <a:pPr algn="ctr">
              <a:lnSpc>
                <a:spcPts val="4719"/>
              </a:lnSpc>
            </a:pPr>
            <a:r>
              <a:rPr lang="en-US" sz="4719" spc="-84">
                <a:solidFill>
                  <a:srgbClr val="24497B"/>
                </a:solidFill>
                <a:latin typeface="Anton"/>
                <a:ea typeface="Anton"/>
                <a:cs typeface="Anton"/>
                <a:sym typeface="Anton"/>
              </a:rPr>
              <a:t>01</a:t>
            </a:r>
          </a:p>
        </p:txBody>
      </p:sp>
      <p:sp>
        <p:nvSpPr>
          <p:cNvPr name="TextBox 8" id="8"/>
          <p:cNvSpPr txBox="true"/>
          <p:nvPr/>
        </p:nvSpPr>
        <p:spPr>
          <a:xfrm rot="0">
            <a:off x="1028700" y="7442619"/>
            <a:ext cx="2972440" cy="747634"/>
          </a:xfrm>
          <a:prstGeom prst="rect">
            <a:avLst/>
          </a:prstGeom>
        </p:spPr>
        <p:txBody>
          <a:bodyPr anchor="t" rtlCol="false" tIns="0" lIns="0" bIns="0" rIns="0">
            <a:spAutoFit/>
          </a:bodyPr>
          <a:lstStyle/>
          <a:p>
            <a:pPr algn="l">
              <a:lnSpc>
                <a:spcPts val="2943"/>
              </a:lnSpc>
            </a:pPr>
            <a:r>
              <a:rPr lang="en-US" sz="2943" spc="-52">
                <a:solidFill>
                  <a:srgbClr val="FFFFFF"/>
                </a:solidFill>
                <a:latin typeface="Anton"/>
                <a:ea typeface="Anton"/>
                <a:cs typeface="Anton"/>
                <a:sym typeface="Anton"/>
              </a:rPr>
              <a:t>Generar contenido inspirador</a:t>
            </a:r>
          </a:p>
        </p:txBody>
      </p:sp>
      <p:sp>
        <p:nvSpPr>
          <p:cNvPr name="TextBox 9" id="9"/>
          <p:cNvSpPr txBox="true"/>
          <p:nvPr/>
        </p:nvSpPr>
        <p:spPr>
          <a:xfrm rot="0">
            <a:off x="1028700" y="8265008"/>
            <a:ext cx="2832014" cy="550365"/>
          </a:xfrm>
          <a:prstGeom prst="rect">
            <a:avLst/>
          </a:prstGeom>
        </p:spPr>
        <p:txBody>
          <a:bodyPr anchor="t" rtlCol="false" tIns="0" lIns="0" bIns="0" rIns="0">
            <a:spAutoFit/>
          </a:bodyPr>
          <a:lstStyle/>
          <a:p>
            <a:pPr algn="l">
              <a:lnSpc>
                <a:spcPts val="2214"/>
              </a:lnSpc>
            </a:pPr>
            <a:r>
              <a:rPr lang="en-US" sz="1581">
                <a:solidFill>
                  <a:srgbClr val="FFFFFF"/>
                </a:solidFill>
                <a:latin typeface="Inter"/>
                <a:ea typeface="Inter"/>
                <a:cs typeface="Inter"/>
                <a:sym typeface="Inter"/>
              </a:rPr>
              <a:t>En redes sociales, mostrando lifestyle real.</a:t>
            </a:r>
          </a:p>
        </p:txBody>
      </p:sp>
      <p:grpSp>
        <p:nvGrpSpPr>
          <p:cNvPr name="Group 10" id="10"/>
          <p:cNvGrpSpPr/>
          <p:nvPr/>
        </p:nvGrpSpPr>
        <p:grpSpPr>
          <a:xfrm rot="0">
            <a:off x="5181338" y="6099003"/>
            <a:ext cx="1102269" cy="110226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l">
                <a:lnSpc>
                  <a:spcPts val="2659"/>
                </a:lnSpc>
              </a:pPr>
            </a:p>
          </p:txBody>
        </p:sp>
      </p:grpSp>
      <p:sp>
        <p:nvSpPr>
          <p:cNvPr name="TextBox 13" id="13"/>
          <p:cNvSpPr txBox="true"/>
          <p:nvPr/>
        </p:nvSpPr>
        <p:spPr>
          <a:xfrm rot="0">
            <a:off x="5383616" y="6379972"/>
            <a:ext cx="697713" cy="626057"/>
          </a:xfrm>
          <a:prstGeom prst="rect">
            <a:avLst/>
          </a:prstGeom>
        </p:spPr>
        <p:txBody>
          <a:bodyPr anchor="t" rtlCol="false" tIns="0" lIns="0" bIns="0" rIns="0">
            <a:spAutoFit/>
          </a:bodyPr>
          <a:lstStyle/>
          <a:p>
            <a:pPr algn="ctr">
              <a:lnSpc>
                <a:spcPts val="4719"/>
              </a:lnSpc>
            </a:pPr>
            <a:r>
              <a:rPr lang="en-US" sz="4719" spc="-84">
                <a:solidFill>
                  <a:srgbClr val="24497B"/>
                </a:solidFill>
                <a:latin typeface="Anton"/>
                <a:ea typeface="Anton"/>
                <a:cs typeface="Anton"/>
                <a:sym typeface="Anton"/>
              </a:rPr>
              <a:t>02</a:t>
            </a:r>
          </a:p>
        </p:txBody>
      </p:sp>
      <p:sp>
        <p:nvSpPr>
          <p:cNvPr name="TextBox 14" id="14"/>
          <p:cNvSpPr txBox="true"/>
          <p:nvPr/>
        </p:nvSpPr>
        <p:spPr>
          <a:xfrm rot="0">
            <a:off x="5181338" y="7442619"/>
            <a:ext cx="2972440" cy="747634"/>
          </a:xfrm>
          <a:prstGeom prst="rect">
            <a:avLst/>
          </a:prstGeom>
        </p:spPr>
        <p:txBody>
          <a:bodyPr anchor="t" rtlCol="false" tIns="0" lIns="0" bIns="0" rIns="0">
            <a:spAutoFit/>
          </a:bodyPr>
          <a:lstStyle/>
          <a:p>
            <a:pPr algn="l">
              <a:lnSpc>
                <a:spcPts val="2943"/>
              </a:lnSpc>
            </a:pPr>
            <a:r>
              <a:rPr lang="en-US" sz="2943" spc="-52">
                <a:solidFill>
                  <a:srgbClr val="FFFFFF"/>
                </a:solidFill>
                <a:latin typeface="Anton"/>
                <a:ea typeface="Anton"/>
                <a:cs typeface="Anton"/>
                <a:sym typeface="Anton"/>
              </a:rPr>
              <a:t>Trabajar con influencers locales</a:t>
            </a:r>
          </a:p>
        </p:txBody>
      </p:sp>
      <p:sp>
        <p:nvSpPr>
          <p:cNvPr name="TextBox 15" id="15"/>
          <p:cNvSpPr txBox="true"/>
          <p:nvPr/>
        </p:nvSpPr>
        <p:spPr>
          <a:xfrm rot="0">
            <a:off x="5181338" y="8265008"/>
            <a:ext cx="2832014" cy="550365"/>
          </a:xfrm>
          <a:prstGeom prst="rect">
            <a:avLst/>
          </a:prstGeom>
        </p:spPr>
        <p:txBody>
          <a:bodyPr anchor="t" rtlCol="false" tIns="0" lIns="0" bIns="0" rIns="0">
            <a:spAutoFit/>
          </a:bodyPr>
          <a:lstStyle/>
          <a:p>
            <a:pPr algn="l">
              <a:lnSpc>
                <a:spcPts val="2214"/>
              </a:lnSpc>
            </a:pPr>
            <a:r>
              <a:rPr lang="en-US" sz="1581">
                <a:solidFill>
                  <a:srgbClr val="FFFFFF"/>
                </a:solidFill>
                <a:latin typeface="Inter"/>
                <a:ea typeface="Inter"/>
                <a:cs typeface="Inter"/>
                <a:sym typeface="Inter"/>
              </a:rPr>
              <a:t>Que representen la filosofía de la marca.</a:t>
            </a:r>
          </a:p>
        </p:txBody>
      </p:sp>
      <p:grpSp>
        <p:nvGrpSpPr>
          <p:cNvPr name="Group 16" id="16"/>
          <p:cNvGrpSpPr/>
          <p:nvPr/>
        </p:nvGrpSpPr>
        <p:grpSpPr>
          <a:xfrm rot="0">
            <a:off x="9475696" y="6099003"/>
            <a:ext cx="1102269" cy="110226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l">
                <a:lnSpc>
                  <a:spcPts val="2659"/>
                </a:lnSpc>
              </a:pPr>
            </a:p>
          </p:txBody>
        </p:sp>
      </p:grpSp>
      <p:sp>
        <p:nvSpPr>
          <p:cNvPr name="TextBox 19" id="19"/>
          <p:cNvSpPr txBox="true"/>
          <p:nvPr/>
        </p:nvSpPr>
        <p:spPr>
          <a:xfrm rot="0">
            <a:off x="9677974" y="6379972"/>
            <a:ext cx="697713" cy="626057"/>
          </a:xfrm>
          <a:prstGeom prst="rect">
            <a:avLst/>
          </a:prstGeom>
        </p:spPr>
        <p:txBody>
          <a:bodyPr anchor="t" rtlCol="false" tIns="0" lIns="0" bIns="0" rIns="0">
            <a:spAutoFit/>
          </a:bodyPr>
          <a:lstStyle/>
          <a:p>
            <a:pPr algn="ctr">
              <a:lnSpc>
                <a:spcPts val="4719"/>
              </a:lnSpc>
            </a:pPr>
            <a:r>
              <a:rPr lang="en-US" sz="4719" spc="-84">
                <a:solidFill>
                  <a:srgbClr val="24497B"/>
                </a:solidFill>
                <a:latin typeface="Anton"/>
                <a:ea typeface="Anton"/>
                <a:cs typeface="Anton"/>
                <a:sym typeface="Anton"/>
              </a:rPr>
              <a:t>03</a:t>
            </a:r>
          </a:p>
        </p:txBody>
      </p:sp>
      <p:sp>
        <p:nvSpPr>
          <p:cNvPr name="TextBox 20" id="20"/>
          <p:cNvSpPr txBox="true"/>
          <p:nvPr/>
        </p:nvSpPr>
        <p:spPr>
          <a:xfrm rot="0">
            <a:off x="9475696" y="7442619"/>
            <a:ext cx="2972440" cy="747634"/>
          </a:xfrm>
          <a:prstGeom prst="rect">
            <a:avLst/>
          </a:prstGeom>
        </p:spPr>
        <p:txBody>
          <a:bodyPr anchor="t" rtlCol="false" tIns="0" lIns="0" bIns="0" rIns="0">
            <a:spAutoFit/>
          </a:bodyPr>
          <a:lstStyle/>
          <a:p>
            <a:pPr algn="l">
              <a:lnSpc>
                <a:spcPts val="2943"/>
              </a:lnSpc>
            </a:pPr>
            <a:r>
              <a:rPr lang="en-US" sz="2943" spc="-52">
                <a:solidFill>
                  <a:srgbClr val="FFFFFF"/>
                </a:solidFill>
                <a:latin typeface="Anton"/>
                <a:ea typeface="Anton"/>
                <a:cs typeface="Anton"/>
                <a:sym typeface="Anton"/>
              </a:rPr>
              <a:t>Crear experiencias memorables</a:t>
            </a:r>
          </a:p>
        </p:txBody>
      </p:sp>
      <p:sp>
        <p:nvSpPr>
          <p:cNvPr name="TextBox 21" id="21"/>
          <p:cNvSpPr txBox="true"/>
          <p:nvPr/>
        </p:nvSpPr>
        <p:spPr>
          <a:xfrm rot="0">
            <a:off x="9475696" y="8265008"/>
            <a:ext cx="2832014" cy="550365"/>
          </a:xfrm>
          <a:prstGeom prst="rect">
            <a:avLst/>
          </a:prstGeom>
        </p:spPr>
        <p:txBody>
          <a:bodyPr anchor="t" rtlCol="false" tIns="0" lIns="0" bIns="0" rIns="0">
            <a:spAutoFit/>
          </a:bodyPr>
          <a:lstStyle/>
          <a:p>
            <a:pPr algn="l">
              <a:lnSpc>
                <a:spcPts val="2214"/>
              </a:lnSpc>
            </a:pPr>
            <a:r>
              <a:rPr lang="en-US" sz="1581">
                <a:solidFill>
                  <a:srgbClr val="FFFFFF"/>
                </a:solidFill>
                <a:latin typeface="Inter"/>
                <a:ea typeface="Inter"/>
                <a:cs typeface="Inter"/>
                <a:sym typeface="Inter"/>
              </a:rPr>
              <a:t>Eventos, kits personalizados, colaboraciones.</a:t>
            </a:r>
          </a:p>
        </p:txBody>
      </p:sp>
      <p:grpSp>
        <p:nvGrpSpPr>
          <p:cNvPr name="Group 22" id="22"/>
          <p:cNvGrpSpPr/>
          <p:nvPr/>
        </p:nvGrpSpPr>
        <p:grpSpPr>
          <a:xfrm rot="0">
            <a:off x="13770054" y="6099003"/>
            <a:ext cx="1102269" cy="1102269"/>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4" id="24"/>
            <p:cNvSpPr txBox="true"/>
            <p:nvPr/>
          </p:nvSpPr>
          <p:spPr>
            <a:xfrm>
              <a:off x="76200" y="19050"/>
              <a:ext cx="660400" cy="717550"/>
            </a:xfrm>
            <a:prstGeom prst="rect">
              <a:avLst/>
            </a:prstGeom>
          </p:spPr>
          <p:txBody>
            <a:bodyPr anchor="ctr" rtlCol="false" tIns="50800" lIns="50800" bIns="50800" rIns="50800"/>
            <a:lstStyle/>
            <a:p>
              <a:pPr algn="l">
                <a:lnSpc>
                  <a:spcPts val="2659"/>
                </a:lnSpc>
              </a:pPr>
            </a:p>
          </p:txBody>
        </p:sp>
      </p:grpSp>
      <p:sp>
        <p:nvSpPr>
          <p:cNvPr name="TextBox 25" id="25"/>
          <p:cNvSpPr txBox="true"/>
          <p:nvPr/>
        </p:nvSpPr>
        <p:spPr>
          <a:xfrm rot="0">
            <a:off x="13972332" y="6379972"/>
            <a:ext cx="697713" cy="626057"/>
          </a:xfrm>
          <a:prstGeom prst="rect">
            <a:avLst/>
          </a:prstGeom>
        </p:spPr>
        <p:txBody>
          <a:bodyPr anchor="t" rtlCol="false" tIns="0" lIns="0" bIns="0" rIns="0">
            <a:spAutoFit/>
          </a:bodyPr>
          <a:lstStyle/>
          <a:p>
            <a:pPr algn="ctr">
              <a:lnSpc>
                <a:spcPts val="4719"/>
              </a:lnSpc>
            </a:pPr>
            <a:r>
              <a:rPr lang="en-US" sz="4719" spc="-84">
                <a:solidFill>
                  <a:srgbClr val="24497B"/>
                </a:solidFill>
                <a:latin typeface="Anton"/>
                <a:ea typeface="Anton"/>
                <a:cs typeface="Anton"/>
                <a:sym typeface="Anton"/>
              </a:rPr>
              <a:t>04</a:t>
            </a:r>
          </a:p>
        </p:txBody>
      </p:sp>
      <p:sp>
        <p:nvSpPr>
          <p:cNvPr name="TextBox 26" id="26"/>
          <p:cNvSpPr txBox="true"/>
          <p:nvPr/>
        </p:nvSpPr>
        <p:spPr>
          <a:xfrm rot="0">
            <a:off x="13770054" y="7442619"/>
            <a:ext cx="3489246" cy="747634"/>
          </a:xfrm>
          <a:prstGeom prst="rect">
            <a:avLst/>
          </a:prstGeom>
        </p:spPr>
        <p:txBody>
          <a:bodyPr anchor="t" rtlCol="false" tIns="0" lIns="0" bIns="0" rIns="0">
            <a:spAutoFit/>
          </a:bodyPr>
          <a:lstStyle/>
          <a:p>
            <a:pPr algn="l">
              <a:lnSpc>
                <a:spcPts val="2943"/>
              </a:lnSpc>
            </a:pPr>
            <a:r>
              <a:rPr lang="en-US" sz="2943" spc="-52">
                <a:solidFill>
                  <a:srgbClr val="FFFFFF"/>
                </a:solidFill>
                <a:latin typeface="Anton"/>
                <a:ea typeface="Anton"/>
                <a:cs typeface="Anton"/>
                <a:sym typeface="Anton"/>
              </a:rPr>
              <a:t>Fomentar la comunidad activamente</a:t>
            </a:r>
          </a:p>
        </p:txBody>
      </p:sp>
      <p:sp>
        <p:nvSpPr>
          <p:cNvPr name="TextBox 27" id="27"/>
          <p:cNvSpPr txBox="true"/>
          <p:nvPr/>
        </p:nvSpPr>
        <p:spPr>
          <a:xfrm rot="0">
            <a:off x="13770054" y="8265008"/>
            <a:ext cx="2832014" cy="550365"/>
          </a:xfrm>
          <a:prstGeom prst="rect">
            <a:avLst/>
          </a:prstGeom>
        </p:spPr>
        <p:txBody>
          <a:bodyPr anchor="t" rtlCol="false" tIns="0" lIns="0" bIns="0" rIns="0">
            <a:spAutoFit/>
          </a:bodyPr>
          <a:lstStyle/>
          <a:p>
            <a:pPr algn="l">
              <a:lnSpc>
                <a:spcPts val="2214"/>
              </a:lnSpc>
            </a:pPr>
            <a:r>
              <a:rPr lang="en-US" sz="1581">
                <a:solidFill>
                  <a:srgbClr val="FFFFFF"/>
                </a:solidFill>
                <a:latin typeface="Inter"/>
                <a:ea typeface="Inter"/>
                <a:cs typeface="Inter"/>
                <a:sym typeface="Inter"/>
              </a:rPr>
              <a:t>Invitando a los clientes a ser parte de la marca.</a:t>
            </a:r>
          </a:p>
        </p:txBody>
      </p:sp>
      <p:grpSp>
        <p:nvGrpSpPr>
          <p:cNvPr name="Group 28" id="28"/>
          <p:cNvGrpSpPr/>
          <p:nvPr/>
        </p:nvGrpSpPr>
        <p:grpSpPr>
          <a:xfrm rot="0">
            <a:off x="12583732" y="1028700"/>
            <a:ext cx="4675568" cy="3995862"/>
            <a:chOff x="0" y="0"/>
            <a:chExt cx="955596" cy="816677"/>
          </a:xfrm>
        </p:grpSpPr>
        <p:sp>
          <p:nvSpPr>
            <p:cNvPr name="Freeform 29" id="29"/>
            <p:cNvSpPr/>
            <p:nvPr/>
          </p:nvSpPr>
          <p:spPr>
            <a:xfrm flipH="false" flipV="false" rot="0">
              <a:off x="0" y="0"/>
              <a:ext cx="955596" cy="816677"/>
            </a:xfrm>
            <a:custGeom>
              <a:avLst/>
              <a:gdLst/>
              <a:ahLst/>
              <a:cxnLst/>
              <a:rect r="r" b="b" t="t" l="l"/>
              <a:pathLst>
                <a:path h="816677" w="955596">
                  <a:moveTo>
                    <a:pt x="0" y="0"/>
                  </a:moveTo>
                  <a:lnTo>
                    <a:pt x="955596" y="0"/>
                  </a:lnTo>
                  <a:lnTo>
                    <a:pt x="955596" y="816677"/>
                  </a:lnTo>
                  <a:lnTo>
                    <a:pt x="0" y="816677"/>
                  </a:lnTo>
                  <a:close/>
                </a:path>
              </a:pathLst>
            </a:custGeom>
            <a:blipFill>
              <a:blip r:embed="rId2"/>
              <a:stretch>
                <a:fillRect l="0" t="-37812" r="0" b="-37812"/>
              </a:stretch>
            </a:blipFill>
          </p:spPr>
        </p:sp>
      </p:grpSp>
    </p:spTree>
  </p:cSld>
  <p:clrMapOvr>
    <a:masterClrMapping/>
  </p:clrMapOvr>
</p:sld>
</file>

<file path=ppt/slides/slide27.xml><?xml version="1.0" encoding="utf-8"?>
<p:sld xmlns:p="http://schemas.openxmlformats.org/presentationml/2006/main" xmlns:a="http://schemas.openxmlformats.org/drawingml/2006/main">
  <p:cSld>
    <p:bg>
      <p:bgPr>
        <a:solidFill>
          <a:srgbClr val="24497B"/>
        </a:solidFill>
      </p:bgPr>
    </p:bg>
    <p:spTree>
      <p:nvGrpSpPr>
        <p:cNvPr id="1" name=""/>
        <p:cNvGrpSpPr/>
        <p:nvPr/>
      </p:nvGrpSpPr>
      <p:grpSpPr>
        <a:xfrm>
          <a:off x="0" y="0"/>
          <a:ext cx="0" cy="0"/>
          <a:chOff x="0" y="0"/>
          <a:chExt cx="0" cy="0"/>
        </a:xfrm>
      </p:grpSpPr>
      <p:sp>
        <p:nvSpPr>
          <p:cNvPr name="TextBox 2" id="2"/>
          <p:cNvSpPr txBox="true"/>
          <p:nvPr/>
        </p:nvSpPr>
        <p:spPr>
          <a:xfrm rot="0">
            <a:off x="1028700" y="2461475"/>
            <a:ext cx="9044934" cy="5640275"/>
          </a:xfrm>
          <a:prstGeom prst="rect">
            <a:avLst/>
          </a:prstGeom>
        </p:spPr>
        <p:txBody>
          <a:bodyPr anchor="t" rtlCol="false" tIns="0" lIns="0" bIns="0" rIns="0">
            <a:spAutoFit/>
          </a:bodyPr>
          <a:lstStyle/>
          <a:p>
            <a:pPr algn="l">
              <a:lnSpc>
                <a:spcPts val="14615"/>
              </a:lnSpc>
            </a:pPr>
            <a:r>
              <a:rPr lang="en-US" sz="14615" spc="-263">
                <a:solidFill>
                  <a:srgbClr val="FFFFFF"/>
                </a:solidFill>
                <a:latin typeface="Anton"/>
                <a:ea typeface="Anton"/>
                <a:cs typeface="Anton"/>
                <a:sym typeface="Anton"/>
              </a:rPr>
              <a:t>LO QUE </a:t>
            </a:r>
            <a:r>
              <a:rPr lang="en-US" sz="14615" spc="-263">
                <a:solidFill>
                  <a:srgbClr val="FFFFFF"/>
                </a:solidFill>
                <a:latin typeface="Anton"/>
                <a:ea typeface="Anton"/>
                <a:cs typeface="Anton"/>
                <a:sym typeface="Anton"/>
              </a:rPr>
              <a:t>Esperamos Lograr</a:t>
            </a:r>
          </a:p>
        </p:txBody>
      </p:sp>
      <p:sp>
        <p:nvSpPr>
          <p:cNvPr name="AutoShape 3" id="3"/>
          <p:cNvSpPr/>
          <p:nvPr/>
        </p:nvSpPr>
        <p:spPr>
          <a:xfrm flipH="true" flipV="true">
            <a:off x="11802706" y="1624822"/>
            <a:ext cx="19050" cy="6762234"/>
          </a:xfrm>
          <a:prstGeom prst="line">
            <a:avLst/>
          </a:prstGeom>
          <a:ln cap="flat" w="38100">
            <a:solidFill>
              <a:srgbClr val="FFFFFF"/>
            </a:solidFill>
            <a:prstDash val="solid"/>
            <a:headEnd type="oval" len="lg" w="lg"/>
            <a:tailEnd type="oval" len="lg" w="lg"/>
          </a:ln>
        </p:spPr>
      </p:sp>
      <p:grpSp>
        <p:nvGrpSpPr>
          <p:cNvPr name="Group 4" id="4"/>
          <p:cNvGrpSpPr/>
          <p:nvPr/>
        </p:nvGrpSpPr>
        <p:grpSpPr>
          <a:xfrm rot="0">
            <a:off x="11132839" y="2221635"/>
            <a:ext cx="1301634" cy="130163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2713850" y="2324253"/>
            <a:ext cx="3510060"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En 6 meses</a:t>
            </a:r>
          </a:p>
        </p:txBody>
      </p:sp>
      <p:sp>
        <p:nvSpPr>
          <p:cNvPr name="TextBox 8" id="8"/>
          <p:cNvSpPr txBox="true"/>
          <p:nvPr/>
        </p:nvSpPr>
        <p:spPr>
          <a:xfrm rot="0">
            <a:off x="12713850" y="2835058"/>
            <a:ext cx="3885699" cy="652269"/>
          </a:xfrm>
          <a:prstGeom prst="rect">
            <a:avLst/>
          </a:prstGeom>
        </p:spPr>
        <p:txBody>
          <a:bodyPr anchor="t" rtlCol="false" tIns="0" lIns="0" bIns="0" rIns="0">
            <a:spAutoFit/>
          </a:bodyPr>
          <a:lstStyle/>
          <a:p>
            <a:pPr algn="l">
              <a:lnSpc>
                <a:spcPts val="2615"/>
              </a:lnSpc>
            </a:pPr>
            <a:r>
              <a:rPr lang="en-US" sz="1867">
                <a:solidFill>
                  <a:srgbClr val="FFFFFF"/>
                </a:solidFill>
                <a:latin typeface="Inter"/>
                <a:ea typeface="Inter"/>
                <a:cs typeface="Inter"/>
                <a:sym typeface="Inter"/>
              </a:rPr>
              <a:t>Consolidar una comunidad activa alrededor de la propuesta.</a:t>
            </a:r>
          </a:p>
        </p:txBody>
      </p:sp>
      <p:sp>
        <p:nvSpPr>
          <p:cNvPr name="TextBox 9" id="9"/>
          <p:cNvSpPr txBox="true"/>
          <p:nvPr/>
        </p:nvSpPr>
        <p:spPr>
          <a:xfrm rot="0">
            <a:off x="11277485" y="2573319"/>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01</a:t>
            </a:r>
          </a:p>
        </p:txBody>
      </p:sp>
      <p:grpSp>
        <p:nvGrpSpPr>
          <p:cNvPr name="Group 10" id="10"/>
          <p:cNvGrpSpPr/>
          <p:nvPr/>
        </p:nvGrpSpPr>
        <p:grpSpPr>
          <a:xfrm rot="0">
            <a:off x="11132839" y="4344892"/>
            <a:ext cx="1301634" cy="130163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2713850" y="4447509"/>
            <a:ext cx="3510060"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En 12 meses</a:t>
            </a:r>
          </a:p>
        </p:txBody>
      </p:sp>
      <p:sp>
        <p:nvSpPr>
          <p:cNvPr name="TextBox 14" id="14"/>
          <p:cNvSpPr txBox="true"/>
          <p:nvPr/>
        </p:nvSpPr>
        <p:spPr>
          <a:xfrm rot="0">
            <a:off x="12713850" y="4958314"/>
            <a:ext cx="3885699" cy="652269"/>
          </a:xfrm>
          <a:prstGeom prst="rect">
            <a:avLst/>
          </a:prstGeom>
        </p:spPr>
        <p:txBody>
          <a:bodyPr anchor="t" rtlCol="false" tIns="0" lIns="0" bIns="0" rIns="0">
            <a:spAutoFit/>
          </a:bodyPr>
          <a:lstStyle/>
          <a:p>
            <a:pPr algn="l">
              <a:lnSpc>
                <a:spcPts val="2615"/>
              </a:lnSpc>
            </a:pPr>
            <a:r>
              <a:rPr lang="en-US" sz="1867">
                <a:solidFill>
                  <a:srgbClr val="FFFFFF"/>
                </a:solidFill>
                <a:latin typeface="Inter"/>
                <a:ea typeface="Inter"/>
                <a:cs typeface="Inter"/>
                <a:sym typeface="Inter"/>
              </a:rPr>
              <a:t>Aumentar el alcance digital y duplicar la base de clientes.</a:t>
            </a:r>
          </a:p>
        </p:txBody>
      </p:sp>
      <p:sp>
        <p:nvSpPr>
          <p:cNvPr name="TextBox 15" id="15"/>
          <p:cNvSpPr txBox="true"/>
          <p:nvPr/>
        </p:nvSpPr>
        <p:spPr>
          <a:xfrm rot="0">
            <a:off x="11277485" y="4696575"/>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02</a:t>
            </a:r>
          </a:p>
        </p:txBody>
      </p:sp>
      <p:grpSp>
        <p:nvGrpSpPr>
          <p:cNvPr name="Group 16" id="16"/>
          <p:cNvGrpSpPr/>
          <p:nvPr/>
        </p:nvGrpSpPr>
        <p:grpSpPr>
          <a:xfrm rot="0">
            <a:off x="11132839" y="6473629"/>
            <a:ext cx="1301634" cy="130163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2713850" y="6576246"/>
            <a:ext cx="3510060" cy="459372"/>
          </a:xfrm>
          <a:prstGeom prst="rect">
            <a:avLst/>
          </a:prstGeom>
        </p:spPr>
        <p:txBody>
          <a:bodyPr anchor="t" rtlCol="false" tIns="0" lIns="0" bIns="0" rIns="0">
            <a:spAutoFit/>
          </a:bodyPr>
          <a:lstStyle/>
          <a:p>
            <a:pPr algn="l">
              <a:lnSpc>
                <a:spcPts val="3476"/>
              </a:lnSpc>
            </a:pPr>
            <a:r>
              <a:rPr lang="en-US" sz="3476" spc="-62">
                <a:solidFill>
                  <a:srgbClr val="FFFFFF"/>
                </a:solidFill>
                <a:latin typeface="Anton"/>
                <a:ea typeface="Anton"/>
                <a:cs typeface="Anton"/>
                <a:sym typeface="Anton"/>
              </a:rPr>
              <a:t>Largo plazo</a:t>
            </a:r>
          </a:p>
        </p:txBody>
      </p:sp>
      <p:sp>
        <p:nvSpPr>
          <p:cNvPr name="TextBox 20" id="20"/>
          <p:cNvSpPr txBox="true"/>
          <p:nvPr/>
        </p:nvSpPr>
        <p:spPr>
          <a:xfrm rot="0">
            <a:off x="12713850" y="7087051"/>
            <a:ext cx="3885699" cy="978314"/>
          </a:xfrm>
          <a:prstGeom prst="rect">
            <a:avLst/>
          </a:prstGeom>
        </p:spPr>
        <p:txBody>
          <a:bodyPr anchor="t" rtlCol="false" tIns="0" lIns="0" bIns="0" rIns="0">
            <a:spAutoFit/>
          </a:bodyPr>
          <a:lstStyle/>
          <a:p>
            <a:pPr algn="l">
              <a:lnSpc>
                <a:spcPts val="2615"/>
              </a:lnSpc>
            </a:pPr>
            <a:r>
              <a:rPr lang="en-US" sz="1867">
                <a:solidFill>
                  <a:srgbClr val="FFFFFF"/>
                </a:solidFill>
                <a:latin typeface="Inter"/>
                <a:ea typeface="Inter"/>
                <a:cs typeface="Inter"/>
                <a:sym typeface="Inter"/>
              </a:rPr>
              <a:t>Posicionarnos como referentes en el mercado local, con expansión a nivel nacional.</a:t>
            </a:r>
          </a:p>
        </p:txBody>
      </p:sp>
      <p:sp>
        <p:nvSpPr>
          <p:cNvPr name="TextBox 21" id="21"/>
          <p:cNvSpPr txBox="true"/>
          <p:nvPr/>
        </p:nvSpPr>
        <p:spPr>
          <a:xfrm rot="0">
            <a:off x="11277485" y="6825312"/>
            <a:ext cx="1012342" cy="733029"/>
          </a:xfrm>
          <a:prstGeom prst="rect">
            <a:avLst/>
          </a:prstGeom>
        </p:spPr>
        <p:txBody>
          <a:bodyPr anchor="t" rtlCol="false" tIns="0" lIns="0" bIns="0" rIns="0">
            <a:spAutoFit/>
          </a:bodyPr>
          <a:lstStyle/>
          <a:p>
            <a:pPr algn="ctr">
              <a:lnSpc>
                <a:spcPts val="5573"/>
              </a:lnSpc>
            </a:pPr>
            <a:r>
              <a:rPr lang="en-US" sz="5573" spc="-100">
                <a:solidFill>
                  <a:srgbClr val="24497B"/>
                </a:solidFill>
                <a:latin typeface="Anton"/>
                <a:ea typeface="Anton"/>
                <a:cs typeface="Anton"/>
                <a:sym typeface="Anton"/>
              </a:rPr>
              <a:t>03</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grpSp>
        <p:nvGrpSpPr>
          <p:cNvPr name="Group 5" id="5"/>
          <p:cNvGrpSpPr/>
          <p:nvPr/>
        </p:nvGrpSpPr>
        <p:grpSpPr>
          <a:xfrm rot="0">
            <a:off x="9754995" y="1699116"/>
            <a:ext cx="6974737" cy="6888768"/>
            <a:chOff x="0" y="0"/>
            <a:chExt cx="955596" cy="943818"/>
          </a:xfrm>
        </p:grpSpPr>
        <p:sp>
          <p:nvSpPr>
            <p:cNvPr name="Freeform 6" id="6"/>
            <p:cNvSpPr/>
            <p:nvPr/>
          </p:nvSpPr>
          <p:spPr>
            <a:xfrm flipH="false" flipV="false" rot="0">
              <a:off x="0" y="0"/>
              <a:ext cx="955596" cy="943818"/>
            </a:xfrm>
            <a:custGeom>
              <a:avLst/>
              <a:gdLst/>
              <a:ahLst/>
              <a:cxnLst/>
              <a:rect r="r" b="b" t="t" l="l"/>
              <a:pathLst>
                <a:path h="943818" w="955596">
                  <a:moveTo>
                    <a:pt x="0" y="0"/>
                  </a:moveTo>
                  <a:lnTo>
                    <a:pt x="955596" y="0"/>
                  </a:lnTo>
                  <a:lnTo>
                    <a:pt x="955596" y="943818"/>
                  </a:lnTo>
                  <a:lnTo>
                    <a:pt x="0" y="943818"/>
                  </a:lnTo>
                  <a:close/>
                </a:path>
              </a:pathLst>
            </a:custGeom>
            <a:blipFill>
              <a:blip r:embed="rId2"/>
              <a:stretch>
                <a:fillRect l="-28666" t="0" r="-19856" b="0"/>
              </a:stretch>
            </a:blipFill>
          </p:spPr>
        </p:sp>
      </p:grpSp>
      <p:sp>
        <p:nvSpPr>
          <p:cNvPr name="TextBox 7" id="7"/>
          <p:cNvSpPr txBox="true"/>
          <p:nvPr/>
        </p:nvSpPr>
        <p:spPr>
          <a:xfrm rot="0">
            <a:off x="1028700" y="2143370"/>
            <a:ext cx="7235640" cy="2951794"/>
          </a:xfrm>
          <a:prstGeom prst="rect">
            <a:avLst/>
          </a:prstGeom>
        </p:spPr>
        <p:txBody>
          <a:bodyPr anchor="t" rtlCol="false" tIns="0" lIns="0" bIns="0" rIns="0">
            <a:spAutoFit/>
          </a:bodyPr>
          <a:lstStyle/>
          <a:p>
            <a:pPr algn="l">
              <a:lnSpc>
                <a:spcPts val="7668"/>
              </a:lnSpc>
            </a:pPr>
            <a:r>
              <a:rPr lang="en-US" sz="7668" spc="-138">
                <a:solidFill>
                  <a:srgbClr val="24497B"/>
                </a:solidFill>
                <a:latin typeface="Anton"/>
                <a:ea typeface="Anton"/>
                <a:cs typeface="Anton"/>
                <a:sym typeface="Anton"/>
              </a:rPr>
              <a:t>NOS ENCANTARÍA SUMAR A TU MARCA EN ESTE CAMINO.</a:t>
            </a:r>
          </a:p>
        </p:txBody>
      </p:sp>
      <p:grpSp>
        <p:nvGrpSpPr>
          <p:cNvPr name="Group 8" id="8"/>
          <p:cNvGrpSpPr/>
          <p:nvPr/>
        </p:nvGrpSpPr>
        <p:grpSpPr>
          <a:xfrm rot="0">
            <a:off x="1028700" y="5724138"/>
            <a:ext cx="717514" cy="717514"/>
            <a:chOff x="0" y="0"/>
            <a:chExt cx="956685" cy="956685"/>
          </a:xfrm>
        </p:grpSpPr>
        <p:grpSp>
          <p:nvGrpSpPr>
            <p:cNvPr name="Group 9" id="9"/>
            <p:cNvGrpSpPr/>
            <p:nvPr/>
          </p:nvGrpSpPr>
          <p:grpSpPr>
            <a:xfrm rot="0">
              <a:off x="0" y="0"/>
              <a:ext cx="956685" cy="956685"/>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4497B"/>
              </a:solidFill>
            </p:spPr>
          </p:sp>
        </p:grpSp>
        <p:sp>
          <p:nvSpPr>
            <p:cNvPr name="Freeform 11" id="11"/>
            <p:cNvSpPr/>
            <p:nvPr/>
          </p:nvSpPr>
          <p:spPr>
            <a:xfrm flipH="false" flipV="false" rot="0">
              <a:off x="200652" y="200652"/>
              <a:ext cx="555382" cy="555382"/>
            </a:xfrm>
            <a:custGeom>
              <a:avLst/>
              <a:gdLst/>
              <a:ahLst/>
              <a:cxnLst/>
              <a:rect r="r" b="b" t="t" l="l"/>
              <a:pathLst>
                <a:path h="555382" w="555382">
                  <a:moveTo>
                    <a:pt x="0" y="0"/>
                  </a:moveTo>
                  <a:lnTo>
                    <a:pt x="555382" y="0"/>
                  </a:lnTo>
                  <a:lnTo>
                    <a:pt x="555382" y="555382"/>
                  </a:lnTo>
                  <a:lnTo>
                    <a:pt x="0" y="5553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12" id="12"/>
          <p:cNvGrpSpPr/>
          <p:nvPr/>
        </p:nvGrpSpPr>
        <p:grpSpPr>
          <a:xfrm rot="0">
            <a:off x="1028700" y="6652608"/>
            <a:ext cx="717514" cy="717514"/>
            <a:chOff x="0" y="0"/>
            <a:chExt cx="956685" cy="956685"/>
          </a:xfrm>
        </p:grpSpPr>
        <p:grpSp>
          <p:nvGrpSpPr>
            <p:cNvPr name="Group 13" id="13"/>
            <p:cNvGrpSpPr/>
            <p:nvPr/>
          </p:nvGrpSpPr>
          <p:grpSpPr>
            <a:xfrm rot="0">
              <a:off x="0" y="0"/>
              <a:ext cx="956685" cy="956685"/>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4497B"/>
              </a:solidFill>
            </p:spPr>
          </p:sp>
        </p:grpSp>
        <p:sp>
          <p:nvSpPr>
            <p:cNvPr name="Freeform 15" id="15"/>
            <p:cNvSpPr/>
            <p:nvPr/>
          </p:nvSpPr>
          <p:spPr>
            <a:xfrm flipH="false" flipV="false" rot="0">
              <a:off x="169899" y="258191"/>
              <a:ext cx="616888" cy="440304"/>
            </a:xfrm>
            <a:custGeom>
              <a:avLst/>
              <a:gdLst/>
              <a:ahLst/>
              <a:cxnLst/>
              <a:rect r="r" b="b" t="t" l="l"/>
              <a:pathLst>
                <a:path h="440304" w="616888">
                  <a:moveTo>
                    <a:pt x="0" y="0"/>
                  </a:moveTo>
                  <a:lnTo>
                    <a:pt x="616887" y="0"/>
                  </a:lnTo>
                  <a:lnTo>
                    <a:pt x="616887" y="440303"/>
                  </a:lnTo>
                  <a:lnTo>
                    <a:pt x="0" y="4403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6" id="16"/>
          <p:cNvGrpSpPr/>
          <p:nvPr/>
        </p:nvGrpSpPr>
        <p:grpSpPr>
          <a:xfrm rot="0">
            <a:off x="1028700" y="7578516"/>
            <a:ext cx="717514" cy="717514"/>
            <a:chOff x="0" y="0"/>
            <a:chExt cx="956685" cy="956685"/>
          </a:xfrm>
        </p:grpSpPr>
        <p:grpSp>
          <p:nvGrpSpPr>
            <p:cNvPr name="Group 17" id="17"/>
            <p:cNvGrpSpPr/>
            <p:nvPr/>
          </p:nvGrpSpPr>
          <p:grpSpPr>
            <a:xfrm rot="0">
              <a:off x="0" y="0"/>
              <a:ext cx="956685" cy="956685"/>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4497B"/>
              </a:solidFill>
            </p:spPr>
          </p:sp>
        </p:grpSp>
        <p:sp>
          <p:nvSpPr>
            <p:cNvPr name="Freeform 19" id="19"/>
            <p:cNvSpPr/>
            <p:nvPr/>
          </p:nvSpPr>
          <p:spPr>
            <a:xfrm flipH="false" flipV="false" rot="0">
              <a:off x="169899" y="159236"/>
              <a:ext cx="627191" cy="638213"/>
            </a:xfrm>
            <a:custGeom>
              <a:avLst/>
              <a:gdLst/>
              <a:ahLst/>
              <a:cxnLst/>
              <a:rect r="r" b="b" t="t" l="l"/>
              <a:pathLst>
                <a:path h="638213" w="627191">
                  <a:moveTo>
                    <a:pt x="0" y="0"/>
                  </a:moveTo>
                  <a:lnTo>
                    <a:pt x="627190" y="0"/>
                  </a:lnTo>
                  <a:lnTo>
                    <a:pt x="627190" y="638213"/>
                  </a:lnTo>
                  <a:lnTo>
                    <a:pt x="0" y="63821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TextBox 20" id="20"/>
          <p:cNvSpPr txBox="true"/>
          <p:nvPr/>
        </p:nvSpPr>
        <p:spPr>
          <a:xfrm rot="0">
            <a:off x="2035240" y="5926960"/>
            <a:ext cx="3146929" cy="323850"/>
          </a:xfrm>
          <a:prstGeom prst="rect">
            <a:avLst/>
          </a:prstGeom>
        </p:spPr>
        <p:txBody>
          <a:bodyPr anchor="t" rtlCol="false" tIns="0" lIns="0" bIns="0" rIns="0">
            <a:spAutoFit/>
          </a:bodyPr>
          <a:lstStyle/>
          <a:p>
            <a:pPr algn="l">
              <a:lnSpc>
                <a:spcPts val="2574"/>
              </a:lnSpc>
            </a:pPr>
            <a:r>
              <a:rPr lang="en-US" sz="2145">
                <a:solidFill>
                  <a:srgbClr val="24497B"/>
                </a:solidFill>
                <a:latin typeface="Inter"/>
                <a:ea typeface="Inter"/>
                <a:cs typeface="Inter"/>
                <a:sym typeface="Inter"/>
              </a:rPr>
              <a:t>(55) 1234-5678</a:t>
            </a:r>
          </a:p>
        </p:txBody>
      </p:sp>
      <p:sp>
        <p:nvSpPr>
          <p:cNvPr name="TextBox 21" id="21"/>
          <p:cNvSpPr txBox="true"/>
          <p:nvPr/>
        </p:nvSpPr>
        <p:spPr>
          <a:xfrm rot="0">
            <a:off x="2035240" y="6798626"/>
            <a:ext cx="3609601" cy="374125"/>
          </a:xfrm>
          <a:prstGeom prst="rect">
            <a:avLst/>
          </a:prstGeom>
        </p:spPr>
        <p:txBody>
          <a:bodyPr anchor="t" rtlCol="false" tIns="0" lIns="0" bIns="0" rIns="0">
            <a:spAutoFit/>
          </a:bodyPr>
          <a:lstStyle/>
          <a:p>
            <a:pPr algn="l">
              <a:lnSpc>
                <a:spcPts val="3003"/>
              </a:lnSpc>
            </a:pPr>
            <a:r>
              <a:rPr lang="en-US" sz="2145">
                <a:solidFill>
                  <a:srgbClr val="24497B"/>
                </a:solidFill>
                <a:latin typeface="Inter"/>
                <a:ea typeface="Inter"/>
                <a:cs typeface="Inter"/>
                <a:sym typeface="Inter"/>
              </a:rPr>
              <a:t>hola@sitioincreible.com</a:t>
            </a:r>
          </a:p>
        </p:txBody>
      </p:sp>
      <p:sp>
        <p:nvSpPr>
          <p:cNvPr name="TextBox 22" id="22"/>
          <p:cNvSpPr txBox="true"/>
          <p:nvPr/>
        </p:nvSpPr>
        <p:spPr>
          <a:xfrm rot="0">
            <a:off x="2035240" y="7724535"/>
            <a:ext cx="3609601" cy="374125"/>
          </a:xfrm>
          <a:prstGeom prst="rect">
            <a:avLst/>
          </a:prstGeom>
        </p:spPr>
        <p:txBody>
          <a:bodyPr anchor="t" rtlCol="false" tIns="0" lIns="0" bIns="0" rIns="0">
            <a:spAutoFit/>
          </a:bodyPr>
          <a:lstStyle/>
          <a:p>
            <a:pPr algn="l">
              <a:lnSpc>
                <a:spcPts val="3003"/>
              </a:lnSpc>
            </a:pPr>
            <a:r>
              <a:rPr lang="en-US" sz="2145">
                <a:solidFill>
                  <a:srgbClr val="24497B"/>
                </a:solidFill>
                <a:latin typeface="Inter"/>
                <a:ea typeface="Inter"/>
                <a:cs typeface="Inter"/>
                <a:sym typeface="Inter"/>
              </a:rPr>
              <a:t>www.sitioincreible.com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DAHGp1fDtGI</dc:identifier>
  <dcterms:modified xsi:type="dcterms:W3CDTF">2011-08-01T06:04:30Z</dcterms:modified>
  <cp:revision>1</cp:revision>
  <dc:title>Presentación Propuesta de Negocio Corporativo Azul y Blanco</dc:title>
</cp:coreProperties>
</file>