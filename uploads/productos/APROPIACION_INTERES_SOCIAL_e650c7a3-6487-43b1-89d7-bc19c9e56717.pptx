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8288000" cy="10287000"/>
  <p:notesSz cx="6858000" cy="9144000"/>
  <p:embeddedFontLst>
    <p:embeddedFont>
      <p:font typeface="Antonio" panose="020B0604020202020204" charset="0"/>
      <p:regular r:id="rId34"/>
    </p:embeddedFont>
    <p:embeddedFont>
      <p:font typeface="Antonio Bold" panose="020B0604020202020204" charset="0"/>
      <p:regular r:id="rId35"/>
    </p:embeddedFont>
    <p:embeddedFont>
      <p:font typeface="Montserrat" panose="00000500000000000000" pitchFamily="2" charset="0"/>
      <p:regular r:id="rId36"/>
    </p:embeddedFont>
    <p:embeddedFont>
      <p:font typeface="Poppins" panose="00000500000000000000" pitchFamily="2" charset="0"/>
      <p:regular r:id="rId37"/>
    </p:embeddedFont>
    <p:embeddedFont>
      <p:font typeface="Poppins Bold" panose="00000800000000000000" charset="0"/>
      <p:regular r:id="rId38"/>
    </p:embeddedFont>
    <p:embeddedFont>
      <p:font typeface="Poppins Italics" panose="020B0604020202020204" charset="0"/>
      <p:regular r:id="rId39"/>
    </p:embeddedFont>
    <p:embeddedFont>
      <p:font typeface="Poppins Light" panose="00000400000000000000" pitchFamily="2" charset="0"/>
      <p:regular r:id="rId40"/>
    </p:embeddedFont>
    <p:embeddedFont>
      <p:font typeface="Poppins Semi-Bold" panose="020B0604020202020204" charset="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portalucam" TargetMode="External"/><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www.youtube.com/@portalucam" TargetMode="External"/><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portalucam" TargetMode="External"/><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portalucam" TargetMode="External"/><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2.svg"/><Relationship Id="rId7" Type="http://schemas.openxmlformats.org/officeDocument/2006/relationships/image" Target="../media/image36.sv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8" Type="http://schemas.openxmlformats.org/officeDocument/2006/relationships/hyperlink" Target="https://prezi.com/p-fzm1t7nilg/puntos-de-casos-de-uso/" TargetMode="External"/><Relationship Id="rId3" Type="http://schemas.openxmlformats.org/officeDocument/2006/relationships/image" Target="../media/image38.svg"/><Relationship Id="rId7" Type="http://schemas.openxmlformats.org/officeDocument/2006/relationships/hyperlink" Target="https://asana.com/es/resources/project-scope" TargetMode="External"/><Relationship Id="rId2"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hyperlink" Target="https://dialnet.unirioja.es/descarga/articulo/8589877.pdf" TargetMode="External"/><Relationship Id="rId5" Type="http://schemas.openxmlformats.org/officeDocument/2006/relationships/hyperlink" Target="https://www.researchgate.net/publication/334307131_Las_Estimaciones_de_Tamano_en_Proyectos_de_Software_Los_Puntos_de_Funcion_por_Conrado_Estol_2018" TargetMode="External"/><Relationship Id="rId4" Type="http://schemas.openxmlformats.org/officeDocument/2006/relationships/hyperlink" Target="https://www.geeksforgeeks.org/software-engineering/software-engineering-project-size-estimation-techniques/" TargetMode="External"/></Relationships>
</file>

<file path=ppt/slides/_rels/slide32.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sv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2102696" y="1956866"/>
            <a:ext cx="5667487" cy="5286971"/>
          </a:xfrm>
          <a:custGeom>
            <a:avLst/>
            <a:gdLst/>
            <a:ahLst/>
            <a:cxnLst/>
            <a:rect l="l" t="t" r="r" b="b"/>
            <a:pathLst>
              <a:path w="5667487" h="5286971">
                <a:moveTo>
                  <a:pt x="0" y="0"/>
                </a:moveTo>
                <a:lnTo>
                  <a:pt x="5667487" y="0"/>
                </a:lnTo>
                <a:lnTo>
                  <a:pt x="5667487" y="5286972"/>
                </a:lnTo>
                <a:lnTo>
                  <a:pt x="0" y="52869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544320" y="3197484"/>
            <a:ext cx="10656499" cy="2218691"/>
          </a:xfrm>
          <a:prstGeom prst="rect">
            <a:avLst/>
          </a:prstGeom>
        </p:spPr>
        <p:txBody>
          <a:bodyPr lIns="0" tIns="0" rIns="0" bIns="0" rtlCol="0" anchor="t">
            <a:spAutoFit/>
          </a:bodyPr>
          <a:lstStyle/>
          <a:p>
            <a:pPr marL="0" lvl="0" indent="0" algn="ctr">
              <a:lnSpc>
                <a:spcPts val="8959"/>
              </a:lnSpc>
              <a:spcBef>
                <a:spcPct val="0"/>
              </a:spcBef>
            </a:pPr>
            <a:r>
              <a:rPr lang="en-US" sz="6399" b="1" spc="-287">
                <a:solidFill>
                  <a:srgbClr val="000000"/>
                </a:solidFill>
                <a:latin typeface="Antonio Bold"/>
                <a:ea typeface="Antonio Bold"/>
                <a:cs typeface="Antonio Bold"/>
                <a:sym typeface="Antonio Bold"/>
              </a:rPr>
              <a:t>TÉCNICAS DE GESTIÓN DE LA INTEGRACIÓN  Y EL ALCANCE:</a:t>
            </a:r>
          </a:p>
        </p:txBody>
      </p:sp>
      <p:sp>
        <p:nvSpPr>
          <p:cNvPr id="7" name="TextBox 7"/>
          <p:cNvSpPr txBox="1"/>
          <p:nvPr/>
        </p:nvSpPr>
        <p:spPr>
          <a:xfrm>
            <a:off x="544320" y="5482850"/>
            <a:ext cx="10656499" cy="1254050"/>
          </a:xfrm>
          <a:prstGeom prst="rect">
            <a:avLst/>
          </a:prstGeom>
        </p:spPr>
        <p:txBody>
          <a:bodyPr lIns="0" tIns="0" rIns="0" bIns="0" rtlCol="0" anchor="t">
            <a:spAutoFit/>
          </a:bodyPr>
          <a:lstStyle/>
          <a:p>
            <a:pPr marL="0" lvl="0" indent="0" algn="ctr">
              <a:lnSpc>
                <a:spcPts val="4904"/>
              </a:lnSpc>
              <a:spcBef>
                <a:spcPct val="0"/>
              </a:spcBef>
            </a:pPr>
            <a:r>
              <a:rPr lang="en-US" sz="3502">
                <a:solidFill>
                  <a:srgbClr val="000000"/>
                </a:solidFill>
                <a:latin typeface="Poppins"/>
                <a:ea typeface="Poppins"/>
                <a:cs typeface="Poppins"/>
                <a:sym typeface="Poppins"/>
              </a:rPr>
              <a:t>Estimación del Tamaño del Software e Informe del Alcance</a:t>
            </a:r>
          </a:p>
        </p:txBody>
      </p:sp>
      <p:sp>
        <p:nvSpPr>
          <p:cNvPr id="8" name="TextBox 8"/>
          <p:cNvSpPr txBox="1"/>
          <p:nvPr/>
        </p:nvSpPr>
        <p:spPr>
          <a:xfrm>
            <a:off x="2659688" y="7173705"/>
            <a:ext cx="6425763" cy="2457515"/>
          </a:xfrm>
          <a:prstGeom prst="rect">
            <a:avLst/>
          </a:prstGeom>
        </p:spPr>
        <p:txBody>
          <a:bodyPr lIns="0" tIns="0" rIns="0" bIns="0" rtlCol="0" anchor="t">
            <a:spAutoFit/>
          </a:bodyPr>
          <a:lstStyle/>
          <a:p>
            <a:pPr algn="ctr">
              <a:lnSpc>
                <a:spcPts val="3256"/>
              </a:lnSpc>
            </a:pPr>
            <a:r>
              <a:rPr lang="en-US" sz="2326">
                <a:solidFill>
                  <a:srgbClr val="000000"/>
                </a:solidFill>
                <a:latin typeface="Montserrat"/>
                <a:ea typeface="Montserrat"/>
                <a:cs typeface="Montserrat"/>
                <a:sym typeface="Montserrat"/>
              </a:rPr>
              <a:t>Universidad de Cartagena</a:t>
            </a:r>
          </a:p>
          <a:p>
            <a:pPr algn="ctr">
              <a:lnSpc>
                <a:spcPts val="3256"/>
              </a:lnSpc>
            </a:pPr>
            <a:r>
              <a:rPr lang="en-US" sz="2326">
                <a:solidFill>
                  <a:srgbClr val="000000"/>
                </a:solidFill>
                <a:latin typeface="Montserrat"/>
                <a:ea typeface="Montserrat"/>
                <a:cs typeface="Montserrat"/>
                <a:sym typeface="Montserrat"/>
              </a:rPr>
              <a:t>Facultad de ingeniería</a:t>
            </a:r>
          </a:p>
          <a:p>
            <a:pPr algn="ctr">
              <a:lnSpc>
                <a:spcPts val="3256"/>
              </a:lnSpc>
            </a:pPr>
            <a:r>
              <a:rPr lang="en-US" sz="2326">
                <a:solidFill>
                  <a:srgbClr val="000000"/>
                </a:solidFill>
                <a:latin typeface="Montserrat"/>
                <a:ea typeface="Montserrat"/>
                <a:cs typeface="Montserrat"/>
                <a:sym typeface="Montserrat"/>
              </a:rPr>
              <a:t>Ingeniería de sistemas</a:t>
            </a:r>
          </a:p>
          <a:p>
            <a:pPr algn="ctr">
              <a:lnSpc>
                <a:spcPts val="3256"/>
              </a:lnSpc>
            </a:pPr>
            <a:r>
              <a:rPr lang="en-US" sz="2326">
                <a:solidFill>
                  <a:srgbClr val="000000"/>
                </a:solidFill>
                <a:latin typeface="Montserrat"/>
                <a:ea typeface="Montserrat"/>
                <a:cs typeface="Montserrat"/>
                <a:sym typeface="Montserrat"/>
              </a:rPr>
              <a:t>Gestión de proyectos de Ingeniería de Software</a:t>
            </a:r>
          </a:p>
          <a:p>
            <a:pPr algn="ctr">
              <a:lnSpc>
                <a:spcPts val="3256"/>
              </a:lnSpc>
            </a:pPr>
            <a:r>
              <a:rPr lang="en-US" sz="2326">
                <a:solidFill>
                  <a:srgbClr val="000000"/>
                </a:solidFill>
                <a:latin typeface="Montserrat"/>
                <a:ea typeface="Montserrat"/>
                <a:cs typeface="Montserrat"/>
                <a:sym typeface="Montserrat"/>
              </a:rPr>
              <a:t>2026 - 1</a:t>
            </a:r>
          </a:p>
        </p:txBody>
      </p:sp>
      <p:sp>
        <p:nvSpPr>
          <p:cNvPr id="9" name="Freeform 9"/>
          <p:cNvSpPr/>
          <p:nvPr/>
        </p:nvSpPr>
        <p:spPr>
          <a:xfrm>
            <a:off x="4724612" y="391071"/>
            <a:ext cx="2747395" cy="2606008"/>
          </a:xfrm>
          <a:custGeom>
            <a:avLst/>
            <a:gdLst/>
            <a:ahLst/>
            <a:cxnLst/>
            <a:rect l="l" t="t" r="r" b="b"/>
            <a:pathLst>
              <a:path w="2747395" h="2606008">
                <a:moveTo>
                  <a:pt x="0" y="0"/>
                </a:moveTo>
                <a:lnTo>
                  <a:pt x="2747394" y="0"/>
                </a:lnTo>
                <a:lnTo>
                  <a:pt x="2747394" y="2606008"/>
                </a:lnTo>
                <a:lnTo>
                  <a:pt x="0" y="2606008"/>
                </a:lnTo>
                <a:lnTo>
                  <a:pt x="0" y="0"/>
                </a:lnTo>
                <a:close/>
              </a:path>
            </a:pathLst>
          </a:custGeom>
          <a:blipFill>
            <a:blip r:embed="rId4"/>
            <a:stretch>
              <a:fillRect r="-96588"/>
            </a:stretch>
          </a:blipFill>
        </p:spPr>
      </p:sp>
      <p:sp>
        <p:nvSpPr>
          <p:cNvPr id="10" name="TextBox 10"/>
          <p:cNvSpPr txBox="1"/>
          <p:nvPr/>
        </p:nvSpPr>
        <p:spPr>
          <a:xfrm>
            <a:off x="10348562" y="8388175"/>
            <a:ext cx="7939438" cy="1153793"/>
          </a:xfrm>
          <a:prstGeom prst="rect">
            <a:avLst/>
          </a:prstGeom>
        </p:spPr>
        <p:txBody>
          <a:bodyPr lIns="0" tIns="0" rIns="0" bIns="0" rtlCol="0" anchor="t">
            <a:spAutoFit/>
          </a:bodyPr>
          <a:lstStyle/>
          <a:p>
            <a:pPr algn="ctr">
              <a:lnSpc>
                <a:spcPts val="3080"/>
              </a:lnSpc>
            </a:pPr>
            <a:r>
              <a:rPr lang="en-US" sz="2200">
                <a:solidFill>
                  <a:srgbClr val="000000"/>
                </a:solidFill>
                <a:latin typeface="Montserrat"/>
                <a:ea typeface="Montserrat"/>
                <a:cs typeface="Montserrat"/>
                <a:sym typeface="Montserrat"/>
              </a:rPr>
              <a:t>Presentado por: </a:t>
            </a:r>
          </a:p>
          <a:p>
            <a:pPr algn="ctr">
              <a:lnSpc>
                <a:spcPts val="3080"/>
              </a:lnSpc>
            </a:pPr>
            <a:r>
              <a:rPr lang="en-US" sz="2200">
                <a:solidFill>
                  <a:srgbClr val="000000"/>
                </a:solidFill>
                <a:latin typeface="Montserrat"/>
                <a:ea typeface="Montserrat"/>
                <a:cs typeface="Montserrat"/>
                <a:sym typeface="Montserrat"/>
              </a:rPr>
              <a:t>Giovanni Hernández Sánchez</a:t>
            </a:r>
          </a:p>
          <a:p>
            <a:pPr algn="ctr">
              <a:lnSpc>
                <a:spcPts val="3080"/>
              </a:lnSpc>
            </a:pPr>
            <a:r>
              <a:rPr lang="en-US" sz="2200">
                <a:solidFill>
                  <a:srgbClr val="000000"/>
                </a:solidFill>
                <a:latin typeface="Montserrat"/>
                <a:ea typeface="Montserrat"/>
                <a:cs typeface="Montserrat"/>
                <a:sym typeface="Montserrat"/>
              </a:rPr>
              <a:t>José Daniel Moreno Celestino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Freeform 2"/>
          <p:cNvSpPr/>
          <p:nvPr/>
        </p:nvSpPr>
        <p:spPr>
          <a:xfrm>
            <a:off x="12117742" y="3282171"/>
            <a:ext cx="5859256" cy="5322038"/>
          </a:xfrm>
          <a:custGeom>
            <a:avLst/>
            <a:gdLst/>
            <a:ahLst/>
            <a:cxnLst/>
            <a:rect l="l" t="t" r="r" b="b"/>
            <a:pathLst>
              <a:path w="5859256" h="5322038">
                <a:moveTo>
                  <a:pt x="0" y="0"/>
                </a:moveTo>
                <a:lnTo>
                  <a:pt x="5859257" y="0"/>
                </a:lnTo>
                <a:lnTo>
                  <a:pt x="5859257" y="5322038"/>
                </a:lnTo>
                <a:lnTo>
                  <a:pt x="0" y="53220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351729" y="2958322"/>
            <a:ext cx="10559075" cy="1464390"/>
          </a:xfrm>
          <a:prstGeom prst="rect">
            <a:avLst/>
          </a:prstGeom>
        </p:spPr>
        <p:txBody>
          <a:bodyPr lIns="0" tIns="0" rIns="0" bIns="0" rtlCol="0" anchor="t">
            <a:spAutoFit/>
          </a:bodyPr>
          <a:lstStyle/>
          <a:p>
            <a:pPr marL="0" lvl="0" indent="0" algn="just">
              <a:lnSpc>
                <a:spcPts val="3821"/>
              </a:lnSpc>
              <a:spcBef>
                <a:spcPct val="0"/>
              </a:spcBef>
            </a:pPr>
            <a:r>
              <a:rPr lang="en-US" sz="2729">
                <a:solidFill>
                  <a:srgbClr val="000000"/>
                </a:solidFill>
                <a:latin typeface="Poppins"/>
                <a:ea typeface="Poppins"/>
                <a:cs typeface="Poppins"/>
                <a:sym typeface="Poppins"/>
              </a:rPr>
              <a:t>La Gestión de la Integración se encarga de coordinar todos los elementos del proyecto para que funcionen como un todo: alcance, tiempo, costos, calidad, riesgos, etc.</a:t>
            </a:r>
          </a:p>
        </p:txBody>
      </p:sp>
      <p:sp>
        <p:nvSpPr>
          <p:cNvPr id="4" name="TextBox 4"/>
          <p:cNvSpPr txBox="1"/>
          <p:nvPr/>
        </p:nvSpPr>
        <p:spPr>
          <a:xfrm>
            <a:off x="1351729" y="1336552"/>
            <a:ext cx="13347666" cy="1146557"/>
          </a:xfrm>
          <a:prstGeom prst="rect">
            <a:avLst/>
          </a:prstGeom>
        </p:spPr>
        <p:txBody>
          <a:bodyPr lIns="0" tIns="0" rIns="0" bIns="0" rtlCol="0" anchor="t">
            <a:spAutoFit/>
          </a:bodyPr>
          <a:lstStyle/>
          <a:p>
            <a:pPr marL="0" lvl="0" indent="0" algn="just">
              <a:lnSpc>
                <a:spcPts val="8809"/>
              </a:lnSpc>
            </a:pPr>
            <a:r>
              <a:rPr lang="en-US" sz="8008" b="1" spc="-360">
                <a:solidFill>
                  <a:srgbClr val="000000"/>
                </a:solidFill>
                <a:latin typeface="Antonio Bold"/>
                <a:ea typeface="Antonio Bold"/>
                <a:cs typeface="Antonio Bold"/>
                <a:sym typeface="Antonio Bold"/>
              </a:rPr>
              <a:t>¿QUÉ ES LA GESTIÓN DE LA INTEGRACIÓN?</a:t>
            </a:r>
          </a:p>
        </p:txBody>
      </p:sp>
      <p:grpSp>
        <p:nvGrpSpPr>
          <p:cNvPr id="5" name="Group 5"/>
          <p:cNvGrpSpPr/>
          <p:nvPr/>
        </p:nvGrpSpPr>
        <p:grpSpPr>
          <a:xfrm>
            <a:off x="-2062688" y="9715955"/>
            <a:ext cx="21014417" cy="1392272"/>
            <a:chOff x="0" y="0"/>
            <a:chExt cx="3300463" cy="218666"/>
          </a:xfrm>
        </p:grpSpPr>
        <p:sp>
          <p:nvSpPr>
            <p:cNvPr id="6" name="Freeform 6"/>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7" name="TextBox 7"/>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351729" y="4680439"/>
            <a:ext cx="10559075" cy="4843041"/>
          </a:xfrm>
          <a:prstGeom prst="rect">
            <a:avLst/>
          </a:prstGeom>
        </p:spPr>
        <p:txBody>
          <a:bodyPr lIns="0" tIns="0" rIns="0" bIns="0" rtlCol="0" anchor="t">
            <a:spAutoFit/>
          </a:bodyPr>
          <a:lstStyle/>
          <a:p>
            <a:pPr algn="just">
              <a:lnSpc>
                <a:spcPts val="3821"/>
              </a:lnSpc>
            </a:pPr>
            <a:r>
              <a:rPr lang="en-US" sz="2729">
                <a:solidFill>
                  <a:srgbClr val="000000"/>
                </a:solidFill>
                <a:latin typeface="Poppins"/>
                <a:ea typeface="Poppins"/>
                <a:cs typeface="Poppins"/>
                <a:sym typeface="Poppins"/>
              </a:rPr>
              <a:t>Según el Project Management Institute, la integración incluye procesos como:</a:t>
            </a:r>
          </a:p>
          <a:p>
            <a:pPr algn="just">
              <a:lnSpc>
                <a:spcPts val="3821"/>
              </a:lnSpc>
            </a:pPr>
            <a:endParaRPr lang="en-US" sz="2729">
              <a:solidFill>
                <a:srgbClr val="000000"/>
              </a:solidFill>
              <a:latin typeface="Poppins"/>
              <a:ea typeface="Poppins"/>
              <a:cs typeface="Poppins"/>
              <a:sym typeface="Poppins"/>
            </a:endParaRPr>
          </a:p>
          <a:p>
            <a:pPr marL="589289" lvl="1" indent="-294645" algn="just">
              <a:lnSpc>
                <a:spcPts val="3821"/>
              </a:lnSpc>
              <a:buFont typeface="Arial"/>
              <a:buChar char="•"/>
            </a:pPr>
            <a:r>
              <a:rPr lang="en-US" sz="2729">
                <a:solidFill>
                  <a:srgbClr val="000000"/>
                </a:solidFill>
                <a:latin typeface="Poppins"/>
                <a:ea typeface="Poppins"/>
                <a:cs typeface="Poppins"/>
                <a:sym typeface="Poppins"/>
              </a:rPr>
              <a:t>Desarrollar el acta del proyecto</a:t>
            </a:r>
          </a:p>
          <a:p>
            <a:pPr marL="589289" lvl="1" indent="-294645" algn="just">
              <a:lnSpc>
                <a:spcPts val="3821"/>
              </a:lnSpc>
              <a:buFont typeface="Arial"/>
              <a:buChar char="•"/>
            </a:pPr>
            <a:r>
              <a:rPr lang="en-US" sz="2729">
                <a:solidFill>
                  <a:srgbClr val="000000"/>
                </a:solidFill>
                <a:latin typeface="Poppins"/>
                <a:ea typeface="Poppins"/>
                <a:cs typeface="Poppins"/>
                <a:sym typeface="Poppins"/>
              </a:rPr>
              <a:t>Elaborar el plan del proyecto</a:t>
            </a:r>
          </a:p>
          <a:p>
            <a:pPr marL="589289" lvl="1" indent="-294645" algn="just">
              <a:lnSpc>
                <a:spcPts val="3821"/>
              </a:lnSpc>
              <a:buFont typeface="Arial"/>
              <a:buChar char="•"/>
            </a:pPr>
            <a:r>
              <a:rPr lang="en-US" sz="2729">
                <a:solidFill>
                  <a:srgbClr val="000000"/>
                </a:solidFill>
                <a:latin typeface="Poppins"/>
                <a:ea typeface="Poppins"/>
                <a:cs typeface="Poppins"/>
                <a:sym typeface="Poppins"/>
              </a:rPr>
              <a:t>Dirigir y controlar el trabajo</a:t>
            </a:r>
          </a:p>
          <a:p>
            <a:pPr marL="589289" lvl="1" indent="-294645" algn="just">
              <a:lnSpc>
                <a:spcPts val="3821"/>
              </a:lnSpc>
              <a:buFont typeface="Arial"/>
              <a:buChar char="•"/>
            </a:pPr>
            <a:r>
              <a:rPr lang="en-US" sz="2729">
                <a:solidFill>
                  <a:srgbClr val="000000"/>
                </a:solidFill>
                <a:latin typeface="Poppins"/>
                <a:ea typeface="Poppins"/>
                <a:cs typeface="Poppins"/>
                <a:sym typeface="Poppins"/>
              </a:rPr>
              <a:t>Gestionar cambios</a:t>
            </a:r>
          </a:p>
          <a:p>
            <a:pPr algn="just">
              <a:lnSpc>
                <a:spcPts val="3821"/>
              </a:lnSpc>
            </a:pPr>
            <a:endParaRPr lang="en-US" sz="2729">
              <a:solidFill>
                <a:srgbClr val="000000"/>
              </a:solidFill>
              <a:latin typeface="Poppins"/>
              <a:ea typeface="Poppins"/>
              <a:cs typeface="Poppins"/>
              <a:sym typeface="Poppins"/>
            </a:endParaRPr>
          </a:p>
          <a:p>
            <a:pPr marL="0" lvl="0" indent="0" algn="just">
              <a:lnSpc>
                <a:spcPts val="3821"/>
              </a:lnSpc>
              <a:spcBef>
                <a:spcPct val="0"/>
              </a:spcBef>
            </a:pPr>
            <a:r>
              <a:rPr lang="en-US" sz="2729">
                <a:solidFill>
                  <a:srgbClr val="000000"/>
                </a:solidFill>
                <a:latin typeface="Poppins"/>
                <a:ea typeface="Poppins"/>
                <a:cs typeface="Poppins"/>
                <a:sym typeface="Poppins"/>
              </a:rPr>
              <a:t>Si el tamaño está mal estimado, todo el plan del proyecto se desintegra (costos, tiempos y recursos fallan).</a:t>
            </a:r>
          </a:p>
        </p:txBody>
      </p:sp>
    </p:spTree>
  </p:cSld>
  <p:clrMapOvr>
    <a:masterClrMapping/>
  </p:clrMapOvr>
  <p:transition>
    <p:cover dir="d"/>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Freeform 2"/>
          <p:cNvSpPr/>
          <p:nvPr/>
        </p:nvSpPr>
        <p:spPr>
          <a:xfrm>
            <a:off x="1427398" y="4970152"/>
            <a:ext cx="4192454" cy="3371682"/>
          </a:xfrm>
          <a:custGeom>
            <a:avLst/>
            <a:gdLst/>
            <a:ahLst/>
            <a:cxnLst/>
            <a:rect l="l" t="t" r="r" b="b"/>
            <a:pathLst>
              <a:path w="4192454" h="3371682">
                <a:moveTo>
                  <a:pt x="0" y="0"/>
                </a:moveTo>
                <a:lnTo>
                  <a:pt x="4192455" y="0"/>
                </a:lnTo>
                <a:lnTo>
                  <a:pt x="4192455" y="3371682"/>
                </a:lnTo>
                <a:lnTo>
                  <a:pt x="0" y="33716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2062688" y="9715955"/>
            <a:ext cx="21014417" cy="1392272"/>
            <a:chOff x="0" y="0"/>
            <a:chExt cx="3300463" cy="218666"/>
          </a:xfrm>
        </p:grpSpPr>
        <p:sp>
          <p:nvSpPr>
            <p:cNvPr id="4" name="Freeform 4"/>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5" name="TextBox 5"/>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8025197" y="2142964"/>
            <a:ext cx="8837806" cy="6198870"/>
          </a:xfrm>
          <a:prstGeom prst="rect">
            <a:avLst/>
          </a:prstGeom>
        </p:spPr>
        <p:txBody>
          <a:bodyPr lIns="0" tIns="0" rIns="0" bIns="0" rtlCol="0" anchor="t">
            <a:spAutoFit/>
          </a:bodyPr>
          <a:lstStyle/>
          <a:p>
            <a:pPr marL="0" lvl="0" indent="0" algn="just">
              <a:lnSpc>
                <a:spcPts val="3779"/>
              </a:lnSpc>
            </a:pPr>
            <a:r>
              <a:rPr lang="en-US" sz="2700">
                <a:solidFill>
                  <a:srgbClr val="000000"/>
                </a:solidFill>
                <a:latin typeface="Poppins"/>
                <a:ea typeface="Poppins"/>
                <a:cs typeface="Poppins"/>
                <a:sym typeface="Poppins"/>
              </a:rPr>
              <a:t>La Gestión del Alcance del proyecto incluye los procesos requeridos para garantizar que el proyecto incluya todo el trabajo requerido, y únicamente el trabajo requerido, para completar el proyecto con éxito. Los procesos de Gestión del Alcance del Proyecto son:</a:t>
            </a:r>
          </a:p>
          <a:p>
            <a:pPr marL="0" lvl="0" indent="0" algn="just">
              <a:lnSpc>
                <a:spcPts val="3779"/>
              </a:lnSpc>
            </a:pPr>
            <a:endParaRPr lang="en-US" sz="2700">
              <a:solidFill>
                <a:srgbClr val="000000"/>
              </a:solidFill>
              <a:latin typeface="Poppins"/>
              <a:ea typeface="Poppins"/>
              <a:cs typeface="Poppins"/>
              <a:sym typeface="Poppins"/>
            </a:endParaRPr>
          </a:p>
          <a:p>
            <a:pPr marL="582930" lvl="1" indent="-291465" algn="just">
              <a:lnSpc>
                <a:spcPts val="3779"/>
              </a:lnSpc>
              <a:buFont typeface="Arial"/>
              <a:buChar char="•"/>
            </a:pPr>
            <a:r>
              <a:rPr lang="en-US" sz="2700">
                <a:solidFill>
                  <a:srgbClr val="000000"/>
                </a:solidFill>
                <a:latin typeface="Poppins"/>
                <a:ea typeface="Poppins"/>
                <a:cs typeface="Poppins"/>
                <a:sym typeface="Poppins"/>
              </a:rPr>
              <a:t>Planificar la gestión del alcance.</a:t>
            </a:r>
          </a:p>
          <a:p>
            <a:pPr marL="582930" lvl="1" indent="-291465" algn="just">
              <a:lnSpc>
                <a:spcPts val="3779"/>
              </a:lnSpc>
              <a:buFont typeface="Arial"/>
              <a:buChar char="•"/>
            </a:pPr>
            <a:r>
              <a:rPr lang="en-US" sz="2700">
                <a:solidFill>
                  <a:srgbClr val="000000"/>
                </a:solidFill>
                <a:latin typeface="Poppins"/>
                <a:ea typeface="Poppins"/>
                <a:cs typeface="Poppins"/>
                <a:sym typeface="Poppins"/>
              </a:rPr>
              <a:t>Recopilar requisitos.</a:t>
            </a:r>
          </a:p>
          <a:p>
            <a:pPr marL="582930" lvl="1" indent="-291465" algn="just">
              <a:lnSpc>
                <a:spcPts val="3779"/>
              </a:lnSpc>
              <a:buFont typeface="Arial"/>
              <a:buChar char="•"/>
            </a:pPr>
            <a:r>
              <a:rPr lang="en-US" sz="2700">
                <a:solidFill>
                  <a:srgbClr val="000000"/>
                </a:solidFill>
                <a:latin typeface="Poppins"/>
                <a:ea typeface="Poppins"/>
                <a:cs typeface="Poppins"/>
                <a:sym typeface="Poppins"/>
              </a:rPr>
              <a:t>Definir el alcance.</a:t>
            </a:r>
          </a:p>
          <a:p>
            <a:pPr marL="582930" lvl="1" indent="-291465" algn="just">
              <a:lnSpc>
                <a:spcPts val="3779"/>
              </a:lnSpc>
              <a:buFont typeface="Arial"/>
              <a:buChar char="•"/>
            </a:pPr>
            <a:r>
              <a:rPr lang="en-US" sz="2700">
                <a:solidFill>
                  <a:srgbClr val="000000"/>
                </a:solidFill>
                <a:latin typeface="Poppins"/>
                <a:ea typeface="Poppins"/>
                <a:cs typeface="Poppins"/>
                <a:sym typeface="Poppins"/>
              </a:rPr>
              <a:t>Crear la EDT/WBS.</a:t>
            </a:r>
          </a:p>
          <a:p>
            <a:pPr marL="582930" lvl="1" indent="-291465" algn="just">
              <a:lnSpc>
                <a:spcPts val="3779"/>
              </a:lnSpc>
              <a:buFont typeface="Arial"/>
              <a:buChar char="•"/>
            </a:pPr>
            <a:r>
              <a:rPr lang="en-US" sz="2700">
                <a:solidFill>
                  <a:srgbClr val="000000"/>
                </a:solidFill>
                <a:latin typeface="Poppins"/>
                <a:ea typeface="Poppins"/>
                <a:cs typeface="Poppins"/>
                <a:sym typeface="Poppins"/>
              </a:rPr>
              <a:t>Validar el alcance.</a:t>
            </a:r>
          </a:p>
          <a:p>
            <a:pPr marL="582930" lvl="1" indent="-291465" algn="just">
              <a:lnSpc>
                <a:spcPts val="3779"/>
              </a:lnSpc>
              <a:buFont typeface="Arial"/>
              <a:buChar char="•"/>
            </a:pPr>
            <a:r>
              <a:rPr lang="en-US" sz="2700">
                <a:solidFill>
                  <a:srgbClr val="000000"/>
                </a:solidFill>
                <a:latin typeface="Poppins"/>
                <a:ea typeface="Poppins"/>
                <a:cs typeface="Poppins"/>
                <a:sym typeface="Poppins"/>
              </a:rPr>
              <a:t>Controlar el alcance.</a:t>
            </a:r>
          </a:p>
        </p:txBody>
      </p:sp>
      <p:sp>
        <p:nvSpPr>
          <p:cNvPr id="7" name="TextBox 7"/>
          <p:cNvSpPr txBox="1"/>
          <p:nvPr/>
        </p:nvSpPr>
        <p:spPr>
          <a:xfrm>
            <a:off x="299110" y="2323939"/>
            <a:ext cx="6449031" cy="2181225"/>
          </a:xfrm>
          <a:prstGeom prst="rect">
            <a:avLst/>
          </a:prstGeom>
        </p:spPr>
        <p:txBody>
          <a:bodyPr lIns="0" tIns="0" rIns="0" bIns="0" rtlCol="0" anchor="t">
            <a:spAutoFit/>
          </a:bodyPr>
          <a:lstStyle/>
          <a:p>
            <a:pPr marL="0" lvl="0" indent="0" algn="ctr">
              <a:lnSpc>
                <a:spcPts val="8400"/>
              </a:lnSpc>
            </a:pPr>
            <a:r>
              <a:rPr lang="en-US" sz="8000" b="1" spc="-360">
                <a:solidFill>
                  <a:srgbClr val="000000"/>
                </a:solidFill>
                <a:latin typeface="Antonio Bold"/>
                <a:ea typeface="Antonio Bold"/>
                <a:cs typeface="Antonio Bold"/>
                <a:sym typeface="Antonio Bold"/>
              </a:rPr>
              <a:t>¿QUÉ ES LA GESTIÓN DEL ALCANCE?</a:t>
            </a:r>
          </a:p>
        </p:txBody>
      </p:sp>
    </p:spTree>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5170FF"/>
        </a:solidFill>
        <a:effectLst/>
      </p:bgPr>
    </p:bg>
    <p:spTree>
      <p:nvGrpSpPr>
        <p:cNvPr id="1" name=""/>
        <p:cNvGrpSpPr/>
        <p:nvPr/>
      </p:nvGrpSpPr>
      <p:grpSpPr>
        <a:xfrm>
          <a:off x="0" y="0"/>
          <a:ext cx="0" cy="0"/>
          <a:chOff x="0" y="0"/>
          <a:chExt cx="0" cy="0"/>
        </a:xfrm>
      </p:grpSpPr>
      <p:grpSp>
        <p:nvGrpSpPr>
          <p:cNvPr id="2" name="Group 2"/>
          <p:cNvGrpSpPr/>
          <p:nvPr/>
        </p:nvGrpSpPr>
        <p:grpSpPr>
          <a:xfrm>
            <a:off x="-829875" y="2113269"/>
            <a:ext cx="13317683" cy="10104749"/>
            <a:chOff x="0" y="0"/>
            <a:chExt cx="3507538" cy="2661333"/>
          </a:xfrm>
        </p:grpSpPr>
        <p:sp>
          <p:nvSpPr>
            <p:cNvPr id="3" name="Freeform 3"/>
            <p:cNvSpPr/>
            <p:nvPr/>
          </p:nvSpPr>
          <p:spPr>
            <a:xfrm>
              <a:off x="0" y="0"/>
              <a:ext cx="3507538" cy="2661333"/>
            </a:xfrm>
            <a:custGeom>
              <a:avLst/>
              <a:gdLst/>
              <a:ahLst/>
              <a:cxnLst/>
              <a:rect l="l" t="t" r="r" b="b"/>
              <a:pathLst>
                <a:path w="3507538" h="2661333">
                  <a:moveTo>
                    <a:pt x="55807" y="0"/>
                  </a:moveTo>
                  <a:lnTo>
                    <a:pt x="3451730" y="0"/>
                  </a:lnTo>
                  <a:cubicBezTo>
                    <a:pt x="3482552" y="0"/>
                    <a:pt x="3507538" y="24986"/>
                    <a:pt x="3507538" y="55807"/>
                  </a:cubicBezTo>
                  <a:lnTo>
                    <a:pt x="3507538" y="2605526"/>
                  </a:lnTo>
                  <a:cubicBezTo>
                    <a:pt x="3507538" y="2636347"/>
                    <a:pt x="3482552" y="2661333"/>
                    <a:pt x="3451730" y="2661333"/>
                  </a:cubicBezTo>
                  <a:lnTo>
                    <a:pt x="55807" y="2661333"/>
                  </a:lnTo>
                  <a:cubicBezTo>
                    <a:pt x="24986" y="2661333"/>
                    <a:pt x="0" y="2636347"/>
                    <a:pt x="0" y="2605526"/>
                  </a:cubicBezTo>
                  <a:lnTo>
                    <a:pt x="0" y="55807"/>
                  </a:lnTo>
                  <a:cubicBezTo>
                    <a:pt x="0" y="24986"/>
                    <a:pt x="24986" y="0"/>
                    <a:pt x="55807" y="0"/>
                  </a:cubicBezTo>
                  <a:close/>
                </a:path>
              </a:pathLst>
            </a:custGeom>
            <a:solidFill>
              <a:srgbClr val="EDECED"/>
            </a:solidFill>
          </p:spPr>
        </p:sp>
        <p:sp>
          <p:nvSpPr>
            <p:cNvPr id="4" name="TextBox 4"/>
            <p:cNvSpPr txBox="1"/>
            <p:nvPr/>
          </p:nvSpPr>
          <p:spPr>
            <a:xfrm>
              <a:off x="0" y="-57150"/>
              <a:ext cx="3507538" cy="2718483"/>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623015" y="2415648"/>
            <a:ext cx="646898" cy="646898"/>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70FF"/>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8" name="AutoShape 8"/>
          <p:cNvSpPr/>
          <p:nvPr/>
        </p:nvSpPr>
        <p:spPr>
          <a:xfrm>
            <a:off x="1947905" y="3062543"/>
            <a:ext cx="23528" cy="5284189"/>
          </a:xfrm>
          <a:prstGeom prst="line">
            <a:avLst/>
          </a:prstGeom>
          <a:ln w="95250" cap="flat">
            <a:solidFill>
              <a:srgbClr val="741F89"/>
            </a:solidFill>
            <a:prstDash val="solid"/>
            <a:headEnd type="none" w="sm" len="sm"/>
            <a:tailEnd type="none" w="sm" len="sm"/>
          </a:ln>
        </p:spPr>
      </p:sp>
      <p:grpSp>
        <p:nvGrpSpPr>
          <p:cNvPr id="9" name="Group 9"/>
          <p:cNvGrpSpPr/>
          <p:nvPr/>
        </p:nvGrpSpPr>
        <p:grpSpPr>
          <a:xfrm>
            <a:off x="1675598" y="8346730"/>
            <a:ext cx="594315" cy="59431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70FF"/>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flipH="1">
            <a:off x="13211709" y="3323996"/>
            <a:ext cx="4539599" cy="5319892"/>
          </a:xfrm>
          <a:custGeom>
            <a:avLst/>
            <a:gdLst/>
            <a:ahLst/>
            <a:cxnLst/>
            <a:rect l="l" t="t" r="r" b="b"/>
            <a:pathLst>
              <a:path w="4539599" h="5319892">
                <a:moveTo>
                  <a:pt x="4539598" y="0"/>
                </a:moveTo>
                <a:lnTo>
                  <a:pt x="0" y="0"/>
                </a:lnTo>
                <a:lnTo>
                  <a:pt x="0" y="5319891"/>
                </a:lnTo>
                <a:lnTo>
                  <a:pt x="4539598" y="5319891"/>
                </a:lnTo>
                <a:lnTo>
                  <a:pt x="4539598"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304800" y="756586"/>
            <a:ext cx="12183009" cy="972502"/>
          </a:xfrm>
          <a:prstGeom prst="rect">
            <a:avLst/>
          </a:prstGeom>
        </p:spPr>
        <p:txBody>
          <a:bodyPr lIns="0" tIns="0" rIns="0" bIns="0" rtlCol="0" anchor="t">
            <a:spAutoFit/>
          </a:bodyPr>
          <a:lstStyle/>
          <a:p>
            <a:pPr marL="0" lvl="0" indent="0" algn="l">
              <a:lnSpc>
                <a:spcPts val="7507"/>
              </a:lnSpc>
            </a:pPr>
            <a:r>
              <a:rPr lang="en-US" sz="6825" b="1" spc="-307">
                <a:solidFill>
                  <a:srgbClr val="EDECED"/>
                </a:solidFill>
                <a:latin typeface="Antonio Bold"/>
                <a:ea typeface="Antonio Bold"/>
                <a:cs typeface="Antonio Bold"/>
                <a:sym typeface="Antonio Bold"/>
              </a:rPr>
              <a:t>¿CÓMO DEFINIR EL ALCANCE DEL PROYECTO?</a:t>
            </a:r>
          </a:p>
        </p:txBody>
      </p:sp>
      <p:sp>
        <p:nvSpPr>
          <p:cNvPr id="14" name="TextBox 14"/>
          <p:cNvSpPr txBox="1"/>
          <p:nvPr/>
        </p:nvSpPr>
        <p:spPr>
          <a:xfrm>
            <a:off x="3191471" y="2572156"/>
            <a:ext cx="5160475" cy="333883"/>
          </a:xfrm>
          <a:prstGeom prst="rect">
            <a:avLst/>
          </a:prstGeom>
        </p:spPr>
        <p:txBody>
          <a:bodyPr lIns="0" tIns="0" rIns="0" bIns="0" rtlCol="0" anchor="t">
            <a:spAutoFit/>
          </a:bodyPr>
          <a:lstStyle/>
          <a:p>
            <a:pPr marL="0" lvl="0" indent="0" algn="l">
              <a:lnSpc>
                <a:spcPts val="2485"/>
              </a:lnSpc>
            </a:pPr>
            <a:r>
              <a:rPr lang="en-US" sz="2199" b="1">
                <a:solidFill>
                  <a:srgbClr val="000000"/>
                </a:solidFill>
                <a:latin typeface="Poppins Bold"/>
                <a:ea typeface="Poppins Bold"/>
                <a:cs typeface="Poppins Bold"/>
                <a:sym typeface="Poppins Bold"/>
              </a:rPr>
              <a:t>Definir objetivos y entregas</a:t>
            </a:r>
          </a:p>
        </p:txBody>
      </p:sp>
      <p:sp>
        <p:nvSpPr>
          <p:cNvPr id="15" name="TextBox 15"/>
          <p:cNvSpPr txBox="1"/>
          <p:nvPr/>
        </p:nvSpPr>
        <p:spPr>
          <a:xfrm>
            <a:off x="3191471" y="4099528"/>
            <a:ext cx="6258329" cy="333883"/>
          </a:xfrm>
          <a:prstGeom prst="rect">
            <a:avLst/>
          </a:prstGeom>
        </p:spPr>
        <p:txBody>
          <a:bodyPr lIns="0" tIns="0" rIns="0" bIns="0" rtlCol="0" anchor="t">
            <a:spAutoFit/>
          </a:bodyPr>
          <a:lstStyle/>
          <a:p>
            <a:pPr marL="0" lvl="0" indent="0" algn="l">
              <a:lnSpc>
                <a:spcPts val="2485"/>
              </a:lnSpc>
            </a:pPr>
            <a:r>
              <a:rPr lang="en-US" sz="2199" b="1">
                <a:solidFill>
                  <a:srgbClr val="000000"/>
                </a:solidFill>
                <a:latin typeface="Poppins Bold"/>
                <a:ea typeface="Poppins Bold"/>
                <a:cs typeface="Poppins Bold"/>
                <a:sym typeface="Poppins Bold"/>
              </a:rPr>
              <a:t>Establecer límites</a:t>
            </a:r>
          </a:p>
        </p:txBody>
      </p:sp>
      <p:sp>
        <p:nvSpPr>
          <p:cNvPr id="16" name="TextBox 16"/>
          <p:cNvSpPr txBox="1"/>
          <p:nvPr/>
        </p:nvSpPr>
        <p:spPr>
          <a:xfrm>
            <a:off x="3191471" y="8360296"/>
            <a:ext cx="3647483" cy="333883"/>
          </a:xfrm>
          <a:prstGeom prst="rect">
            <a:avLst/>
          </a:prstGeom>
        </p:spPr>
        <p:txBody>
          <a:bodyPr lIns="0" tIns="0" rIns="0" bIns="0" rtlCol="0" anchor="t">
            <a:spAutoFit/>
          </a:bodyPr>
          <a:lstStyle/>
          <a:p>
            <a:pPr marL="0" lvl="0" indent="0" algn="l">
              <a:lnSpc>
                <a:spcPts val="2485"/>
              </a:lnSpc>
            </a:pPr>
            <a:r>
              <a:rPr lang="en-US" sz="2199" b="1">
                <a:solidFill>
                  <a:srgbClr val="000000"/>
                </a:solidFill>
                <a:latin typeface="Poppins Bold"/>
                <a:ea typeface="Poppins Bold"/>
                <a:cs typeface="Poppins Bold"/>
                <a:sym typeface="Poppins Bold"/>
              </a:rPr>
              <a:t>Crear un cronograma </a:t>
            </a:r>
          </a:p>
        </p:txBody>
      </p:sp>
      <p:sp>
        <p:nvSpPr>
          <p:cNvPr id="17" name="TextBox 17"/>
          <p:cNvSpPr txBox="1"/>
          <p:nvPr/>
        </p:nvSpPr>
        <p:spPr>
          <a:xfrm>
            <a:off x="3191471" y="3049092"/>
            <a:ext cx="8202856" cy="657438"/>
          </a:xfrm>
          <a:prstGeom prst="rect">
            <a:avLst/>
          </a:prstGeom>
        </p:spPr>
        <p:txBody>
          <a:bodyPr lIns="0" tIns="0" rIns="0" bIns="0" rtlCol="0" anchor="t">
            <a:spAutoFit/>
          </a:bodyPr>
          <a:lstStyle/>
          <a:p>
            <a:pPr marL="0" lvl="0" indent="0" algn="just">
              <a:lnSpc>
                <a:spcPts val="2613"/>
              </a:lnSpc>
            </a:pPr>
            <a:r>
              <a:rPr lang="en-US" sz="1866">
                <a:solidFill>
                  <a:srgbClr val="000000"/>
                </a:solidFill>
                <a:latin typeface="Poppins"/>
                <a:ea typeface="Poppins"/>
                <a:cs typeface="Poppins"/>
                <a:sym typeface="Poppins"/>
              </a:rPr>
              <a:t>Se definen los objetivos y entregas del proyecto, asegurando la coordinación entre equipo y partes interesadas. </a:t>
            </a:r>
          </a:p>
        </p:txBody>
      </p:sp>
      <p:sp>
        <p:nvSpPr>
          <p:cNvPr id="18" name="TextBox 18"/>
          <p:cNvSpPr txBox="1"/>
          <p:nvPr/>
        </p:nvSpPr>
        <p:spPr>
          <a:xfrm>
            <a:off x="3191471" y="6036984"/>
            <a:ext cx="6767458" cy="333588"/>
          </a:xfrm>
          <a:prstGeom prst="rect">
            <a:avLst/>
          </a:prstGeom>
        </p:spPr>
        <p:txBody>
          <a:bodyPr lIns="0" tIns="0" rIns="0" bIns="0" rtlCol="0" anchor="t">
            <a:spAutoFit/>
          </a:bodyPr>
          <a:lstStyle/>
          <a:p>
            <a:pPr marL="0" lvl="0" indent="0" algn="just">
              <a:lnSpc>
                <a:spcPts val="2613"/>
              </a:lnSpc>
            </a:pPr>
            <a:r>
              <a:rPr lang="en-US" sz="1866">
                <a:solidFill>
                  <a:srgbClr val="000000"/>
                </a:solidFill>
                <a:latin typeface="Poppins"/>
                <a:ea typeface="Poppins"/>
                <a:cs typeface="Poppins"/>
                <a:sym typeface="Poppins"/>
              </a:rPr>
              <a:t>Esta claridad evitará posibles incidencias en el futuro.</a:t>
            </a:r>
          </a:p>
        </p:txBody>
      </p:sp>
      <p:grpSp>
        <p:nvGrpSpPr>
          <p:cNvPr id="19" name="Group 19"/>
          <p:cNvGrpSpPr/>
          <p:nvPr/>
        </p:nvGrpSpPr>
        <p:grpSpPr>
          <a:xfrm>
            <a:off x="-2062688" y="9715955"/>
            <a:ext cx="21014417" cy="1392272"/>
            <a:chOff x="0" y="0"/>
            <a:chExt cx="3300463" cy="218666"/>
          </a:xfrm>
        </p:grpSpPr>
        <p:sp>
          <p:nvSpPr>
            <p:cNvPr id="20" name="Freeform 20"/>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21" name="TextBox 21"/>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623015" y="3966245"/>
            <a:ext cx="646898" cy="64689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70FF"/>
            </a:solidFill>
          </p:spPr>
        </p:sp>
        <p:sp>
          <p:nvSpPr>
            <p:cNvPr id="24" name="TextBox 24"/>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a:off x="3191471" y="4448618"/>
            <a:ext cx="8202856" cy="657438"/>
          </a:xfrm>
          <a:prstGeom prst="rect">
            <a:avLst/>
          </a:prstGeom>
        </p:spPr>
        <p:txBody>
          <a:bodyPr lIns="0" tIns="0" rIns="0" bIns="0" rtlCol="0" anchor="t">
            <a:spAutoFit/>
          </a:bodyPr>
          <a:lstStyle/>
          <a:p>
            <a:pPr marL="0" lvl="0" indent="0" algn="just">
              <a:lnSpc>
                <a:spcPts val="2613"/>
              </a:lnSpc>
            </a:pPr>
            <a:r>
              <a:rPr lang="en-US" sz="1866">
                <a:solidFill>
                  <a:srgbClr val="000000"/>
                </a:solidFill>
                <a:latin typeface="Poppins"/>
                <a:ea typeface="Poppins"/>
                <a:cs typeface="Poppins"/>
                <a:sym typeface="Poppins"/>
              </a:rPr>
              <a:t>Comunicar las limitaciones presupuestarias, las restricciones de recursos y otros factores externos.</a:t>
            </a:r>
          </a:p>
        </p:txBody>
      </p:sp>
      <p:grpSp>
        <p:nvGrpSpPr>
          <p:cNvPr id="26" name="Group 26"/>
          <p:cNvGrpSpPr/>
          <p:nvPr/>
        </p:nvGrpSpPr>
        <p:grpSpPr>
          <a:xfrm>
            <a:off x="1647984" y="5470393"/>
            <a:ext cx="646898" cy="646898"/>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70FF"/>
            </a:solidFill>
          </p:spPr>
        </p:sp>
        <p:sp>
          <p:nvSpPr>
            <p:cNvPr id="28" name="TextBox 28"/>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29" name="TextBox 29"/>
          <p:cNvSpPr txBox="1"/>
          <p:nvPr/>
        </p:nvSpPr>
        <p:spPr>
          <a:xfrm>
            <a:off x="3191471" y="5626901"/>
            <a:ext cx="6258329" cy="333883"/>
          </a:xfrm>
          <a:prstGeom prst="rect">
            <a:avLst/>
          </a:prstGeom>
        </p:spPr>
        <p:txBody>
          <a:bodyPr lIns="0" tIns="0" rIns="0" bIns="0" rtlCol="0" anchor="t">
            <a:spAutoFit/>
          </a:bodyPr>
          <a:lstStyle/>
          <a:p>
            <a:pPr marL="0" lvl="0" indent="0" algn="l">
              <a:lnSpc>
                <a:spcPts val="2485"/>
              </a:lnSpc>
            </a:pPr>
            <a:r>
              <a:rPr lang="en-US" sz="2199" b="1">
                <a:solidFill>
                  <a:srgbClr val="000000"/>
                </a:solidFill>
                <a:latin typeface="Poppins Bold"/>
                <a:ea typeface="Poppins Bold"/>
                <a:cs typeface="Poppins Bold"/>
                <a:sym typeface="Poppins Bold"/>
              </a:rPr>
              <a:t>Indicar los supuestos</a:t>
            </a:r>
          </a:p>
        </p:txBody>
      </p:sp>
      <p:sp>
        <p:nvSpPr>
          <p:cNvPr id="30" name="TextBox 30"/>
          <p:cNvSpPr txBox="1"/>
          <p:nvPr/>
        </p:nvSpPr>
        <p:spPr>
          <a:xfrm>
            <a:off x="3191471" y="6998702"/>
            <a:ext cx="6258329" cy="333883"/>
          </a:xfrm>
          <a:prstGeom prst="rect">
            <a:avLst/>
          </a:prstGeom>
        </p:spPr>
        <p:txBody>
          <a:bodyPr lIns="0" tIns="0" rIns="0" bIns="0" rtlCol="0" anchor="t">
            <a:spAutoFit/>
          </a:bodyPr>
          <a:lstStyle/>
          <a:p>
            <a:pPr marL="0" lvl="0" indent="0" algn="l">
              <a:lnSpc>
                <a:spcPts val="2485"/>
              </a:lnSpc>
            </a:pPr>
            <a:r>
              <a:rPr lang="en-US" sz="2199" b="1">
                <a:solidFill>
                  <a:srgbClr val="000000"/>
                </a:solidFill>
                <a:latin typeface="Poppins Bold"/>
                <a:ea typeface="Poppins Bold"/>
                <a:cs typeface="Poppins Bold"/>
                <a:sym typeface="Poppins Bold"/>
              </a:rPr>
              <a:t>Especificar inclusiones y exclusiones </a:t>
            </a:r>
          </a:p>
        </p:txBody>
      </p:sp>
      <p:grpSp>
        <p:nvGrpSpPr>
          <p:cNvPr id="31" name="Group 31"/>
          <p:cNvGrpSpPr/>
          <p:nvPr/>
        </p:nvGrpSpPr>
        <p:grpSpPr>
          <a:xfrm>
            <a:off x="1647984" y="6842195"/>
            <a:ext cx="646898" cy="646898"/>
            <a:chOff x="0" y="0"/>
            <a:chExt cx="812800" cy="812800"/>
          </a:xfrm>
        </p:grpSpPr>
        <p:sp>
          <p:nvSpPr>
            <p:cNvPr id="32" name="Freeform 3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70FF"/>
            </a:solidFill>
          </p:spPr>
        </p:sp>
        <p:sp>
          <p:nvSpPr>
            <p:cNvPr id="33" name="TextBox 33"/>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34" name="TextBox 34"/>
          <p:cNvSpPr txBox="1"/>
          <p:nvPr/>
        </p:nvSpPr>
        <p:spPr>
          <a:xfrm>
            <a:off x="3191471" y="7382897"/>
            <a:ext cx="8202856" cy="333588"/>
          </a:xfrm>
          <a:prstGeom prst="rect">
            <a:avLst/>
          </a:prstGeom>
        </p:spPr>
        <p:txBody>
          <a:bodyPr lIns="0" tIns="0" rIns="0" bIns="0" rtlCol="0" anchor="t">
            <a:spAutoFit/>
          </a:bodyPr>
          <a:lstStyle/>
          <a:p>
            <a:pPr marL="0" lvl="0" indent="0" algn="just">
              <a:lnSpc>
                <a:spcPts val="2613"/>
              </a:lnSpc>
            </a:pPr>
            <a:r>
              <a:rPr lang="en-US" sz="1866">
                <a:solidFill>
                  <a:srgbClr val="000000"/>
                </a:solidFill>
                <a:latin typeface="Poppins"/>
                <a:ea typeface="Poppins"/>
                <a:cs typeface="Poppins"/>
                <a:sym typeface="Poppins"/>
              </a:rPr>
              <a:t>Evita malentendidos y cambios no controlados en el alcance. </a:t>
            </a:r>
          </a:p>
        </p:txBody>
      </p:sp>
      <p:sp>
        <p:nvSpPr>
          <p:cNvPr id="35" name="TextBox 35"/>
          <p:cNvSpPr txBox="1"/>
          <p:nvPr/>
        </p:nvSpPr>
        <p:spPr>
          <a:xfrm>
            <a:off x="3191471" y="8767712"/>
            <a:ext cx="6767458" cy="657438"/>
          </a:xfrm>
          <a:prstGeom prst="rect">
            <a:avLst/>
          </a:prstGeom>
        </p:spPr>
        <p:txBody>
          <a:bodyPr lIns="0" tIns="0" rIns="0" bIns="0" rtlCol="0" anchor="t">
            <a:spAutoFit/>
          </a:bodyPr>
          <a:lstStyle/>
          <a:p>
            <a:pPr marL="0" lvl="0" indent="0" algn="just">
              <a:lnSpc>
                <a:spcPts val="2613"/>
              </a:lnSpc>
            </a:pPr>
            <a:r>
              <a:rPr lang="en-US" sz="1866">
                <a:solidFill>
                  <a:srgbClr val="000000"/>
                </a:solidFill>
                <a:latin typeface="Poppins"/>
                <a:ea typeface="Poppins"/>
                <a:cs typeface="Poppins"/>
                <a:sym typeface="Poppins"/>
              </a:rPr>
              <a:t>Permite mantener el proyecto encaminado. </a:t>
            </a:r>
          </a:p>
          <a:p>
            <a:pPr marL="0" lvl="0" indent="0" algn="just">
              <a:lnSpc>
                <a:spcPts val="2613"/>
              </a:lnSpc>
            </a:pPr>
            <a:endParaRPr lang="en-US" sz="1866">
              <a:solidFill>
                <a:srgbClr val="000000"/>
              </a:solidFill>
              <a:latin typeface="Poppins"/>
              <a:ea typeface="Poppins"/>
              <a:cs typeface="Poppins"/>
              <a:sym typeface="Poppins"/>
            </a:endParaRPr>
          </a:p>
        </p:txBody>
      </p:sp>
    </p:spTree>
  </p:cSld>
  <p:clrMapOvr>
    <a:masterClrMapping/>
  </p:clrMapOvr>
  <p:transition>
    <p:cover dir="d"/>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AutoShape 2"/>
          <p:cNvSpPr/>
          <p:nvPr/>
        </p:nvSpPr>
        <p:spPr>
          <a:xfrm>
            <a:off x="11317973" y="0"/>
            <a:ext cx="6970027" cy="10287000"/>
          </a:xfrm>
          <a:prstGeom prst="rect">
            <a:avLst/>
          </a:prstGeom>
          <a:solidFill>
            <a:srgbClr val="5170FF"/>
          </a:solidFill>
        </p:spPr>
      </p:sp>
      <p:sp>
        <p:nvSpPr>
          <p:cNvPr id="3" name="Freeform 3"/>
          <p:cNvSpPr/>
          <p:nvPr/>
        </p:nvSpPr>
        <p:spPr>
          <a:xfrm>
            <a:off x="11775347" y="2708302"/>
            <a:ext cx="6055279" cy="4870397"/>
          </a:xfrm>
          <a:custGeom>
            <a:avLst/>
            <a:gdLst/>
            <a:ahLst/>
            <a:cxnLst/>
            <a:rect l="l" t="t" r="r" b="b"/>
            <a:pathLst>
              <a:path w="6055279" h="4870397">
                <a:moveTo>
                  <a:pt x="0" y="0"/>
                </a:moveTo>
                <a:lnTo>
                  <a:pt x="6055279" y="0"/>
                </a:lnTo>
                <a:lnTo>
                  <a:pt x="6055279" y="4870396"/>
                </a:lnTo>
                <a:lnTo>
                  <a:pt x="0" y="4870396"/>
                </a:lnTo>
                <a:lnTo>
                  <a:pt x="0" y="0"/>
                </a:lnTo>
                <a:close/>
              </a:path>
            </a:pathLst>
          </a:custGeom>
          <a:blipFill>
            <a:blip r:embed="rId2"/>
            <a:stretch>
              <a:fillRect l="-8979" t="-8930" r="-8979" b="-9377"/>
            </a:stretch>
          </a:blipFill>
        </p:spPr>
      </p:sp>
      <p:sp>
        <p:nvSpPr>
          <p:cNvPr id="4" name="TextBox 4"/>
          <p:cNvSpPr txBox="1"/>
          <p:nvPr/>
        </p:nvSpPr>
        <p:spPr>
          <a:xfrm>
            <a:off x="1752587" y="345043"/>
            <a:ext cx="7855178" cy="2447925"/>
          </a:xfrm>
          <a:prstGeom prst="rect">
            <a:avLst/>
          </a:prstGeom>
        </p:spPr>
        <p:txBody>
          <a:bodyPr lIns="0" tIns="0" rIns="0" bIns="0" rtlCol="0" anchor="t">
            <a:spAutoFit/>
          </a:bodyPr>
          <a:lstStyle/>
          <a:p>
            <a:pPr marL="0" lvl="0" indent="0" algn="ctr">
              <a:lnSpc>
                <a:spcPts val="9600"/>
              </a:lnSpc>
              <a:spcBef>
                <a:spcPct val="0"/>
              </a:spcBef>
            </a:pPr>
            <a:r>
              <a:rPr lang="en-US" sz="8000" b="1" spc="-360">
                <a:solidFill>
                  <a:srgbClr val="000000"/>
                </a:solidFill>
                <a:latin typeface="Antonio Bold"/>
                <a:ea typeface="Antonio Bold"/>
                <a:cs typeface="Antonio Bold"/>
                <a:sym typeface="Antonio Bold"/>
              </a:rPr>
              <a:t>ESTIMACIÓN DEL TAMAÑO DEL SOFTWARE</a:t>
            </a:r>
          </a:p>
        </p:txBody>
      </p:sp>
      <p:sp>
        <p:nvSpPr>
          <p:cNvPr id="5" name="TextBox 5"/>
          <p:cNvSpPr txBox="1"/>
          <p:nvPr/>
        </p:nvSpPr>
        <p:spPr>
          <a:xfrm>
            <a:off x="1028700" y="3073334"/>
            <a:ext cx="9302952" cy="6642621"/>
          </a:xfrm>
          <a:prstGeom prst="rect">
            <a:avLst/>
          </a:prstGeom>
        </p:spPr>
        <p:txBody>
          <a:bodyPr lIns="0" tIns="0" rIns="0" bIns="0" rtlCol="0" anchor="t">
            <a:spAutoFit/>
          </a:bodyPr>
          <a:lstStyle/>
          <a:p>
            <a:pPr marL="0" lvl="0" indent="0" algn="just">
              <a:lnSpc>
                <a:spcPts val="4447"/>
              </a:lnSpc>
              <a:spcBef>
                <a:spcPct val="0"/>
              </a:spcBef>
            </a:pPr>
            <a:r>
              <a:rPr lang="en-US" sz="2779">
                <a:solidFill>
                  <a:srgbClr val="000000"/>
                </a:solidFill>
                <a:latin typeface="Poppins"/>
                <a:ea typeface="Poppins"/>
                <a:cs typeface="Poppins"/>
                <a:sym typeface="Poppins"/>
              </a:rPr>
              <a:t>La estimación del tamaño del software consiste en medir cuán grande será el sistema en términos de funcionalidad y complejidad. No se refiere al tamaño en megabytes, sino al trabajo necesario para desarrollarlo. Esta estimación es la base para calcular tiempo, costo y recursos.</a:t>
            </a:r>
          </a:p>
          <a:p>
            <a:pPr marL="0" lvl="0" indent="0" algn="just">
              <a:lnSpc>
                <a:spcPts val="4447"/>
              </a:lnSpc>
              <a:spcBef>
                <a:spcPct val="0"/>
              </a:spcBef>
            </a:pPr>
            <a:endParaRPr lang="en-US" sz="2779">
              <a:solidFill>
                <a:srgbClr val="000000"/>
              </a:solidFill>
              <a:latin typeface="Poppins"/>
              <a:ea typeface="Poppins"/>
              <a:cs typeface="Poppins"/>
              <a:sym typeface="Poppins"/>
            </a:endParaRPr>
          </a:p>
          <a:p>
            <a:pPr marL="0" lvl="0" indent="0" algn="just">
              <a:lnSpc>
                <a:spcPts val="4320"/>
              </a:lnSpc>
              <a:spcBef>
                <a:spcPct val="0"/>
              </a:spcBef>
            </a:pPr>
            <a:r>
              <a:rPr lang="en-US" sz="2700">
                <a:solidFill>
                  <a:srgbClr val="000000"/>
                </a:solidFill>
                <a:latin typeface="Poppins"/>
                <a:ea typeface="Poppins"/>
                <a:cs typeface="Poppins"/>
                <a:sym typeface="Poppins"/>
              </a:rPr>
              <a:t>La estimación del tamaño del software es esencial para la gestión de proyectos de software. Ayuda al gerente de proyecto a predecir con mayor precisión el esfuerzo y el tiempo necesarios para desarrollar el proyecto. </a:t>
            </a:r>
          </a:p>
        </p:txBody>
      </p:sp>
    </p:spTree>
  </p:cSld>
  <p:clrMapOvr>
    <a:masterClrMapping/>
  </p:clrMapOvr>
  <p:transition>
    <p:cover dir="d"/>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AutoShape 2"/>
          <p:cNvSpPr/>
          <p:nvPr/>
        </p:nvSpPr>
        <p:spPr>
          <a:xfrm>
            <a:off x="8493630" y="4885880"/>
            <a:ext cx="9794370" cy="4830076"/>
          </a:xfrm>
          <a:prstGeom prst="rect">
            <a:avLst/>
          </a:prstGeom>
          <a:solidFill>
            <a:srgbClr val="741F89">
              <a:alpha val="2745"/>
            </a:srgbClr>
          </a:solidFill>
        </p:spPr>
      </p:sp>
      <p:sp>
        <p:nvSpPr>
          <p:cNvPr id="3" name="AutoShape 3"/>
          <p:cNvSpPr/>
          <p:nvPr/>
        </p:nvSpPr>
        <p:spPr>
          <a:xfrm>
            <a:off x="0" y="0"/>
            <a:ext cx="8493630" cy="10287000"/>
          </a:xfrm>
          <a:prstGeom prst="rect">
            <a:avLst/>
          </a:prstGeom>
          <a:solidFill>
            <a:srgbClr val="5170FF"/>
          </a:solidFill>
        </p:spPr>
      </p:sp>
      <p:sp>
        <p:nvSpPr>
          <p:cNvPr id="4" name="TextBox 4"/>
          <p:cNvSpPr txBox="1"/>
          <p:nvPr/>
        </p:nvSpPr>
        <p:spPr>
          <a:xfrm>
            <a:off x="1028700" y="2431438"/>
            <a:ext cx="7464930" cy="1024890"/>
          </a:xfrm>
          <a:prstGeom prst="rect">
            <a:avLst/>
          </a:prstGeom>
        </p:spPr>
        <p:txBody>
          <a:bodyPr lIns="0" tIns="0" rIns="0" bIns="0" rtlCol="0" anchor="t">
            <a:spAutoFit/>
          </a:bodyPr>
          <a:lstStyle/>
          <a:p>
            <a:pPr marL="0" lvl="0" indent="0" algn="l">
              <a:lnSpc>
                <a:spcPts val="7920"/>
              </a:lnSpc>
            </a:pPr>
            <a:r>
              <a:rPr lang="en-US" sz="7200" b="1" spc="-324">
                <a:solidFill>
                  <a:srgbClr val="EDECED"/>
                </a:solidFill>
                <a:latin typeface="Antonio Bold"/>
                <a:ea typeface="Antonio Bold"/>
                <a:cs typeface="Antonio Bold"/>
                <a:sym typeface="Antonio Bold"/>
              </a:rPr>
              <a:t>LÍNEAS DE CÓDIGO (LOC)</a:t>
            </a:r>
          </a:p>
        </p:txBody>
      </p:sp>
      <p:sp>
        <p:nvSpPr>
          <p:cNvPr id="5" name="TextBox 5"/>
          <p:cNvSpPr txBox="1"/>
          <p:nvPr/>
        </p:nvSpPr>
        <p:spPr>
          <a:xfrm>
            <a:off x="1028700" y="4809680"/>
            <a:ext cx="6636713" cy="3817620"/>
          </a:xfrm>
          <a:prstGeom prst="rect">
            <a:avLst/>
          </a:prstGeom>
        </p:spPr>
        <p:txBody>
          <a:bodyPr lIns="0" tIns="0" rIns="0" bIns="0" rtlCol="0" anchor="t">
            <a:spAutoFit/>
          </a:bodyPr>
          <a:lstStyle/>
          <a:p>
            <a:pPr algn="just">
              <a:lnSpc>
                <a:spcPts val="3779"/>
              </a:lnSpc>
            </a:pPr>
            <a:r>
              <a:rPr lang="en-US" sz="2700">
                <a:solidFill>
                  <a:srgbClr val="EDECED"/>
                </a:solidFill>
                <a:latin typeface="Poppins"/>
                <a:ea typeface="Poppins"/>
                <a:cs typeface="Poppins"/>
                <a:sym typeface="Poppins"/>
              </a:rPr>
              <a:t>Las unidades de líneas de código son:</a:t>
            </a:r>
          </a:p>
          <a:p>
            <a:pPr algn="just">
              <a:lnSpc>
                <a:spcPts val="3779"/>
              </a:lnSpc>
            </a:pPr>
            <a:endParaRPr lang="en-US" sz="2700">
              <a:solidFill>
                <a:srgbClr val="EDECED"/>
              </a:solidFill>
              <a:latin typeface="Poppins"/>
              <a:ea typeface="Poppins"/>
              <a:cs typeface="Poppins"/>
              <a:sym typeface="Poppins"/>
            </a:endParaRPr>
          </a:p>
          <a:p>
            <a:pPr marL="582930" lvl="1" indent="-291465" algn="just">
              <a:lnSpc>
                <a:spcPts val="3779"/>
              </a:lnSpc>
              <a:buFont typeface="Arial"/>
              <a:buChar char="•"/>
            </a:pPr>
            <a:r>
              <a:rPr lang="en-US" sz="2700">
                <a:solidFill>
                  <a:srgbClr val="EDECED"/>
                </a:solidFill>
                <a:latin typeface="Poppins"/>
                <a:ea typeface="Poppins"/>
                <a:cs typeface="Poppins"/>
                <a:sym typeface="Poppins"/>
              </a:rPr>
              <a:t>KLOC: Mil líneas de código</a:t>
            </a:r>
          </a:p>
          <a:p>
            <a:pPr marL="582930" lvl="1" indent="-291465" algn="just">
              <a:lnSpc>
                <a:spcPts val="3779"/>
              </a:lnSpc>
              <a:buFont typeface="Arial"/>
              <a:buChar char="•"/>
            </a:pPr>
            <a:r>
              <a:rPr lang="en-US" sz="2700">
                <a:solidFill>
                  <a:srgbClr val="EDECED"/>
                </a:solidFill>
                <a:latin typeface="Poppins"/>
                <a:ea typeface="Poppins"/>
                <a:cs typeface="Poppins"/>
                <a:sym typeface="Poppins"/>
              </a:rPr>
              <a:t>NLOC: Líneas de código sin comentarios</a:t>
            </a:r>
          </a:p>
          <a:p>
            <a:pPr marL="582930" lvl="1" indent="-291465" algn="just">
              <a:lnSpc>
                <a:spcPts val="3779"/>
              </a:lnSpc>
              <a:buFont typeface="Arial"/>
              <a:buChar char="•"/>
            </a:pPr>
            <a:r>
              <a:rPr lang="en-US" sz="2700">
                <a:solidFill>
                  <a:srgbClr val="EDECED"/>
                </a:solidFill>
                <a:latin typeface="Poppins"/>
                <a:ea typeface="Poppins"/>
                <a:cs typeface="Poppins"/>
                <a:sym typeface="Poppins"/>
              </a:rPr>
              <a:t>KDSI: Miles de instrucciones de origen entregadas</a:t>
            </a:r>
          </a:p>
          <a:p>
            <a:pPr marL="0" lvl="0" indent="0" algn="just">
              <a:lnSpc>
                <a:spcPts val="3779"/>
              </a:lnSpc>
              <a:spcBef>
                <a:spcPct val="0"/>
              </a:spcBef>
            </a:pPr>
            <a:endParaRPr lang="en-US" sz="2700">
              <a:solidFill>
                <a:srgbClr val="EDECED"/>
              </a:solidFill>
              <a:latin typeface="Poppins"/>
              <a:ea typeface="Poppins"/>
              <a:cs typeface="Poppins"/>
              <a:sym typeface="Poppins"/>
            </a:endParaRPr>
          </a:p>
        </p:txBody>
      </p:sp>
      <p:sp>
        <p:nvSpPr>
          <p:cNvPr id="6" name="TextBox 6"/>
          <p:cNvSpPr txBox="1"/>
          <p:nvPr/>
        </p:nvSpPr>
        <p:spPr>
          <a:xfrm>
            <a:off x="10754067" y="1047750"/>
            <a:ext cx="5273497" cy="345186"/>
          </a:xfrm>
          <a:prstGeom prst="rect">
            <a:avLst/>
          </a:prstGeom>
        </p:spPr>
        <p:txBody>
          <a:bodyPr lIns="0" tIns="0" rIns="0" bIns="0" rtlCol="0" anchor="t">
            <a:spAutoFit/>
          </a:bodyPr>
          <a:lstStyle/>
          <a:p>
            <a:pPr marL="0" lvl="0" indent="0" algn="ctr">
              <a:lnSpc>
                <a:spcPts val="2711"/>
              </a:lnSpc>
            </a:pPr>
            <a:r>
              <a:rPr lang="en-US" sz="2400" b="1">
                <a:solidFill>
                  <a:srgbClr val="000000"/>
                </a:solidFill>
                <a:latin typeface="Antonio Bold"/>
                <a:ea typeface="Antonio Bold"/>
                <a:cs typeface="Antonio Bold"/>
                <a:sym typeface="Antonio Bold"/>
              </a:rPr>
              <a:t>VENTAJAS</a:t>
            </a:r>
          </a:p>
        </p:txBody>
      </p:sp>
      <p:sp>
        <p:nvSpPr>
          <p:cNvPr id="7" name="TextBox 7"/>
          <p:cNvSpPr txBox="1"/>
          <p:nvPr/>
        </p:nvSpPr>
        <p:spPr>
          <a:xfrm>
            <a:off x="10999563" y="5513324"/>
            <a:ext cx="4797923" cy="345186"/>
          </a:xfrm>
          <a:prstGeom prst="rect">
            <a:avLst/>
          </a:prstGeom>
        </p:spPr>
        <p:txBody>
          <a:bodyPr lIns="0" tIns="0" rIns="0" bIns="0" rtlCol="0" anchor="t">
            <a:spAutoFit/>
          </a:bodyPr>
          <a:lstStyle/>
          <a:p>
            <a:pPr marL="0" lvl="0" indent="0" algn="ctr">
              <a:lnSpc>
                <a:spcPts val="2711"/>
              </a:lnSpc>
            </a:pPr>
            <a:r>
              <a:rPr lang="en-US" sz="2400" b="1">
                <a:solidFill>
                  <a:srgbClr val="000000"/>
                </a:solidFill>
                <a:latin typeface="Antonio Bold"/>
                <a:ea typeface="Antonio Bold"/>
                <a:cs typeface="Antonio Bold"/>
                <a:sym typeface="Antonio Bold"/>
              </a:rPr>
              <a:t>DESVENTAJAS</a:t>
            </a:r>
          </a:p>
        </p:txBody>
      </p:sp>
      <p:sp>
        <p:nvSpPr>
          <p:cNvPr id="8" name="TextBox 8"/>
          <p:cNvSpPr txBox="1"/>
          <p:nvPr/>
        </p:nvSpPr>
        <p:spPr>
          <a:xfrm>
            <a:off x="9144000" y="1847555"/>
            <a:ext cx="8509048" cy="2750820"/>
          </a:xfrm>
          <a:prstGeom prst="rect">
            <a:avLst/>
          </a:prstGeom>
        </p:spPr>
        <p:txBody>
          <a:bodyPr lIns="0" tIns="0" rIns="0" bIns="0" rtlCol="0" anchor="t">
            <a:spAutoFit/>
          </a:bodyPr>
          <a:lstStyle/>
          <a:p>
            <a:pPr marL="518158" lvl="1" indent="-259079" algn="just">
              <a:lnSpc>
                <a:spcPts val="3119"/>
              </a:lnSpc>
              <a:buFont typeface="Arial"/>
              <a:buChar char="•"/>
            </a:pPr>
            <a:r>
              <a:rPr lang="en-US" sz="2399">
                <a:solidFill>
                  <a:srgbClr val="000000"/>
                </a:solidFill>
                <a:latin typeface="Poppins"/>
                <a:ea typeface="Poppins"/>
                <a:cs typeface="Poppins"/>
                <a:sym typeface="Poppins"/>
              </a:rPr>
              <a:t>Aceptado y utilizado en modelos como COCOMO.</a:t>
            </a:r>
          </a:p>
          <a:p>
            <a:pPr marL="518158" lvl="1" indent="-259079" algn="just">
              <a:lnSpc>
                <a:spcPts val="3119"/>
              </a:lnSpc>
              <a:buFont typeface="Arial"/>
              <a:buChar char="•"/>
            </a:pPr>
            <a:r>
              <a:rPr lang="en-US" sz="2399">
                <a:solidFill>
                  <a:srgbClr val="000000"/>
                </a:solidFill>
                <a:latin typeface="Poppins"/>
                <a:ea typeface="Poppins"/>
                <a:cs typeface="Poppins"/>
                <a:sym typeface="Poppins"/>
              </a:rPr>
              <a:t>La estimación más cerca de la perspectiva del desarrollador.</a:t>
            </a:r>
          </a:p>
          <a:p>
            <a:pPr marL="518158" lvl="1" indent="-259079" algn="just">
              <a:lnSpc>
                <a:spcPts val="3119"/>
              </a:lnSpc>
              <a:buFont typeface="Arial"/>
              <a:buChar char="•"/>
            </a:pPr>
            <a:r>
              <a:rPr lang="en-US" sz="2399">
                <a:solidFill>
                  <a:srgbClr val="000000"/>
                </a:solidFill>
                <a:latin typeface="Poppins"/>
                <a:ea typeface="Poppins"/>
                <a:cs typeface="Poppins"/>
                <a:sym typeface="Poppins"/>
              </a:rPr>
              <a:t>Utilizado y aceptado en todo el mundo.</a:t>
            </a:r>
          </a:p>
          <a:p>
            <a:pPr marL="518158" lvl="1" indent="-259079" algn="just">
              <a:lnSpc>
                <a:spcPts val="3119"/>
              </a:lnSpc>
              <a:buFont typeface="Arial"/>
              <a:buChar char="•"/>
            </a:pPr>
            <a:r>
              <a:rPr lang="en-US" sz="2399">
                <a:solidFill>
                  <a:srgbClr val="000000"/>
                </a:solidFill>
                <a:latin typeface="Poppins"/>
                <a:ea typeface="Poppins"/>
                <a:cs typeface="Poppins"/>
                <a:sym typeface="Poppins"/>
              </a:rPr>
              <a:t>Al finalizar el proyecto, el LOC se cuantifica fácilmente. </a:t>
            </a:r>
          </a:p>
          <a:p>
            <a:pPr marL="518158" lvl="1" indent="-259079" algn="just">
              <a:lnSpc>
                <a:spcPts val="3119"/>
              </a:lnSpc>
              <a:buFont typeface="Arial"/>
              <a:buChar char="•"/>
            </a:pPr>
            <a:r>
              <a:rPr lang="en-US" sz="2399">
                <a:solidFill>
                  <a:srgbClr val="000000"/>
                </a:solidFill>
                <a:latin typeface="Poppins"/>
                <a:ea typeface="Poppins"/>
                <a:cs typeface="Poppins"/>
                <a:sym typeface="Poppins"/>
              </a:rPr>
              <a:t>Fácil de usar.</a:t>
            </a:r>
          </a:p>
        </p:txBody>
      </p:sp>
      <p:grpSp>
        <p:nvGrpSpPr>
          <p:cNvPr id="9" name="Group 9"/>
          <p:cNvGrpSpPr/>
          <p:nvPr/>
        </p:nvGrpSpPr>
        <p:grpSpPr>
          <a:xfrm>
            <a:off x="-2062688" y="9715955"/>
            <a:ext cx="21014417" cy="1392272"/>
            <a:chOff x="0" y="0"/>
            <a:chExt cx="3300463" cy="218666"/>
          </a:xfrm>
        </p:grpSpPr>
        <p:sp>
          <p:nvSpPr>
            <p:cNvPr id="10" name="Freeform 10"/>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11" name="TextBox 11"/>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289253" y="387684"/>
            <a:ext cx="7594232" cy="384617"/>
          </a:xfrm>
          <a:prstGeom prst="rect">
            <a:avLst/>
          </a:prstGeom>
        </p:spPr>
        <p:txBody>
          <a:bodyPr lIns="0" tIns="0" rIns="0" bIns="0" rtlCol="0" anchor="t">
            <a:spAutoFit/>
          </a:bodyPr>
          <a:lstStyle/>
          <a:p>
            <a:pPr marL="0" lvl="0" indent="0" algn="l">
              <a:lnSpc>
                <a:spcPts val="2788"/>
              </a:lnSpc>
            </a:pPr>
            <a:r>
              <a:rPr lang="en-US" sz="2534">
                <a:solidFill>
                  <a:srgbClr val="EDECED"/>
                </a:solidFill>
                <a:latin typeface="Poppins"/>
                <a:ea typeface="Poppins"/>
                <a:cs typeface="Poppins"/>
                <a:sym typeface="Poppins"/>
              </a:rPr>
              <a:t>Estimación del tamaño del software</a:t>
            </a:r>
          </a:p>
        </p:txBody>
      </p:sp>
      <p:sp>
        <p:nvSpPr>
          <p:cNvPr id="13" name="TextBox 13"/>
          <p:cNvSpPr txBox="1"/>
          <p:nvPr/>
        </p:nvSpPr>
        <p:spPr>
          <a:xfrm>
            <a:off x="9144000" y="6268085"/>
            <a:ext cx="8509048" cy="3141345"/>
          </a:xfrm>
          <a:prstGeom prst="rect">
            <a:avLst/>
          </a:prstGeom>
        </p:spPr>
        <p:txBody>
          <a:bodyPr lIns="0" tIns="0" rIns="0" bIns="0" rtlCol="0" anchor="t">
            <a:spAutoFit/>
          </a:bodyPr>
          <a:lstStyle/>
          <a:p>
            <a:pPr marL="518158" lvl="1" indent="-259079" algn="just">
              <a:lnSpc>
                <a:spcPts val="3119"/>
              </a:lnSpc>
              <a:buFont typeface="Arial"/>
              <a:buChar char="•"/>
            </a:pPr>
            <a:r>
              <a:rPr lang="en-US" sz="2399">
                <a:solidFill>
                  <a:srgbClr val="000000"/>
                </a:solidFill>
                <a:latin typeface="Poppins"/>
                <a:ea typeface="Poppins"/>
                <a:cs typeface="Poppins"/>
                <a:sym typeface="Poppins"/>
              </a:rPr>
              <a:t>Los diferentes lenguajes de programación contienen un número diferente de líneas.</a:t>
            </a:r>
          </a:p>
          <a:p>
            <a:pPr marL="518158" lvl="1" indent="-259079" algn="just">
              <a:lnSpc>
                <a:spcPts val="3119"/>
              </a:lnSpc>
              <a:buFont typeface="Arial"/>
              <a:buChar char="•"/>
            </a:pPr>
            <a:r>
              <a:rPr lang="en-US" sz="2399">
                <a:solidFill>
                  <a:srgbClr val="000000"/>
                </a:solidFill>
                <a:latin typeface="Poppins"/>
                <a:ea typeface="Poppins"/>
                <a:cs typeface="Poppins"/>
                <a:sym typeface="Poppins"/>
              </a:rPr>
              <a:t>No existe un estándar industrial adecuado para esta técnica.</a:t>
            </a:r>
          </a:p>
          <a:p>
            <a:pPr marL="518158" lvl="1" indent="-259079" algn="just">
              <a:lnSpc>
                <a:spcPts val="3119"/>
              </a:lnSpc>
              <a:buFont typeface="Arial"/>
              <a:buChar char="•"/>
            </a:pPr>
            <a:r>
              <a:rPr lang="en-US" sz="2399">
                <a:solidFill>
                  <a:srgbClr val="000000"/>
                </a:solidFill>
                <a:latin typeface="Poppins"/>
                <a:ea typeface="Poppins"/>
                <a:cs typeface="Poppins"/>
                <a:sym typeface="Poppins"/>
              </a:rPr>
              <a:t>Es difícil estimar el tamaño utilizando esta técnica en las primeras etapas del proyecto.</a:t>
            </a:r>
          </a:p>
          <a:p>
            <a:pPr marL="518158" lvl="1" indent="-259079" algn="just">
              <a:lnSpc>
                <a:spcPts val="3119"/>
              </a:lnSpc>
              <a:buFont typeface="Arial"/>
              <a:buChar char="•"/>
            </a:pPr>
            <a:r>
              <a:rPr lang="en-US" sz="2399">
                <a:solidFill>
                  <a:srgbClr val="000000"/>
                </a:solidFill>
                <a:latin typeface="Poppins"/>
                <a:ea typeface="Poppins"/>
                <a:cs typeface="Poppins"/>
                <a:sym typeface="Poppins"/>
              </a:rPr>
              <a:t>Cuando las plataformas y los idiomas son diferentes, no se puede utilizar LOC para normalizar.</a:t>
            </a:r>
          </a:p>
        </p:txBody>
      </p:sp>
    </p:spTree>
  </p:cSld>
  <p:clrMapOvr>
    <a:masterClrMapping/>
  </p:clrMapOvr>
  <p:transition>
    <p:cover dir="d"/>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AutoShape 2"/>
          <p:cNvSpPr/>
          <p:nvPr/>
        </p:nvSpPr>
        <p:spPr>
          <a:xfrm>
            <a:off x="9144000" y="0"/>
            <a:ext cx="9144000" cy="5295117"/>
          </a:xfrm>
          <a:prstGeom prst="rect">
            <a:avLst/>
          </a:prstGeom>
          <a:solidFill>
            <a:srgbClr val="5170FF"/>
          </a:solidFill>
        </p:spPr>
      </p:sp>
      <p:grpSp>
        <p:nvGrpSpPr>
          <p:cNvPr id="3" name="Group 3"/>
          <p:cNvGrpSpPr/>
          <p:nvPr/>
        </p:nvGrpSpPr>
        <p:grpSpPr>
          <a:xfrm>
            <a:off x="9989582" y="605059"/>
            <a:ext cx="7057893" cy="737694"/>
            <a:chOff x="0" y="0"/>
            <a:chExt cx="4566622" cy="477305"/>
          </a:xfrm>
        </p:grpSpPr>
        <p:sp>
          <p:nvSpPr>
            <p:cNvPr id="4" name="Freeform 4"/>
            <p:cNvSpPr/>
            <p:nvPr/>
          </p:nvSpPr>
          <p:spPr>
            <a:xfrm>
              <a:off x="0" y="0"/>
              <a:ext cx="4566622" cy="477306"/>
            </a:xfrm>
            <a:custGeom>
              <a:avLst/>
              <a:gdLst/>
              <a:ahLst/>
              <a:cxnLst/>
              <a:rect l="l" t="t" r="r" b="b"/>
              <a:pathLst>
                <a:path w="4566622" h="477306">
                  <a:moveTo>
                    <a:pt x="4363422" y="0"/>
                  </a:moveTo>
                  <a:cubicBezTo>
                    <a:pt x="4475647" y="0"/>
                    <a:pt x="4566622" y="106848"/>
                    <a:pt x="4566622" y="238653"/>
                  </a:cubicBezTo>
                  <a:cubicBezTo>
                    <a:pt x="4566622" y="370457"/>
                    <a:pt x="4475647" y="477306"/>
                    <a:pt x="4363422" y="477306"/>
                  </a:cubicBezTo>
                  <a:lnTo>
                    <a:pt x="203200" y="477306"/>
                  </a:lnTo>
                  <a:cubicBezTo>
                    <a:pt x="90976" y="477306"/>
                    <a:pt x="0" y="370457"/>
                    <a:pt x="0" y="238653"/>
                  </a:cubicBezTo>
                  <a:cubicBezTo>
                    <a:pt x="0" y="106848"/>
                    <a:pt x="90976" y="0"/>
                    <a:pt x="203200" y="0"/>
                  </a:cubicBezTo>
                  <a:close/>
                </a:path>
              </a:pathLst>
            </a:custGeom>
            <a:solidFill>
              <a:srgbClr val="EDECED"/>
            </a:solidFill>
          </p:spPr>
        </p:sp>
        <p:sp>
          <p:nvSpPr>
            <p:cNvPr id="5" name="TextBox 5"/>
            <p:cNvSpPr txBox="1"/>
            <p:nvPr/>
          </p:nvSpPr>
          <p:spPr>
            <a:xfrm>
              <a:off x="0" y="-57150"/>
              <a:ext cx="4566622" cy="534455"/>
            </a:xfrm>
            <a:prstGeom prst="rect">
              <a:avLst/>
            </a:prstGeom>
          </p:spPr>
          <p:txBody>
            <a:bodyPr lIns="45385" tIns="45385" rIns="45385" bIns="45385" rtlCol="0" anchor="ctr"/>
            <a:lstStyle/>
            <a:p>
              <a:pPr algn="ctr">
                <a:lnSpc>
                  <a:spcPts val="2376"/>
                </a:lnSpc>
              </a:pPr>
              <a:endParaRPr/>
            </a:p>
          </p:txBody>
        </p:sp>
      </p:grpSp>
      <p:sp>
        <p:nvSpPr>
          <p:cNvPr id="6" name="TextBox 6"/>
          <p:cNvSpPr txBox="1"/>
          <p:nvPr/>
        </p:nvSpPr>
        <p:spPr>
          <a:xfrm>
            <a:off x="937318" y="2063283"/>
            <a:ext cx="7507203" cy="2190750"/>
          </a:xfrm>
          <a:prstGeom prst="rect">
            <a:avLst/>
          </a:prstGeom>
        </p:spPr>
        <p:txBody>
          <a:bodyPr lIns="0" tIns="0" rIns="0" bIns="0" rtlCol="0" anchor="t">
            <a:spAutoFit/>
          </a:bodyPr>
          <a:lstStyle/>
          <a:p>
            <a:pPr marL="0" lvl="0" indent="0" algn="ctr">
              <a:lnSpc>
                <a:spcPts val="8640"/>
              </a:lnSpc>
              <a:spcBef>
                <a:spcPct val="0"/>
              </a:spcBef>
            </a:pPr>
            <a:r>
              <a:rPr lang="en-US" sz="7200" b="1" spc="-324">
                <a:solidFill>
                  <a:srgbClr val="000000"/>
                </a:solidFill>
                <a:latin typeface="Antonio Bold"/>
                <a:ea typeface="Antonio Bold"/>
                <a:cs typeface="Antonio Bold"/>
                <a:sym typeface="Antonio Bold"/>
              </a:rPr>
              <a:t>NÚMERO DE ENTIDADES EN EL DIAGRAMA ER</a:t>
            </a:r>
          </a:p>
        </p:txBody>
      </p:sp>
      <p:sp>
        <p:nvSpPr>
          <p:cNvPr id="7" name="TextBox 7"/>
          <p:cNvSpPr txBox="1"/>
          <p:nvPr/>
        </p:nvSpPr>
        <p:spPr>
          <a:xfrm>
            <a:off x="763357" y="4748524"/>
            <a:ext cx="7681163" cy="4339590"/>
          </a:xfrm>
          <a:prstGeom prst="rect">
            <a:avLst/>
          </a:prstGeom>
        </p:spPr>
        <p:txBody>
          <a:bodyPr lIns="0" tIns="0" rIns="0" bIns="0" rtlCol="0" anchor="t">
            <a:spAutoFit/>
          </a:bodyPr>
          <a:lstStyle/>
          <a:p>
            <a:pPr marL="0" lvl="0" indent="0" algn="just">
              <a:lnSpc>
                <a:spcPts val="4320"/>
              </a:lnSpc>
              <a:spcBef>
                <a:spcPct val="0"/>
              </a:spcBef>
            </a:pPr>
            <a:r>
              <a:rPr lang="en-US" sz="2700">
                <a:solidFill>
                  <a:srgbClr val="000000"/>
                </a:solidFill>
                <a:latin typeface="Poppins"/>
                <a:ea typeface="Poppins"/>
                <a:cs typeface="Poppins"/>
                <a:sym typeface="Poppins"/>
              </a:rPr>
              <a:t>El modelo ER proporciona una visión estática del proyecto. Describe las entidades y sus relaciones. El número de entidades depende del tamaño del proyecto. Esto se debe a que un mayor número de entidades requiere más clases/estructuras, lo que implica mayor codificación. </a:t>
            </a:r>
          </a:p>
        </p:txBody>
      </p:sp>
      <p:sp>
        <p:nvSpPr>
          <p:cNvPr id="8" name="TextBox 8"/>
          <p:cNvSpPr txBox="1"/>
          <p:nvPr/>
        </p:nvSpPr>
        <p:spPr>
          <a:xfrm>
            <a:off x="10252743" y="821176"/>
            <a:ext cx="6531572" cy="414528"/>
          </a:xfrm>
          <a:prstGeom prst="rect">
            <a:avLst/>
          </a:prstGeom>
        </p:spPr>
        <p:txBody>
          <a:bodyPr lIns="0" tIns="0" rIns="0" bIns="0" rtlCol="0" anchor="t">
            <a:spAutoFit/>
          </a:bodyPr>
          <a:lstStyle/>
          <a:p>
            <a:pPr marL="0" lvl="1" indent="0" algn="ctr">
              <a:lnSpc>
                <a:spcPts val="3051"/>
              </a:lnSpc>
            </a:pPr>
            <a:r>
              <a:rPr lang="en-US" sz="2700" b="1" spc="-81">
                <a:solidFill>
                  <a:srgbClr val="000000"/>
                </a:solidFill>
                <a:latin typeface="Poppins Semi-Bold"/>
                <a:ea typeface="Poppins Semi-Bold"/>
                <a:cs typeface="Poppins Semi-Bold"/>
                <a:sym typeface="Poppins Semi-Bold"/>
              </a:rPr>
              <a:t>Ventajas</a:t>
            </a:r>
          </a:p>
        </p:txBody>
      </p:sp>
      <p:grpSp>
        <p:nvGrpSpPr>
          <p:cNvPr id="9" name="Group 9"/>
          <p:cNvGrpSpPr/>
          <p:nvPr/>
        </p:nvGrpSpPr>
        <p:grpSpPr>
          <a:xfrm>
            <a:off x="-2062688" y="9715955"/>
            <a:ext cx="21014417" cy="1392272"/>
            <a:chOff x="0" y="0"/>
            <a:chExt cx="3300463" cy="218666"/>
          </a:xfrm>
        </p:grpSpPr>
        <p:sp>
          <p:nvSpPr>
            <p:cNvPr id="10" name="Freeform 10"/>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11" name="TextBox 11"/>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80510" y="220442"/>
            <a:ext cx="7594232" cy="384617"/>
          </a:xfrm>
          <a:prstGeom prst="rect">
            <a:avLst/>
          </a:prstGeom>
        </p:spPr>
        <p:txBody>
          <a:bodyPr lIns="0" tIns="0" rIns="0" bIns="0" rtlCol="0" anchor="t">
            <a:spAutoFit/>
          </a:bodyPr>
          <a:lstStyle/>
          <a:p>
            <a:pPr marL="0" lvl="0" indent="0" algn="l">
              <a:lnSpc>
                <a:spcPts val="2788"/>
              </a:lnSpc>
            </a:pPr>
            <a:r>
              <a:rPr lang="en-US" sz="2534">
                <a:solidFill>
                  <a:srgbClr val="000000"/>
                </a:solidFill>
                <a:latin typeface="Poppins"/>
                <a:ea typeface="Poppins"/>
                <a:cs typeface="Poppins"/>
                <a:sym typeface="Poppins"/>
              </a:rPr>
              <a:t>Estimación del tamaño del software</a:t>
            </a:r>
          </a:p>
        </p:txBody>
      </p:sp>
      <p:sp>
        <p:nvSpPr>
          <p:cNvPr id="13" name="AutoShape 13"/>
          <p:cNvSpPr/>
          <p:nvPr/>
        </p:nvSpPr>
        <p:spPr>
          <a:xfrm>
            <a:off x="9144000" y="5295117"/>
            <a:ext cx="9144000" cy="4991883"/>
          </a:xfrm>
          <a:prstGeom prst="rect">
            <a:avLst/>
          </a:prstGeom>
          <a:solidFill>
            <a:srgbClr val="5170FF"/>
          </a:solidFill>
        </p:spPr>
      </p:sp>
      <p:grpSp>
        <p:nvGrpSpPr>
          <p:cNvPr id="14" name="Group 14"/>
          <p:cNvGrpSpPr/>
          <p:nvPr/>
        </p:nvGrpSpPr>
        <p:grpSpPr>
          <a:xfrm>
            <a:off x="9989582" y="5567940"/>
            <a:ext cx="7057893" cy="738885"/>
            <a:chOff x="0" y="0"/>
            <a:chExt cx="3473063" cy="363592"/>
          </a:xfrm>
        </p:grpSpPr>
        <p:sp>
          <p:nvSpPr>
            <p:cNvPr id="15" name="Freeform 15"/>
            <p:cNvSpPr/>
            <p:nvPr/>
          </p:nvSpPr>
          <p:spPr>
            <a:xfrm>
              <a:off x="0" y="0"/>
              <a:ext cx="3473063" cy="363592"/>
            </a:xfrm>
            <a:custGeom>
              <a:avLst/>
              <a:gdLst/>
              <a:ahLst/>
              <a:cxnLst/>
              <a:rect l="l" t="t" r="r" b="b"/>
              <a:pathLst>
                <a:path w="3473063" h="363592">
                  <a:moveTo>
                    <a:pt x="3269863" y="0"/>
                  </a:moveTo>
                  <a:cubicBezTo>
                    <a:pt x="3382087" y="0"/>
                    <a:pt x="3473063" y="81393"/>
                    <a:pt x="3473063" y="181796"/>
                  </a:cubicBezTo>
                  <a:cubicBezTo>
                    <a:pt x="3473063" y="282199"/>
                    <a:pt x="3382087" y="363592"/>
                    <a:pt x="3269863" y="363592"/>
                  </a:cubicBezTo>
                  <a:lnTo>
                    <a:pt x="203200" y="363592"/>
                  </a:lnTo>
                  <a:cubicBezTo>
                    <a:pt x="90976" y="363592"/>
                    <a:pt x="0" y="282199"/>
                    <a:pt x="0" y="181796"/>
                  </a:cubicBezTo>
                  <a:cubicBezTo>
                    <a:pt x="0" y="81393"/>
                    <a:pt x="90976" y="0"/>
                    <a:pt x="203200" y="0"/>
                  </a:cubicBezTo>
                  <a:close/>
                </a:path>
              </a:pathLst>
            </a:custGeom>
            <a:solidFill>
              <a:srgbClr val="EDECED"/>
            </a:solidFill>
          </p:spPr>
        </p:sp>
        <p:sp>
          <p:nvSpPr>
            <p:cNvPr id="16" name="TextBox 16"/>
            <p:cNvSpPr txBox="1"/>
            <p:nvPr/>
          </p:nvSpPr>
          <p:spPr>
            <a:xfrm>
              <a:off x="0" y="-66675"/>
              <a:ext cx="3473063" cy="430267"/>
            </a:xfrm>
            <a:prstGeom prst="rect">
              <a:avLst/>
            </a:prstGeom>
          </p:spPr>
          <p:txBody>
            <a:bodyPr lIns="59676" tIns="59676" rIns="59676" bIns="59676" rtlCol="0" anchor="ctr"/>
            <a:lstStyle/>
            <a:p>
              <a:pPr algn="ctr">
                <a:lnSpc>
                  <a:spcPts val="3124"/>
                </a:lnSpc>
              </a:pPr>
              <a:endParaRPr/>
            </a:p>
          </p:txBody>
        </p:sp>
      </p:grpSp>
      <p:sp>
        <p:nvSpPr>
          <p:cNvPr id="17" name="TextBox 17"/>
          <p:cNvSpPr txBox="1"/>
          <p:nvPr/>
        </p:nvSpPr>
        <p:spPr>
          <a:xfrm>
            <a:off x="10252743" y="5727734"/>
            <a:ext cx="6361559" cy="414528"/>
          </a:xfrm>
          <a:prstGeom prst="rect">
            <a:avLst/>
          </a:prstGeom>
        </p:spPr>
        <p:txBody>
          <a:bodyPr lIns="0" tIns="0" rIns="0" bIns="0" rtlCol="0" anchor="t">
            <a:spAutoFit/>
          </a:bodyPr>
          <a:lstStyle/>
          <a:p>
            <a:pPr marL="0" lvl="1" indent="0" algn="ctr">
              <a:lnSpc>
                <a:spcPts val="3051"/>
              </a:lnSpc>
            </a:pPr>
            <a:r>
              <a:rPr lang="en-US" sz="2700" b="1" spc="-81">
                <a:solidFill>
                  <a:srgbClr val="000000"/>
                </a:solidFill>
                <a:latin typeface="Poppins Semi-Bold"/>
                <a:ea typeface="Poppins Semi-Bold"/>
                <a:cs typeface="Poppins Semi-Bold"/>
                <a:sym typeface="Poppins Semi-Bold"/>
              </a:rPr>
              <a:t>Desventajas</a:t>
            </a:r>
          </a:p>
        </p:txBody>
      </p:sp>
      <p:sp>
        <p:nvSpPr>
          <p:cNvPr id="18" name="TextBox 18"/>
          <p:cNvSpPr txBox="1"/>
          <p:nvPr/>
        </p:nvSpPr>
        <p:spPr>
          <a:xfrm>
            <a:off x="9989582" y="2016754"/>
            <a:ext cx="7057893" cy="2865120"/>
          </a:xfrm>
          <a:prstGeom prst="rect">
            <a:avLst/>
          </a:prstGeom>
        </p:spPr>
        <p:txBody>
          <a:bodyPr lIns="0" tIns="0" rIns="0" bIns="0" rtlCol="0" anchor="t">
            <a:spAutoFit/>
          </a:bodyPr>
          <a:lstStyle/>
          <a:p>
            <a:pPr marL="582930" lvl="1" indent="-291465" algn="just">
              <a:lnSpc>
                <a:spcPts val="3779"/>
              </a:lnSpc>
              <a:buFont typeface="Arial"/>
              <a:buChar char="•"/>
            </a:pPr>
            <a:r>
              <a:rPr lang="en-US" sz="2700">
                <a:solidFill>
                  <a:srgbClr val="FFFFFF"/>
                </a:solidFill>
                <a:latin typeface="Poppins"/>
                <a:ea typeface="Poppins"/>
                <a:cs typeface="Poppins"/>
                <a:sym typeface="Poppins"/>
              </a:rPr>
              <a:t>La estimación del tamaño se puede realizar durante las etapas iniciales de planificación.</a:t>
            </a:r>
          </a:p>
          <a:p>
            <a:pPr marL="582930" lvl="1" indent="-291465" algn="just">
              <a:lnSpc>
                <a:spcPts val="3779"/>
              </a:lnSpc>
              <a:buFont typeface="Arial"/>
              <a:buChar char="•"/>
            </a:pPr>
            <a:r>
              <a:rPr lang="en-US" sz="2700">
                <a:solidFill>
                  <a:srgbClr val="FFFFFF"/>
                </a:solidFill>
                <a:latin typeface="Poppins"/>
                <a:ea typeface="Poppins"/>
                <a:cs typeface="Poppins"/>
                <a:sym typeface="Poppins"/>
              </a:rPr>
              <a:t>El número de entidades es independiente de las tecnologías de programación utilizadas.</a:t>
            </a:r>
          </a:p>
        </p:txBody>
      </p:sp>
      <p:sp>
        <p:nvSpPr>
          <p:cNvPr id="19" name="TextBox 19"/>
          <p:cNvSpPr txBox="1"/>
          <p:nvPr/>
        </p:nvSpPr>
        <p:spPr>
          <a:xfrm>
            <a:off x="9904576" y="6540730"/>
            <a:ext cx="7057893" cy="3341370"/>
          </a:xfrm>
          <a:prstGeom prst="rect">
            <a:avLst/>
          </a:prstGeom>
        </p:spPr>
        <p:txBody>
          <a:bodyPr lIns="0" tIns="0" rIns="0" bIns="0" rtlCol="0" anchor="t">
            <a:spAutoFit/>
          </a:bodyPr>
          <a:lstStyle/>
          <a:p>
            <a:pPr marL="582930" lvl="1" indent="-291465" algn="just">
              <a:lnSpc>
                <a:spcPts val="3779"/>
              </a:lnSpc>
              <a:buFont typeface="Arial"/>
              <a:buChar char="•"/>
            </a:pPr>
            <a:r>
              <a:rPr lang="en-US" sz="2700">
                <a:solidFill>
                  <a:srgbClr val="FFFFFF"/>
                </a:solidFill>
                <a:latin typeface="Poppins"/>
                <a:ea typeface="Poppins"/>
                <a:cs typeface="Poppins"/>
                <a:sym typeface="Poppins"/>
              </a:rPr>
              <a:t>No existen estándares fijos. Algunas entidades contribuyen más al tamaño del proyecto que otras.</a:t>
            </a:r>
          </a:p>
          <a:p>
            <a:pPr marL="582930" lvl="1" indent="-291465" algn="just">
              <a:lnSpc>
                <a:spcPts val="3779"/>
              </a:lnSpc>
              <a:buFont typeface="Arial"/>
              <a:buChar char="•"/>
            </a:pPr>
            <a:r>
              <a:rPr lang="en-US" sz="2700">
                <a:solidFill>
                  <a:srgbClr val="FFFFFF"/>
                </a:solidFill>
                <a:latin typeface="Poppins"/>
                <a:ea typeface="Poppins"/>
                <a:cs typeface="Poppins"/>
                <a:sym typeface="Poppins"/>
              </a:rPr>
              <a:t>Al igual que el FPA, se utiliza menos en el modelo de estimación de costos. Por lo tanto, debe convertirse a LOC.</a:t>
            </a:r>
          </a:p>
        </p:txBody>
      </p:sp>
    </p:spTree>
  </p:cSld>
  <p:clrMapOvr>
    <a:masterClrMapping/>
  </p:clrMapOvr>
  <p:transition>
    <p:cover dir="d"/>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434969" y="763722"/>
            <a:ext cx="9701867" cy="4144792"/>
            <a:chOff x="0" y="0"/>
            <a:chExt cx="3034128" cy="1296227"/>
          </a:xfrm>
        </p:grpSpPr>
        <p:sp>
          <p:nvSpPr>
            <p:cNvPr id="3" name="Freeform 3"/>
            <p:cNvSpPr/>
            <p:nvPr/>
          </p:nvSpPr>
          <p:spPr>
            <a:xfrm>
              <a:off x="0" y="0"/>
              <a:ext cx="3034128" cy="1296227"/>
            </a:xfrm>
            <a:custGeom>
              <a:avLst/>
              <a:gdLst/>
              <a:ahLst/>
              <a:cxnLst/>
              <a:rect l="l" t="t" r="r" b="b"/>
              <a:pathLst>
                <a:path w="3034128" h="1296227">
                  <a:moveTo>
                    <a:pt x="40398" y="0"/>
                  </a:moveTo>
                  <a:lnTo>
                    <a:pt x="2993730" y="0"/>
                  </a:lnTo>
                  <a:cubicBezTo>
                    <a:pt x="3004444" y="0"/>
                    <a:pt x="3014719" y="4256"/>
                    <a:pt x="3022295" y="11832"/>
                  </a:cubicBezTo>
                  <a:cubicBezTo>
                    <a:pt x="3029871" y="19408"/>
                    <a:pt x="3034128" y="29684"/>
                    <a:pt x="3034128" y="40398"/>
                  </a:cubicBezTo>
                  <a:lnTo>
                    <a:pt x="3034128" y="1255830"/>
                  </a:lnTo>
                  <a:cubicBezTo>
                    <a:pt x="3034128" y="1278141"/>
                    <a:pt x="3016041" y="1296227"/>
                    <a:pt x="2993730" y="1296227"/>
                  </a:cubicBezTo>
                  <a:lnTo>
                    <a:pt x="40398" y="1296227"/>
                  </a:lnTo>
                  <a:cubicBezTo>
                    <a:pt x="18087" y="1296227"/>
                    <a:pt x="0" y="1278141"/>
                    <a:pt x="0" y="1255830"/>
                  </a:cubicBezTo>
                  <a:lnTo>
                    <a:pt x="0" y="40398"/>
                  </a:lnTo>
                  <a:cubicBezTo>
                    <a:pt x="0" y="18087"/>
                    <a:pt x="18087" y="0"/>
                    <a:pt x="40398" y="0"/>
                  </a:cubicBezTo>
                  <a:close/>
                </a:path>
              </a:pathLst>
            </a:custGeom>
            <a:solidFill>
              <a:srgbClr val="5170FF"/>
            </a:solidFill>
          </p:spPr>
        </p:sp>
        <p:sp>
          <p:nvSpPr>
            <p:cNvPr id="4" name="TextBox 4"/>
            <p:cNvSpPr txBox="1"/>
            <p:nvPr/>
          </p:nvSpPr>
          <p:spPr>
            <a:xfrm>
              <a:off x="0" y="-57150"/>
              <a:ext cx="3034128" cy="135337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34969" y="5365713"/>
            <a:ext cx="9701867" cy="3892587"/>
            <a:chOff x="0" y="0"/>
            <a:chExt cx="3034128" cy="1217354"/>
          </a:xfrm>
        </p:grpSpPr>
        <p:sp>
          <p:nvSpPr>
            <p:cNvPr id="6" name="Freeform 6"/>
            <p:cNvSpPr/>
            <p:nvPr/>
          </p:nvSpPr>
          <p:spPr>
            <a:xfrm>
              <a:off x="0" y="0"/>
              <a:ext cx="3034128" cy="1217354"/>
            </a:xfrm>
            <a:custGeom>
              <a:avLst/>
              <a:gdLst/>
              <a:ahLst/>
              <a:cxnLst/>
              <a:rect l="l" t="t" r="r" b="b"/>
              <a:pathLst>
                <a:path w="3034128" h="1217354">
                  <a:moveTo>
                    <a:pt x="40398" y="0"/>
                  </a:moveTo>
                  <a:lnTo>
                    <a:pt x="2993730" y="0"/>
                  </a:lnTo>
                  <a:cubicBezTo>
                    <a:pt x="3004444" y="0"/>
                    <a:pt x="3014719" y="4256"/>
                    <a:pt x="3022295" y="11832"/>
                  </a:cubicBezTo>
                  <a:cubicBezTo>
                    <a:pt x="3029871" y="19408"/>
                    <a:pt x="3034128" y="29684"/>
                    <a:pt x="3034128" y="40398"/>
                  </a:cubicBezTo>
                  <a:lnTo>
                    <a:pt x="3034128" y="1176956"/>
                  </a:lnTo>
                  <a:cubicBezTo>
                    <a:pt x="3034128" y="1199267"/>
                    <a:pt x="3016041" y="1217354"/>
                    <a:pt x="2993730" y="1217354"/>
                  </a:cubicBezTo>
                  <a:lnTo>
                    <a:pt x="40398" y="1217354"/>
                  </a:lnTo>
                  <a:cubicBezTo>
                    <a:pt x="18087" y="1217354"/>
                    <a:pt x="0" y="1199267"/>
                    <a:pt x="0" y="1176956"/>
                  </a:cubicBezTo>
                  <a:lnTo>
                    <a:pt x="0" y="40398"/>
                  </a:lnTo>
                  <a:cubicBezTo>
                    <a:pt x="0" y="18087"/>
                    <a:pt x="18087" y="0"/>
                    <a:pt x="40398" y="0"/>
                  </a:cubicBezTo>
                  <a:close/>
                </a:path>
              </a:pathLst>
            </a:custGeom>
            <a:solidFill>
              <a:srgbClr val="5170FF"/>
            </a:solidFill>
          </p:spPr>
        </p:sp>
        <p:sp>
          <p:nvSpPr>
            <p:cNvPr id="7" name="TextBox 7"/>
            <p:cNvSpPr txBox="1"/>
            <p:nvPr/>
          </p:nvSpPr>
          <p:spPr>
            <a:xfrm>
              <a:off x="0" y="-57150"/>
              <a:ext cx="3034128" cy="1274504"/>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0751317" y="1582061"/>
            <a:ext cx="6815549" cy="2025015"/>
          </a:xfrm>
          <a:prstGeom prst="rect">
            <a:avLst/>
          </a:prstGeom>
        </p:spPr>
        <p:txBody>
          <a:bodyPr lIns="0" tIns="0" rIns="0" bIns="0" rtlCol="0" anchor="t">
            <a:spAutoFit/>
          </a:bodyPr>
          <a:lstStyle/>
          <a:p>
            <a:pPr marL="0" lvl="0" indent="0" algn="ctr">
              <a:lnSpc>
                <a:spcPts val="7920"/>
              </a:lnSpc>
            </a:pPr>
            <a:r>
              <a:rPr lang="en-US" sz="7200" b="1" spc="-324">
                <a:solidFill>
                  <a:srgbClr val="000000"/>
                </a:solidFill>
                <a:latin typeface="Antonio Bold"/>
                <a:ea typeface="Antonio Bold"/>
                <a:cs typeface="Antonio Bold"/>
                <a:sym typeface="Antonio Bold"/>
              </a:rPr>
              <a:t>NÚMERO TOTAL DE PROCESOS EN DFD</a:t>
            </a:r>
          </a:p>
        </p:txBody>
      </p:sp>
      <p:sp>
        <p:nvSpPr>
          <p:cNvPr id="9" name="TextBox 9"/>
          <p:cNvSpPr txBox="1"/>
          <p:nvPr/>
        </p:nvSpPr>
        <p:spPr>
          <a:xfrm>
            <a:off x="10751317" y="3912252"/>
            <a:ext cx="6815549" cy="3817620"/>
          </a:xfrm>
          <a:prstGeom prst="rect">
            <a:avLst/>
          </a:prstGeom>
        </p:spPr>
        <p:txBody>
          <a:bodyPr lIns="0" tIns="0" rIns="0" bIns="0" rtlCol="0" anchor="t">
            <a:spAutoFit/>
          </a:bodyPr>
          <a:lstStyle/>
          <a:p>
            <a:pPr marL="0" lvl="0" indent="0" algn="just">
              <a:lnSpc>
                <a:spcPts val="3779"/>
              </a:lnSpc>
              <a:spcBef>
                <a:spcPct val="0"/>
              </a:spcBef>
            </a:pPr>
            <a:r>
              <a:rPr lang="en-US" sz="2700">
                <a:solidFill>
                  <a:srgbClr val="000000"/>
                </a:solidFill>
                <a:latin typeface="Poppins"/>
                <a:ea typeface="Poppins"/>
                <a:cs typeface="Poppins"/>
                <a:sym typeface="Poppins"/>
              </a:rPr>
              <a:t>El diagrama de flujo de datos (DFD) representa la visión funcional del software. Se estudian procesos ya existentes de tipo similar y se utilizan para estimar el tamaño del proceso. La suma del tamaño estimado de cada proceso proporciona el tamaño estimado final. </a:t>
            </a:r>
          </a:p>
        </p:txBody>
      </p:sp>
      <p:sp>
        <p:nvSpPr>
          <p:cNvPr id="10" name="TextBox 10"/>
          <p:cNvSpPr txBox="1"/>
          <p:nvPr/>
        </p:nvSpPr>
        <p:spPr>
          <a:xfrm>
            <a:off x="2291362" y="1331934"/>
            <a:ext cx="5506960" cy="385953"/>
          </a:xfrm>
          <a:prstGeom prst="rect">
            <a:avLst/>
          </a:prstGeom>
        </p:spPr>
        <p:txBody>
          <a:bodyPr lIns="0" tIns="0" rIns="0" bIns="0" rtlCol="0" anchor="t">
            <a:spAutoFit/>
          </a:bodyPr>
          <a:lstStyle/>
          <a:p>
            <a:pPr marL="0" lvl="0" indent="0" algn="ctr">
              <a:lnSpc>
                <a:spcPts val="3051"/>
              </a:lnSpc>
            </a:pPr>
            <a:r>
              <a:rPr lang="en-US" sz="2700" b="1">
                <a:solidFill>
                  <a:srgbClr val="000000"/>
                </a:solidFill>
                <a:latin typeface="Antonio Bold"/>
                <a:ea typeface="Antonio Bold"/>
                <a:cs typeface="Antonio Bold"/>
                <a:sym typeface="Antonio Bold"/>
              </a:rPr>
              <a:t>VENTAJAS</a:t>
            </a:r>
          </a:p>
        </p:txBody>
      </p:sp>
      <p:sp>
        <p:nvSpPr>
          <p:cNvPr id="11" name="TextBox 11"/>
          <p:cNvSpPr txBox="1"/>
          <p:nvPr/>
        </p:nvSpPr>
        <p:spPr>
          <a:xfrm>
            <a:off x="1682608" y="5878212"/>
            <a:ext cx="6724468" cy="385953"/>
          </a:xfrm>
          <a:prstGeom prst="rect">
            <a:avLst/>
          </a:prstGeom>
        </p:spPr>
        <p:txBody>
          <a:bodyPr lIns="0" tIns="0" rIns="0" bIns="0" rtlCol="0" anchor="t">
            <a:spAutoFit/>
          </a:bodyPr>
          <a:lstStyle/>
          <a:p>
            <a:pPr marL="0" lvl="0" indent="0" algn="ctr">
              <a:lnSpc>
                <a:spcPts val="3051"/>
              </a:lnSpc>
            </a:pPr>
            <a:r>
              <a:rPr lang="en-US" sz="2700" b="1">
                <a:solidFill>
                  <a:srgbClr val="000000"/>
                </a:solidFill>
                <a:latin typeface="Antonio Bold"/>
                <a:ea typeface="Antonio Bold"/>
                <a:cs typeface="Antonio Bold"/>
                <a:sym typeface="Antonio Bold"/>
              </a:rPr>
              <a:t>DESVENTAJAS</a:t>
            </a:r>
          </a:p>
        </p:txBody>
      </p:sp>
      <p:sp>
        <p:nvSpPr>
          <p:cNvPr id="12" name="TextBox 12"/>
          <p:cNvSpPr txBox="1"/>
          <p:nvPr/>
        </p:nvSpPr>
        <p:spPr>
          <a:xfrm>
            <a:off x="760973" y="6588888"/>
            <a:ext cx="8567738" cy="2388870"/>
          </a:xfrm>
          <a:prstGeom prst="rect">
            <a:avLst/>
          </a:prstGeom>
        </p:spPr>
        <p:txBody>
          <a:bodyPr lIns="0" tIns="0" rIns="0" bIns="0" rtlCol="0" anchor="t">
            <a:spAutoFit/>
          </a:bodyPr>
          <a:lstStyle/>
          <a:p>
            <a:pPr marL="582930" lvl="1" indent="-291465" algn="just">
              <a:lnSpc>
                <a:spcPts val="3779"/>
              </a:lnSpc>
              <a:buFont typeface="Arial"/>
              <a:buChar char="•"/>
            </a:pPr>
            <a:r>
              <a:rPr lang="en-US" sz="2700">
                <a:solidFill>
                  <a:srgbClr val="FFFFFF"/>
                </a:solidFill>
                <a:latin typeface="Poppins"/>
                <a:ea typeface="Poppins"/>
                <a:cs typeface="Poppins"/>
                <a:sym typeface="Poppins"/>
              </a:rPr>
              <a:t>Estudiar tipos similares de procesos para estimar el tamaño requiere tiempo y esfuerzo adicionales.</a:t>
            </a:r>
          </a:p>
          <a:p>
            <a:pPr marL="582930" lvl="1" indent="-291465" algn="just">
              <a:lnSpc>
                <a:spcPts val="3779"/>
              </a:lnSpc>
              <a:buFont typeface="Arial"/>
              <a:buChar char="•"/>
            </a:pPr>
            <a:r>
              <a:rPr lang="en-US" sz="2700">
                <a:solidFill>
                  <a:srgbClr val="FFFFFF"/>
                </a:solidFill>
                <a:latin typeface="Poppins"/>
                <a:ea typeface="Poppins"/>
                <a:cs typeface="Poppins"/>
                <a:sym typeface="Poppins"/>
              </a:rPr>
              <a:t>No todos los proyectos de software son necesarios para la construcción de DFD.</a:t>
            </a:r>
          </a:p>
        </p:txBody>
      </p:sp>
      <p:grpSp>
        <p:nvGrpSpPr>
          <p:cNvPr id="13" name="Group 13"/>
          <p:cNvGrpSpPr/>
          <p:nvPr/>
        </p:nvGrpSpPr>
        <p:grpSpPr>
          <a:xfrm>
            <a:off x="-2062688" y="9715955"/>
            <a:ext cx="21014417" cy="1392272"/>
            <a:chOff x="0" y="0"/>
            <a:chExt cx="3300463" cy="218666"/>
          </a:xfrm>
        </p:grpSpPr>
        <p:sp>
          <p:nvSpPr>
            <p:cNvPr id="14" name="Freeform 14"/>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15" name="TextBox 15"/>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16" name="TextBox 16"/>
          <p:cNvSpPr txBox="1"/>
          <p:nvPr/>
        </p:nvSpPr>
        <p:spPr>
          <a:xfrm>
            <a:off x="434969" y="0"/>
            <a:ext cx="7594232" cy="384617"/>
          </a:xfrm>
          <a:prstGeom prst="rect">
            <a:avLst/>
          </a:prstGeom>
        </p:spPr>
        <p:txBody>
          <a:bodyPr lIns="0" tIns="0" rIns="0" bIns="0" rtlCol="0" anchor="t">
            <a:spAutoFit/>
          </a:bodyPr>
          <a:lstStyle/>
          <a:p>
            <a:pPr marL="0" lvl="0" indent="0" algn="l">
              <a:lnSpc>
                <a:spcPts val="2788"/>
              </a:lnSpc>
            </a:pPr>
            <a:r>
              <a:rPr lang="en-US" sz="2534">
                <a:solidFill>
                  <a:srgbClr val="000000"/>
                </a:solidFill>
                <a:latin typeface="Poppins"/>
                <a:ea typeface="Poppins"/>
                <a:cs typeface="Poppins"/>
                <a:sym typeface="Poppins"/>
              </a:rPr>
              <a:t>Estimación del tamaño del software</a:t>
            </a:r>
          </a:p>
        </p:txBody>
      </p:sp>
      <p:sp>
        <p:nvSpPr>
          <p:cNvPr id="17" name="TextBox 17"/>
          <p:cNvSpPr txBox="1"/>
          <p:nvPr/>
        </p:nvSpPr>
        <p:spPr>
          <a:xfrm>
            <a:off x="760973" y="2098887"/>
            <a:ext cx="8567738" cy="2388870"/>
          </a:xfrm>
          <a:prstGeom prst="rect">
            <a:avLst/>
          </a:prstGeom>
        </p:spPr>
        <p:txBody>
          <a:bodyPr lIns="0" tIns="0" rIns="0" bIns="0" rtlCol="0" anchor="t">
            <a:spAutoFit/>
          </a:bodyPr>
          <a:lstStyle/>
          <a:p>
            <a:pPr marL="582930" lvl="1" indent="-291465" algn="just">
              <a:lnSpc>
                <a:spcPts val="3779"/>
              </a:lnSpc>
              <a:buFont typeface="Arial"/>
              <a:buChar char="•"/>
            </a:pPr>
            <a:r>
              <a:rPr lang="en-US" sz="2700">
                <a:solidFill>
                  <a:srgbClr val="FFFFFF"/>
                </a:solidFill>
                <a:latin typeface="Poppins"/>
                <a:ea typeface="Poppins"/>
                <a:cs typeface="Poppins"/>
                <a:sym typeface="Poppins"/>
              </a:rPr>
              <a:t>Es independiente del lenguaje de programación.</a:t>
            </a:r>
          </a:p>
          <a:p>
            <a:pPr marL="582930" lvl="1" indent="-291465" algn="just">
              <a:lnSpc>
                <a:spcPts val="3779"/>
              </a:lnSpc>
              <a:buFont typeface="Arial"/>
              <a:buChar char="•"/>
            </a:pPr>
            <a:r>
              <a:rPr lang="en-US" sz="2700">
                <a:solidFill>
                  <a:srgbClr val="FFFFFF"/>
                </a:solidFill>
                <a:latin typeface="Poppins"/>
                <a:ea typeface="Poppins"/>
                <a:cs typeface="Poppins"/>
                <a:sym typeface="Poppins"/>
              </a:rPr>
              <a:t>Cada proceso principal puede descomponerse en procesos más pequeños. Esto aumentará la precisión de la estimación.</a:t>
            </a:r>
          </a:p>
        </p:txBody>
      </p:sp>
    </p:spTree>
  </p:cSld>
  <p:clrMapOvr>
    <a:masterClrMapping/>
  </p:clrMapOvr>
  <p:transition>
    <p:cover dir="d"/>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28700" y="1914624"/>
            <a:ext cx="8755776" cy="6271325"/>
          </a:xfrm>
          <a:custGeom>
            <a:avLst/>
            <a:gdLst/>
            <a:ahLst/>
            <a:cxnLst/>
            <a:rect l="l" t="t" r="r" b="b"/>
            <a:pathLst>
              <a:path w="8755776" h="6271325">
                <a:moveTo>
                  <a:pt x="0" y="0"/>
                </a:moveTo>
                <a:lnTo>
                  <a:pt x="8755776" y="0"/>
                </a:lnTo>
                <a:lnTo>
                  <a:pt x="8755776" y="6271325"/>
                </a:lnTo>
                <a:lnTo>
                  <a:pt x="0" y="6271325"/>
                </a:lnTo>
                <a:lnTo>
                  <a:pt x="0" y="0"/>
                </a:lnTo>
                <a:close/>
              </a:path>
            </a:pathLst>
          </a:custGeom>
          <a:blipFill>
            <a:blip r:embed="rId2"/>
            <a:stretch>
              <a:fillRect/>
            </a:stretch>
          </a:blipFill>
        </p:spPr>
      </p:sp>
      <p:sp>
        <p:nvSpPr>
          <p:cNvPr id="6" name="TextBox 6"/>
          <p:cNvSpPr txBox="1"/>
          <p:nvPr/>
        </p:nvSpPr>
        <p:spPr>
          <a:xfrm>
            <a:off x="10751317" y="1582061"/>
            <a:ext cx="6815549" cy="2025015"/>
          </a:xfrm>
          <a:prstGeom prst="rect">
            <a:avLst/>
          </a:prstGeom>
        </p:spPr>
        <p:txBody>
          <a:bodyPr lIns="0" tIns="0" rIns="0" bIns="0" rtlCol="0" anchor="t">
            <a:spAutoFit/>
          </a:bodyPr>
          <a:lstStyle/>
          <a:p>
            <a:pPr marL="0" lvl="0" indent="0" algn="ctr">
              <a:lnSpc>
                <a:spcPts val="7920"/>
              </a:lnSpc>
            </a:pPr>
            <a:r>
              <a:rPr lang="en-US" sz="7200" b="1" spc="-324">
                <a:solidFill>
                  <a:srgbClr val="000000"/>
                </a:solidFill>
                <a:latin typeface="Antonio Bold"/>
                <a:ea typeface="Antonio Bold"/>
                <a:cs typeface="Antonio Bold"/>
                <a:sym typeface="Antonio Bold"/>
              </a:rPr>
              <a:t>NÚMERO TOTAL DE PROCESOS EN DFD</a:t>
            </a:r>
          </a:p>
        </p:txBody>
      </p:sp>
      <p:sp>
        <p:nvSpPr>
          <p:cNvPr id="7" name="TextBox 7"/>
          <p:cNvSpPr txBox="1"/>
          <p:nvPr/>
        </p:nvSpPr>
        <p:spPr>
          <a:xfrm>
            <a:off x="1028700" y="794075"/>
            <a:ext cx="6815549" cy="960120"/>
          </a:xfrm>
          <a:prstGeom prst="rect">
            <a:avLst/>
          </a:prstGeom>
        </p:spPr>
        <p:txBody>
          <a:bodyPr lIns="0" tIns="0" rIns="0" bIns="0" rtlCol="0" anchor="t">
            <a:spAutoFit/>
          </a:bodyPr>
          <a:lstStyle/>
          <a:p>
            <a:pPr marL="0" lvl="0" indent="0" algn="just">
              <a:lnSpc>
                <a:spcPts val="3779"/>
              </a:lnSpc>
              <a:spcBef>
                <a:spcPct val="0"/>
              </a:spcBef>
            </a:pPr>
            <a:r>
              <a:rPr lang="en-US" sz="2700" b="1">
                <a:solidFill>
                  <a:srgbClr val="000000"/>
                </a:solidFill>
                <a:latin typeface="Poppins Bold"/>
                <a:ea typeface="Poppins Bold"/>
                <a:cs typeface="Poppins Bold"/>
                <a:sym typeface="Poppins Bold"/>
              </a:rPr>
              <a:t>Ejemplo:</a:t>
            </a:r>
            <a:r>
              <a:rPr lang="en-US" sz="2700">
                <a:solidFill>
                  <a:srgbClr val="000000"/>
                </a:solidFill>
                <a:latin typeface="Poppins"/>
                <a:ea typeface="Poppins"/>
                <a:cs typeface="Poppins"/>
                <a:sym typeface="Poppins"/>
              </a:rPr>
              <a:t> diagrama de flujos de un Sistema Gestor de Pedidos.</a:t>
            </a:r>
          </a:p>
        </p:txBody>
      </p:sp>
      <p:sp>
        <p:nvSpPr>
          <p:cNvPr id="8" name="TextBox 8"/>
          <p:cNvSpPr txBox="1"/>
          <p:nvPr/>
        </p:nvSpPr>
        <p:spPr>
          <a:xfrm>
            <a:off x="434969" y="0"/>
            <a:ext cx="7594232" cy="384617"/>
          </a:xfrm>
          <a:prstGeom prst="rect">
            <a:avLst/>
          </a:prstGeom>
        </p:spPr>
        <p:txBody>
          <a:bodyPr lIns="0" tIns="0" rIns="0" bIns="0" rtlCol="0" anchor="t">
            <a:spAutoFit/>
          </a:bodyPr>
          <a:lstStyle/>
          <a:p>
            <a:pPr marL="0" lvl="0" indent="0" algn="l">
              <a:lnSpc>
                <a:spcPts val="2788"/>
              </a:lnSpc>
            </a:pPr>
            <a:r>
              <a:rPr lang="en-US" sz="2534">
                <a:solidFill>
                  <a:srgbClr val="000000"/>
                </a:solidFill>
                <a:latin typeface="Poppins"/>
                <a:ea typeface="Poppins"/>
                <a:cs typeface="Poppins"/>
                <a:sym typeface="Poppins"/>
              </a:rPr>
              <a:t>Estimación del tamaño del software</a:t>
            </a:r>
          </a:p>
        </p:txBody>
      </p:sp>
      <p:sp>
        <p:nvSpPr>
          <p:cNvPr id="9" name="TextBox 9"/>
          <p:cNvSpPr txBox="1"/>
          <p:nvPr/>
        </p:nvSpPr>
        <p:spPr>
          <a:xfrm>
            <a:off x="1028700" y="8514390"/>
            <a:ext cx="15958428" cy="863600"/>
          </a:xfrm>
          <a:prstGeom prst="rect">
            <a:avLst/>
          </a:prstGeom>
        </p:spPr>
        <p:txBody>
          <a:bodyPr lIns="0" tIns="0" rIns="0" bIns="0" rtlCol="0" anchor="t">
            <a:spAutoFit/>
          </a:bodyPr>
          <a:lstStyle/>
          <a:p>
            <a:pPr algn="l">
              <a:lnSpc>
                <a:spcPts val="2200"/>
              </a:lnSpc>
            </a:pPr>
            <a:r>
              <a:rPr lang="en-US" sz="2000" i="1">
                <a:solidFill>
                  <a:srgbClr val="000000"/>
                </a:solidFill>
                <a:latin typeface="Poppins Italics"/>
                <a:ea typeface="Poppins Italics"/>
                <a:cs typeface="Poppins Italics"/>
                <a:sym typeface="Poppins Italics"/>
              </a:rPr>
              <a:t>Figura 1:  Diagrama de flujo de datos. </a:t>
            </a:r>
          </a:p>
          <a:p>
            <a:pPr marL="0" lvl="0" indent="0" algn="l">
              <a:lnSpc>
                <a:spcPts val="2200"/>
              </a:lnSpc>
            </a:pPr>
            <a:r>
              <a:rPr lang="en-US" sz="2000" i="1">
                <a:solidFill>
                  <a:srgbClr val="000000"/>
                </a:solidFill>
                <a:latin typeface="Poppins Italics"/>
                <a:ea typeface="Poppins Italics"/>
                <a:cs typeface="Poppins Italics"/>
                <a:sym typeface="Poppins Italics"/>
              </a:rPr>
              <a:t>Tomado de Diagrama de flujo de datos, por M. Cillero, s.f., https://manuel.cillero.es/doc/metodologia/metrica-3/tecnicas/diagrama-de-flujo-de-datos/</a:t>
            </a:r>
          </a:p>
        </p:txBody>
      </p:sp>
    </p:spTree>
  </p:cSld>
  <p:clrMapOvr>
    <a:masterClrMapping/>
  </p:clrMapOvr>
  <p:transition>
    <p:cover dir="d"/>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5170FF"/>
        </a:solidFill>
        <a:effectLst/>
      </p:bgPr>
    </p:bg>
    <p:spTree>
      <p:nvGrpSpPr>
        <p:cNvPr id="1" name=""/>
        <p:cNvGrpSpPr/>
        <p:nvPr/>
      </p:nvGrpSpPr>
      <p:grpSpPr>
        <a:xfrm>
          <a:off x="0" y="0"/>
          <a:ext cx="0" cy="0"/>
          <a:chOff x="0" y="0"/>
          <a:chExt cx="0" cy="0"/>
        </a:xfrm>
      </p:grpSpPr>
      <p:sp>
        <p:nvSpPr>
          <p:cNvPr id="2" name="AutoShape 2"/>
          <p:cNvSpPr/>
          <p:nvPr/>
        </p:nvSpPr>
        <p:spPr>
          <a:xfrm flipH="1">
            <a:off x="1274526" y="1382079"/>
            <a:ext cx="736984" cy="1180807"/>
          </a:xfrm>
          <a:prstGeom prst="line">
            <a:avLst/>
          </a:prstGeom>
          <a:ln w="66675" cap="flat">
            <a:solidFill>
              <a:srgbClr val="FB6CF7"/>
            </a:solidFill>
            <a:prstDash val="solid"/>
            <a:headEnd type="none" w="sm" len="sm"/>
            <a:tailEnd type="none" w="sm" len="sm"/>
          </a:ln>
        </p:spPr>
      </p:sp>
      <p:sp>
        <p:nvSpPr>
          <p:cNvPr id="3" name="AutoShape 3"/>
          <p:cNvSpPr/>
          <p:nvPr/>
        </p:nvSpPr>
        <p:spPr>
          <a:xfrm>
            <a:off x="7085479" y="1363029"/>
            <a:ext cx="874571" cy="1199857"/>
          </a:xfrm>
          <a:prstGeom prst="line">
            <a:avLst/>
          </a:prstGeom>
          <a:ln w="66675" cap="flat">
            <a:solidFill>
              <a:srgbClr val="FB6CF7"/>
            </a:solidFill>
            <a:prstDash val="solid"/>
            <a:headEnd type="none" w="sm" len="sm"/>
            <a:tailEnd type="none" w="sm" len="sm"/>
          </a:ln>
        </p:spPr>
      </p:sp>
      <p:grpSp>
        <p:nvGrpSpPr>
          <p:cNvPr id="4" name="Group 4"/>
          <p:cNvGrpSpPr/>
          <p:nvPr/>
        </p:nvGrpSpPr>
        <p:grpSpPr>
          <a:xfrm>
            <a:off x="1028700" y="2089150"/>
            <a:ext cx="7191989" cy="1211442"/>
            <a:chOff x="0" y="0"/>
            <a:chExt cx="2077045" cy="349864"/>
          </a:xfrm>
        </p:grpSpPr>
        <p:sp>
          <p:nvSpPr>
            <p:cNvPr id="5" name="Freeform 5"/>
            <p:cNvSpPr/>
            <p:nvPr/>
          </p:nvSpPr>
          <p:spPr>
            <a:xfrm>
              <a:off x="0" y="0"/>
              <a:ext cx="2077045" cy="349864"/>
            </a:xfrm>
            <a:custGeom>
              <a:avLst/>
              <a:gdLst/>
              <a:ahLst/>
              <a:cxnLst/>
              <a:rect l="l" t="t" r="r" b="b"/>
              <a:pathLst>
                <a:path w="2077045" h="349864">
                  <a:moveTo>
                    <a:pt x="54496" y="0"/>
                  </a:moveTo>
                  <a:lnTo>
                    <a:pt x="2022549" y="0"/>
                  </a:lnTo>
                  <a:cubicBezTo>
                    <a:pt x="2052647" y="0"/>
                    <a:pt x="2077045" y="24399"/>
                    <a:pt x="2077045" y="54496"/>
                  </a:cubicBezTo>
                  <a:lnTo>
                    <a:pt x="2077045" y="295368"/>
                  </a:lnTo>
                  <a:cubicBezTo>
                    <a:pt x="2077045" y="325466"/>
                    <a:pt x="2052647" y="349864"/>
                    <a:pt x="2022549" y="349864"/>
                  </a:cubicBezTo>
                  <a:lnTo>
                    <a:pt x="54496" y="349864"/>
                  </a:lnTo>
                  <a:cubicBezTo>
                    <a:pt x="24399" y="349864"/>
                    <a:pt x="0" y="325466"/>
                    <a:pt x="0" y="295368"/>
                  </a:cubicBezTo>
                  <a:lnTo>
                    <a:pt x="0" y="54496"/>
                  </a:lnTo>
                  <a:cubicBezTo>
                    <a:pt x="0" y="24399"/>
                    <a:pt x="24399" y="0"/>
                    <a:pt x="54496" y="0"/>
                  </a:cubicBezTo>
                  <a:close/>
                </a:path>
              </a:pathLst>
            </a:custGeom>
            <a:solidFill>
              <a:srgbClr val="EDECED"/>
            </a:solidFill>
          </p:spPr>
        </p:sp>
        <p:sp>
          <p:nvSpPr>
            <p:cNvPr id="6" name="TextBox 6"/>
            <p:cNvSpPr txBox="1"/>
            <p:nvPr/>
          </p:nvSpPr>
          <p:spPr>
            <a:xfrm>
              <a:off x="0" y="-57150"/>
              <a:ext cx="2077045" cy="407014"/>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2015683" y="1058335"/>
            <a:ext cx="5218023" cy="647487"/>
            <a:chOff x="0" y="0"/>
            <a:chExt cx="3275131" cy="406400"/>
          </a:xfrm>
        </p:grpSpPr>
        <p:sp>
          <p:nvSpPr>
            <p:cNvPr id="8" name="Freeform 8"/>
            <p:cNvSpPr/>
            <p:nvPr/>
          </p:nvSpPr>
          <p:spPr>
            <a:xfrm>
              <a:off x="0" y="0"/>
              <a:ext cx="3275131" cy="406400"/>
            </a:xfrm>
            <a:custGeom>
              <a:avLst/>
              <a:gdLst/>
              <a:ahLst/>
              <a:cxnLst/>
              <a:rect l="l" t="t" r="r" b="b"/>
              <a:pathLst>
                <a:path w="3275131" h="406400">
                  <a:moveTo>
                    <a:pt x="3071931" y="0"/>
                  </a:moveTo>
                  <a:cubicBezTo>
                    <a:pt x="3184156" y="0"/>
                    <a:pt x="3275131" y="90976"/>
                    <a:pt x="3275131" y="203200"/>
                  </a:cubicBezTo>
                  <a:cubicBezTo>
                    <a:pt x="3275131" y="315424"/>
                    <a:pt x="3184156" y="406400"/>
                    <a:pt x="3071931" y="406400"/>
                  </a:cubicBezTo>
                  <a:lnTo>
                    <a:pt x="203200" y="406400"/>
                  </a:lnTo>
                  <a:cubicBezTo>
                    <a:pt x="90976" y="406400"/>
                    <a:pt x="0" y="315424"/>
                    <a:pt x="0" y="203200"/>
                  </a:cubicBezTo>
                  <a:cubicBezTo>
                    <a:pt x="0" y="90976"/>
                    <a:pt x="90976" y="0"/>
                    <a:pt x="203200" y="0"/>
                  </a:cubicBezTo>
                  <a:close/>
                </a:path>
              </a:pathLst>
            </a:custGeom>
            <a:solidFill>
              <a:srgbClr val="EDECED"/>
            </a:solidFill>
          </p:spPr>
        </p:sp>
        <p:sp>
          <p:nvSpPr>
            <p:cNvPr id="9" name="TextBox 9"/>
            <p:cNvSpPr txBox="1"/>
            <p:nvPr/>
          </p:nvSpPr>
          <p:spPr>
            <a:xfrm>
              <a:off x="0" y="-57150"/>
              <a:ext cx="3275131" cy="463550"/>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a:off x="13964674" y="7048564"/>
            <a:ext cx="3412943" cy="2456253"/>
          </a:xfrm>
          <a:custGeom>
            <a:avLst/>
            <a:gdLst/>
            <a:ahLst/>
            <a:cxnLst/>
            <a:rect l="l" t="t" r="r" b="b"/>
            <a:pathLst>
              <a:path w="3412943" h="2456253">
                <a:moveTo>
                  <a:pt x="0" y="0"/>
                </a:moveTo>
                <a:lnTo>
                  <a:pt x="3412943" y="0"/>
                </a:lnTo>
                <a:lnTo>
                  <a:pt x="3412943" y="2456253"/>
                </a:lnTo>
                <a:lnTo>
                  <a:pt x="0" y="24562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9356301" y="2368288"/>
            <a:ext cx="7902999" cy="2025015"/>
          </a:xfrm>
          <a:prstGeom prst="rect">
            <a:avLst/>
          </a:prstGeom>
        </p:spPr>
        <p:txBody>
          <a:bodyPr lIns="0" tIns="0" rIns="0" bIns="0" rtlCol="0" anchor="t">
            <a:spAutoFit/>
          </a:bodyPr>
          <a:lstStyle/>
          <a:p>
            <a:pPr marL="0" lvl="0" indent="0" algn="ctr">
              <a:lnSpc>
                <a:spcPts val="7920"/>
              </a:lnSpc>
            </a:pPr>
            <a:r>
              <a:rPr lang="en-US" sz="7200" b="1" spc="-324">
                <a:solidFill>
                  <a:srgbClr val="EDECED"/>
                </a:solidFill>
                <a:latin typeface="Antonio Bold"/>
                <a:ea typeface="Antonio Bold"/>
                <a:cs typeface="Antonio Bold"/>
                <a:sym typeface="Antonio Bold"/>
              </a:rPr>
              <a:t>ANÁLISIS DE PUNTOS DE FUNCIÓN</a:t>
            </a:r>
          </a:p>
        </p:txBody>
      </p:sp>
      <p:sp>
        <p:nvSpPr>
          <p:cNvPr id="12" name="TextBox 12"/>
          <p:cNvSpPr txBox="1"/>
          <p:nvPr/>
        </p:nvSpPr>
        <p:spPr>
          <a:xfrm>
            <a:off x="2370278" y="1134546"/>
            <a:ext cx="4508832" cy="478678"/>
          </a:xfrm>
          <a:prstGeom prst="rect">
            <a:avLst/>
          </a:prstGeom>
        </p:spPr>
        <p:txBody>
          <a:bodyPr lIns="0" tIns="0" rIns="0" bIns="0" rtlCol="0" anchor="t">
            <a:spAutoFit/>
          </a:bodyPr>
          <a:lstStyle/>
          <a:p>
            <a:pPr marL="0" lvl="0" indent="0" algn="ctr">
              <a:lnSpc>
                <a:spcPts val="3510"/>
              </a:lnSpc>
            </a:pPr>
            <a:r>
              <a:rPr lang="en-US" sz="3191" b="1">
                <a:solidFill>
                  <a:srgbClr val="000000"/>
                </a:solidFill>
                <a:latin typeface="Poppins Bold"/>
                <a:ea typeface="Poppins Bold"/>
                <a:cs typeface="Poppins Bold"/>
                <a:sym typeface="Poppins Bold"/>
              </a:rPr>
              <a:t>Pasos clave</a:t>
            </a:r>
          </a:p>
        </p:txBody>
      </p:sp>
      <p:sp>
        <p:nvSpPr>
          <p:cNvPr id="13" name="TextBox 13"/>
          <p:cNvSpPr txBox="1"/>
          <p:nvPr/>
        </p:nvSpPr>
        <p:spPr>
          <a:xfrm>
            <a:off x="9237984" y="4678267"/>
            <a:ext cx="8021316" cy="1912620"/>
          </a:xfrm>
          <a:prstGeom prst="rect">
            <a:avLst/>
          </a:prstGeom>
        </p:spPr>
        <p:txBody>
          <a:bodyPr lIns="0" tIns="0" rIns="0" bIns="0" rtlCol="0" anchor="t">
            <a:spAutoFit/>
          </a:bodyPr>
          <a:lstStyle/>
          <a:p>
            <a:pPr marL="0" lvl="0" indent="0" algn="just">
              <a:lnSpc>
                <a:spcPts val="3779"/>
              </a:lnSpc>
              <a:spcBef>
                <a:spcPct val="0"/>
              </a:spcBef>
            </a:pPr>
            <a:r>
              <a:rPr lang="en-US" sz="2700">
                <a:solidFill>
                  <a:srgbClr val="EDECED"/>
                </a:solidFill>
                <a:latin typeface="Poppins"/>
                <a:ea typeface="Poppins"/>
                <a:cs typeface="Poppins"/>
                <a:sym typeface="Poppins"/>
              </a:rPr>
              <a:t>En este método, se utiliza la cantidad y el tipo de funciones compatibles con el software para calcular el recuento de puntos de función (CPF).</a:t>
            </a:r>
          </a:p>
        </p:txBody>
      </p:sp>
      <p:sp>
        <p:nvSpPr>
          <p:cNvPr id="14" name="TextBox 14"/>
          <p:cNvSpPr txBox="1"/>
          <p:nvPr/>
        </p:nvSpPr>
        <p:spPr>
          <a:xfrm>
            <a:off x="1384154" y="2345806"/>
            <a:ext cx="6336664" cy="716661"/>
          </a:xfrm>
          <a:prstGeom prst="rect">
            <a:avLst/>
          </a:prstGeom>
        </p:spPr>
        <p:txBody>
          <a:bodyPr lIns="0" tIns="0" rIns="0" bIns="0" rtlCol="0" anchor="t">
            <a:spAutoFit/>
          </a:bodyPr>
          <a:lstStyle/>
          <a:p>
            <a:pPr marL="518160" lvl="1" indent="-259080" algn="just">
              <a:lnSpc>
                <a:spcPts val="2711"/>
              </a:lnSpc>
              <a:buAutoNum type="arabicPeriod"/>
            </a:pPr>
            <a:r>
              <a:rPr lang="en-US" sz="2400">
                <a:solidFill>
                  <a:srgbClr val="000000"/>
                </a:solidFill>
                <a:latin typeface="Poppins"/>
                <a:ea typeface="Poppins"/>
                <a:cs typeface="Poppins"/>
                <a:sym typeface="Poppins"/>
              </a:rPr>
              <a:t> Contar el número de funciones de cada tipo propuesto.</a:t>
            </a:r>
          </a:p>
        </p:txBody>
      </p:sp>
      <p:grpSp>
        <p:nvGrpSpPr>
          <p:cNvPr id="15" name="Group 15"/>
          <p:cNvGrpSpPr/>
          <p:nvPr/>
        </p:nvGrpSpPr>
        <p:grpSpPr>
          <a:xfrm>
            <a:off x="-2062688" y="9715955"/>
            <a:ext cx="21014417" cy="1392272"/>
            <a:chOff x="0" y="0"/>
            <a:chExt cx="3300463" cy="218666"/>
          </a:xfrm>
        </p:grpSpPr>
        <p:sp>
          <p:nvSpPr>
            <p:cNvPr id="16" name="Freeform 16"/>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EDECED"/>
            </a:solidFill>
          </p:spPr>
        </p:sp>
        <p:sp>
          <p:nvSpPr>
            <p:cNvPr id="17" name="TextBox 17"/>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028700" y="3543025"/>
            <a:ext cx="7191989" cy="1211442"/>
            <a:chOff x="0" y="0"/>
            <a:chExt cx="2077045" cy="349864"/>
          </a:xfrm>
        </p:grpSpPr>
        <p:sp>
          <p:nvSpPr>
            <p:cNvPr id="19" name="Freeform 19"/>
            <p:cNvSpPr/>
            <p:nvPr/>
          </p:nvSpPr>
          <p:spPr>
            <a:xfrm>
              <a:off x="0" y="0"/>
              <a:ext cx="2077045" cy="349864"/>
            </a:xfrm>
            <a:custGeom>
              <a:avLst/>
              <a:gdLst/>
              <a:ahLst/>
              <a:cxnLst/>
              <a:rect l="l" t="t" r="r" b="b"/>
              <a:pathLst>
                <a:path w="2077045" h="349864">
                  <a:moveTo>
                    <a:pt x="54496" y="0"/>
                  </a:moveTo>
                  <a:lnTo>
                    <a:pt x="2022549" y="0"/>
                  </a:lnTo>
                  <a:cubicBezTo>
                    <a:pt x="2052647" y="0"/>
                    <a:pt x="2077045" y="24399"/>
                    <a:pt x="2077045" y="54496"/>
                  </a:cubicBezTo>
                  <a:lnTo>
                    <a:pt x="2077045" y="295368"/>
                  </a:lnTo>
                  <a:cubicBezTo>
                    <a:pt x="2077045" y="325466"/>
                    <a:pt x="2052647" y="349864"/>
                    <a:pt x="2022549" y="349864"/>
                  </a:cubicBezTo>
                  <a:lnTo>
                    <a:pt x="54496" y="349864"/>
                  </a:lnTo>
                  <a:cubicBezTo>
                    <a:pt x="24399" y="349864"/>
                    <a:pt x="0" y="325466"/>
                    <a:pt x="0" y="295368"/>
                  </a:cubicBezTo>
                  <a:lnTo>
                    <a:pt x="0" y="54496"/>
                  </a:lnTo>
                  <a:cubicBezTo>
                    <a:pt x="0" y="24399"/>
                    <a:pt x="24399" y="0"/>
                    <a:pt x="54496" y="0"/>
                  </a:cubicBezTo>
                  <a:close/>
                </a:path>
              </a:pathLst>
            </a:custGeom>
            <a:solidFill>
              <a:srgbClr val="EDECED"/>
            </a:solidFill>
          </p:spPr>
        </p:sp>
        <p:sp>
          <p:nvSpPr>
            <p:cNvPr id="20" name="TextBox 20"/>
            <p:cNvSpPr txBox="1"/>
            <p:nvPr/>
          </p:nvSpPr>
          <p:spPr>
            <a:xfrm>
              <a:off x="0" y="-57150"/>
              <a:ext cx="2077045" cy="407014"/>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1028700" y="4992592"/>
            <a:ext cx="7191989" cy="1211442"/>
            <a:chOff x="0" y="0"/>
            <a:chExt cx="2077045" cy="349864"/>
          </a:xfrm>
        </p:grpSpPr>
        <p:sp>
          <p:nvSpPr>
            <p:cNvPr id="22" name="Freeform 22"/>
            <p:cNvSpPr/>
            <p:nvPr/>
          </p:nvSpPr>
          <p:spPr>
            <a:xfrm>
              <a:off x="0" y="0"/>
              <a:ext cx="2077045" cy="349864"/>
            </a:xfrm>
            <a:custGeom>
              <a:avLst/>
              <a:gdLst/>
              <a:ahLst/>
              <a:cxnLst/>
              <a:rect l="l" t="t" r="r" b="b"/>
              <a:pathLst>
                <a:path w="2077045" h="349864">
                  <a:moveTo>
                    <a:pt x="54496" y="0"/>
                  </a:moveTo>
                  <a:lnTo>
                    <a:pt x="2022549" y="0"/>
                  </a:lnTo>
                  <a:cubicBezTo>
                    <a:pt x="2052647" y="0"/>
                    <a:pt x="2077045" y="24399"/>
                    <a:pt x="2077045" y="54496"/>
                  </a:cubicBezTo>
                  <a:lnTo>
                    <a:pt x="2077045" y="295368"/>
                  </a:lnTo>
                  <a:cubicBezTo>
                    <a:pt x="2077045" y="325466"/>
                    <a:pt x="2052647" y="349864"/>
                    <a:pt x="2022549" y="349864"/>
                  </a:cubicBezTo>
                  <a:lnTo>
                    <a:pt x="54496" y="349864"/>
                  </a:lnTo>
                  <a:cubicBezTo>
                    <a:pt x="24399" y="349864"/>
                    <a:pt x="0" y="325466"/>
                    <a:pt x="0" y="295368"/>
                  </a:cubicBezTo>
                  <a:lnTo>
                    <a:pt x="0" y="54496"/>
                  </a:lnTo>
                  <a:cubicBezTo>
                    <a:pt x="0" y="24399"/>
                    <a:pt x="24399" y="0"/>
                    <a:pt x="54496" y="0"/>
                  </a:cubicBezTo>
                  <a:close/>
                </a:path>
              </a:pathLst>
            </a:custGeom>
            <a:solidFill>
              <a:srgbClr val="EDECED"/>
            </a:solidFill>
          </p:spPr>
        </p:sp>
        <p:sp>
          <p:nvSpPr>
            <p:cNvPr id="23" name="TextBox 23"/>
            <p:cNvSpPr txBox="1"/>
            <p:nvPr/>
          </p:nvSpPr>
          <p:spPr>
            <a:xfrm>
              <a:off x="0" y="-57150"/>
              <a:ext cx="2077045" cy="407014"/>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028700" y="6442159"/>
            <a:ext cx="7191989" cy="1211442"/>
            <a:chOff x="0" y="0"/>
            <a:chExt cx="2077045" cy="349864"/>
          </a:xfrm>
        </p:grpSpPr>
        <p:sp>
          <p:nvSpPr>
            <p:cNvPr id="25" name="Freeform 25"/>
            <p:cNvSpPr/>
            <p:nvPr/>
          </p:nvSpPr>
          <p:spPr>
            <a:xfrm>
              <a:off x="0" y="0"/>
              <a:ext cx="2077045" cy="349864"/>
            </a:xfrm>
            <a:custGeom>
              <a:avLst/>
              <a:gdLst/>
              <a:ahLst/>
              <a:cxnLst/>
              <a:rect l="l" t="t" r="r" b="b"/>
              <a:pathLst>
                <a:path w="2077045" h="349864">
                  <a:moveTo>
                    <a:pt x="54496" y="0"/>
                  </a:moveTo>
                  <a:lnTo>
                    <a:pt x="2022549" y="0"/>
                  </a:lnTo>
                  <a:cubicBezTo>
                    <a:pt x="2052647" y="0"/>
                    <a:pt x="2077045" y="24399"/>
                    <a:pt x="2077045" y="54496"/>
                  </a:cubicBezTo>
                  <a:lnTo>
                    <a:pt x="2077045" y="295368"/>
                  </a:lnTo>
                  <a:cubicBezTo>
                    <a:pt x="2077045" y="325466"/>
                    <a:pt x="2052647" y="349864"/>
                    <a:pt x="2022549" y="349864"/>
                  </a:cubicBezTo>
                  <a:lnTo>
                    <a:pt x="54496" y="349864"/>
                  </a:lnTo>
                  <a:cubicBezTo>
                    <a:pt x="24399" y="349864"/>
                    <a:pt x="0" y="325466"/>
                    <a:pt x="0" y="295368"/>
                  </a:cubicBezTo>
                  <a:lnTo>
                    <a:pt x="0" y="54496"/>
                  </a:lnTo>
                  <a:cubicBezTo>
                    <a:pt x="0" y="24399"/>
                    <a:pt x="24399" y="0"/>
                    <a:pt x="54496" y="0"/>
                  </a:cubicBezTo>
                  <a:close/>
                </a:path>
              </a:pathLst>
            </a:custGeom>
            <a:solidFill>
              <a:srgbClr val="EDECED"/>
            </a:solidFill>
          </p:spPr>
        </p:sp>
        <p:sp>
          <p:nvSpPr>
            <p:cNvPr id="26" name="TextBox 26"/>
            <p:cNvSpPr txBox="1"/>
            <p:nvPr/>
          </p:nvSpPr>
          <p:spPr>
            <a:xfrm>
              <a:off x="0" y="-57150"/>
              <a:ext cx="2077045" cy="407014"/>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1028700" y="7891727"/>
            <a:ext cx="7191989" cy="1211442"/>
            <a:chOff x="0" y="0"/>
            <a:chExt cx="2077045" cy="349864"/>
          </a:xfrm>
        </p:grpSpPr>
        <p:sp>
          <p:nvSpPr>
            <p:cNvPr id="28" name="Freeform 28"/>
            <p:cNvSpPr/>
            <p:nvPr/>
          </p:nvSpPr>
          <p:spPr>
            <a:xfrm>
              <a:off x="0" y="0"/>
              <a:ext cx="2077045" cy="349864"/>
            </a:xfrm>
            <a:custGeom>
              <a:avLst/>
              <a:gdLst/>
              <a:ahLst/>
              <a:cxnLst/>
              <a:rect l="l" t="t" r="r" b="b"/>
              <a:pathLst>
                <a:path w="2077045" h="349864">
                  <a:moveTo>
                    <a:pt x="54496" y="0"/>
                  </a:moveTo>
                  <a:lnTo>
                    <a:pt x="2022549" y="0"/>
                  </a:lnTo>
                  <a:cubicBezTo>
                    <a:pt x="2052647" y="0"/>
                    <a:pt x="2077045" y="24399"/>
                    <a:pt x="2077045" y="54496"/>
                  </a:cubicBezTo>
                  <a:lnTo>
                    <a:pt x="2077045" y="295368"/>
                  </a:lnTo>
                  <a:cubicBezTo>
                    <a:pt x="2077045" y="325466"/>
                    <a:pt x="2052647" y="349864"/>
                    <a:pt x="2022549" y="349864"/>
                  </a:cubicBezTo>
                  <a:lnTo>
                    <a:pt x="54496" y="349864"/>
                  </a:lnTo>
                  <a:cubicBezTo>
                    <a:pt x="24399" y="349864"/>
                    <a:pt x="0" y="325466"/>
                    <a:pt x="0" y="295368"/>
                  </a:cubicBezTo>
                  <a:lnTo>
                    <a:pt x="0" y="54496"/>
                  </a:lnTo>
                  <a:cubicBezTo>
                    <a:pt x="0" y="24399"/>
                    <a:pt x="24399" y="0"/>
                    <a:pt x="54496" y="0"/>
                  </a:cubicBezTo>
                  <a:close/>
                </a:path>
              </a:pathLst>
            </a:custGeom>
            <a:solidFill>
              <a:srgbClr val="EDECED"/>
            </a:solidFill>
          </p:spPr>
        </p:sp>
        <p:sp>
          <p:nvSpPr>
            <p:cNvPr id="29" name="TextBox 29"/>
            <p:cNvSpPr txBox="1"/>
            <p:nvPr/>
          </p:nvSpPr>
          <p:spPr>
            <a:xfrm>
              <a:off x="0" y="-57150"/>
              <a:ext cx="2077045" cy="407014"/>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1478970" y="3799681"/>
            <a:ext cx="6241848" cy="716661"/>
          </a:xfrm>
          <a:prstGeom prst="rect">
            <a:avLst/>
          </a:prstGeom>
        </p:spPr>
        <p:txBody>
          <a:bodyPr lIns="0" tIns="0" rIns="0" bIns="0" rtlCol="0" anchor="t">
            <a:spAutoFit/>
          </a:bodyPr>
          <a:lstStyle/>
          <a:p>
            <a:pPr marL="518160" lvl="1" indent="-259080" algn="just">
              <a:lnSpc>
                <a:spcPts val="2711"/>
              </a:lnSpc>
              <a:buAutoNum type="arabicPeriod"/>
            </a:pPr>
            <a:r>
              <a:rPr lang="en-US" sz="2400">
                <a:solidFill>
                  <a:srgbClr val="000000"/>
                </a:solidFill>
                <a:latin typeface="Poppins"/>
                <a:ea typeface="Poppins"/>
                <a:cs typeface="Poppins"/>
                <a:sym typeface="Poppins"/>
              </a:rPr>
              <a:t>Calcular los puntos de función no ajustados (PFU).</a:t>
            </a:r>
          </a:p>
        </p:txBody>
      </p:sp>
      <p:sp>
        <p:nvSpPr>
          <p:cNvPr id="31" name="TextBox 31"/>
          <p:cNvSpPr txBox="1"/>
          <p:nvPr/>
        </p:nvSpPr>
        <p:spPr>
          <a:xfrm>
            <a:off x="1478970" y="5221192"/>
            <a:ext cx="6241848" cy="716661"/>
          </a:xfrm>
          <a:prstGeom prst="rect">
            <a:avLst/>
          </a:prstGeom>
        </p:spPr>
        <p:txBody>
          <a:bodyPr lIns="0" tIns="0" rIns="0" bIns="0" rtlCol="0" anchor="t">
            <a:spAutoFit/>
          </a:bodyPr>
          <a:lstStyle/>
          <a:p>
            <a:pPr marL="518160" lvl="1" indent="-259080" algn="just">
              <a:lnSpc>
                <a:spcPts val="2711"/>
              </a:lnSpc>
              <a:buAutoNum type="arabicPeriod"/>
            </a:pPr>
            <a:r>
              <a:rPr lang="en-US" sz="2400">
                <a:solidFill>
                  <a:srgbClr val="000000"/>
                </a:solidFill>
                <a:latin typeface="Poppins"/>
                <a:ea typeface="Poppins"/>
                <a:cs typeface="Poppins"/>
                <a:sym typeface="Poppins"/>
              </a:rPr>
              <a:t> Encontrar el grado total de influencia (TDI).</a:t>
            </a:r>
          </a:p>
        </p:txBody>
      </p:sp>
      <p:sp>
        <p:nvSpPr>
          <p:cNvPr id="32" name="TextBox 32"/>
          <p:cNvSpPr txBox="1"/>
          <p:nvPr/>
        </p:nvSpPr>
        <p:spPr>
          <a:xfrm>
            <a:off x="1478970" y="6670759"/>
            <a:ext cx="6241848" cy="716661"/>
          </a:xfrm>
          <a:prstGeom prst="rect">
            <a:avLst/>
          </a:prstGeom>
        </p:spPr>
        <p:txBody>
          <a:bodyPr lIns="0" tIns="0" rIns="0" bIns="0" rtlCol="0" anchor="t">
            <a:spAutoFit/>
          </a:bodyPr>
          <a:lstStyle/>
          <a:p>
            <a:pPr marL="518160" lvl="1" indent="-259080" algn="just">
              <a:lnSpc>
                <a:spcPts val="2711"/>
              </a:lnSpc>
              <a:buAutoNum type="arabicPeriod"/>
            </a:pPr>
            <a:r>
              <a:rPr lang="en-US" sz="2400">
                <a:solidFill>
                  <a:srgbClr val="000000"/>
                </a:solidFill>
                <a:latin typeface="Poppins"/>
                <a:ea typeface="Poppins"/>
                <a:cs typeface="Poppins"/>
                <a:sym typeface="Poppins"/>
              </a:rPr>
              <a:t>Calcular el factor de ajuste de valor (VAF).</a:t>
            </a:r>
          </a:p>
        </p:txBody>
      </p:sp>
      <p:sp>
        <p:nvSpPr>
          <p:cNvPr id="33" name="TextBox 33"/>
          <p:cNvSpPr txBox="1"/>
          <p:nvPr/>
        </p:nvSpPr>
        <p:spPr>
          <a:xfrm>
            <a:off x="1478970" y="8139377"/>
            <a:ext cx="6241848" cy="716661"/>
          </a:xfrm>
          <a:prstGeom prst="rect">
            <a:avLst/>
          </a:prstGeom>
        </p:spPr>
        <p:txBody>
          <a:bodyPr lIns="0" tIns="0" rIns="0" bIns="0" rtlCol="0" anchor="t">
            <a:spAutoFit/>
          </a:bodyPr>
          <a:lstStyle/>
          <a:p>
            <a:pPr marL="518160" lvl="1" indent="-259080" algn="just">
              <a:lnSpc>
                <a:spcPts val="2711"/>
              </a:lnSpc>
              <a:buAutoNum type="arabicPeriod"/>
            </a:pPr>
            <a:r>
              <a:rPr lang="en-US" sz="2400">
                <a:solidFill>
                  <a:srgbClr val="000000"/>
                </a:solidFill>
                <a:latin typeface="Poppins"/>
                <a:ea typeface="Poppins"/>
                <a:cs typeface="Poppins"/>
                <a:sym typeface="Poppins"/>
              </a:rPr>
              <a:t>Encontrar el recuento de puntos de función (FPC).</a:t>
            </a:r>
          </a:p>
        </p:txBody>
      </p:sp>
      <p:sp>
        <p:nvSpPr>
          <p:cNvPr id="34" name="TextBox 34"/>
          <p:cNvSpPr txBox="1"/>
          <p:nvPr/>
        </p:nvSpPr>
        <p:spPr>
          <a:xfrm>
            <a:off x="365818" y="168893"/>
            <a:ext cx="7594232" cy="384617"/>
          </a:xfrm>
          <a:prstGeom prst="rect">
            <a:avLst/>
          </a:prstGeom>
        </p:spPr>
        <p:txBody>
          <a:bodyPr lIns="0" tIns="0" rIns="0" bIns="0" rtlCol="0" anchor="t">
            <a:spAutoFit/>
          </a:bodyPr>
          <a:lstStyle/>
          <a:p>
            <a:pPr marL="0" lvl="0" indent="0" algn="l">
              <a:lnSpc>
                <a:spcPts val="2788"/>
              </a:lnSpc>
            </a:pPr>
            <a:r>
              <a:rPr lang="en-US" sz="2534">
                <a:solidFill>
                  <a:srgbClr val="EDECED"/>
                </a:solidFill>
                <a:latin typeface="Poppins"/>
                <a:ea typeface="Poppins"/>
                <a:cs typeface="Poppins"/>
                <a:sym typeface="Poppins"/>
              </a:rPr>
              <a:t>Estimación del tamaño del software</a:t>
            </a:r>
          </a:p>
        </p:txBody>
      </p:sp>
    </p:spTree>
  </p:cSld>
  <p:clrMapOvr>
    <a:masterClrMapping/>
  </p:clrMapOvr>
  <p:transition>
    <p:cover dir="d"/>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5170FF"/>
        </a:solidFill>
        <a:effectLst/>
      </p:bgPr>
    </p:bg>
    <p:spTree>
      <p:nvGrpSpPr>
        <p:cNvPr id="1" name=""/>
        <p:cNvGrpSpPr/>
        <p:nvPr/>
      </p:nvGrpSpPr>
      <p:grpSpPr>
        <a:xfrm>
          <a:off x="0" y="0"/>
          <a:ext cx="0" cy="0"/>
          <a:chOff x="0" y="0"/>
          <a:chExt cx="0" cy="0"/>
        </a:xfrm>
      </p:grpSpPr>
      <p:grpSp>
        <p:nvGrpSpPr>
          <p:cNvPr id="2" name="Group 2"/>
          <p:cNvGrpSpPr/>
          <p:nvPr/>
        </p:nvGrpSpPr>
        <p:grpSpPr>
          <a:xfrm>
            <a:off x="2157316" y="4385642"/>
            <a:ext cx="3553515" cy="2390696"/>
            <a:chOff x="0" y="0"/>
            <a:chExt cx="967000" cy="650568"/>
          </a:xfrm>
        </p:grpSpPr>
        <p:sp>
          <p:nvSpPr>
            <p:cNvPr id="3" name="Freeform 3"/>
            <p:cNvSpPr/>
            <p:nvPr/>
          </p:nvSpPr>
          <p:spPr>
            <a:xfrm>
              <a:off x="0" y="0"/>
              <a:ext cx="967000" cy="650568"/>
            </a:xfrm>
            <a:custGeom>
              <a:avLst/>
              <a:gdLst/>
              <a:ahLst/>
              <a:cxnLst/>
              <a:rect l="l" t="t" r="r" b="b"/>
              <a:pathLst>
                <a:path w="967000" h="650568">
                  <a:moveTo>
                    <a:pt x="104576" y="0"/>
                  </a:moveTo>
                  <a:lnTo>
                    <a:pt x="862424" y="0"/>
                  </a:lnTo>
                  <a:cubicBezTo>
                    <a:pt x="920180" y="0"/>
                    <a:pt x="967000" y="46820"/>
                    <a:pt x="967000" y="104576"/>
                  </a:cubicBezTo>
                  <a:lnTo>
                    <a:pt x="967000" y="545992"/>
                  </a:lnTo>
                  <a:cubicBezTo>
                    <a:pt x="967000" y="603748"/>
                    <a:pt x="920180" y="650568"/>
                    <a:pt x="862424" y="650568"/>
                  </a:cubicBezTo>
                  <a:lnTo>
                    <a:pt x="104576" y="650568"/>
                  </a:lnTo>
                  <a:cubicBezTo>
                    <a:pt x="76841" y="650568"/>
                    <a:pt x="50241" y="639550"/>
                    <a:pt x="30630" y="619939"/>
                  </a:cubicBezTo>
                  <a:cubicBezTo>
                    <a:pt x="11018" y="600327"/>
                    <a:pt x="0" y="573727"/>
                    <a:pt x="0" y="545992"/>
                  </a:cubicBezTo>
                  <a:lnTo>
                    <a:pt x="0" y="104576"/>
                  </a:lnTo>
                  <a:cubicBezTo>
                    <a:pt x="0" y="46820"/>
                    <a:pt x="46820" y="0"/>
                    <a:pt x="104576" y="0"/>
                  </a:cubicBezTo>
                  <a:close/>
                </a:path>
              </a:pathLst>
            </a:custGeom>
            <a:solidFill>
              <a:srgbClr val="EDECED"/>
            </a:solidFill>
          </p:spPr>
        </p:sp>
        <p:sp>
          <p:nvSpPr>
            <p:cNvPr id="4" name="TextBox 4"/>
            <p:cNvSpPr txBox="1"/>
            <p:nvPr/>
          </p:nvSpPr>
          <p:spPr>
            <a:xfrm>
              <a:off x="0" y="-57150"/>
              <a:ext cx="967000" cy="707718"/>
            </a:xfrm>
            <a:prstGeom prst="rect">
              <a:avLst/>
            </a:prstGeom>
          </p:spPr>
          <p:txBody>
            <a:bodyPr lIns="48302" tIns="48302" rIns="48302" bIns="48302" rtlCol="0" anchor="ctr"/>
            <a:lstStyle/>
            <a:p>
              <a:pPr algn="ctr">
                <a:lnSpc>
                  <a:spcPts val="2529"/>
                </a:lnSpc>
              </a:pPr>
              <a:endParaRPr/>
            </a:p>
          </p:txBody>
        </p:sp>
      </p:grpSp>
      <p:grpSp>
        <p:nvGrpSpPr>
          <p:cNvPr id="5" name="Group 5"/>
          <p:cNvGrpSpPr/>
          <p:nvPr/>
        </p:nvGrpSpPr>
        <p:grpSpPr>
          <a:xfrm>
            <a:off x="7215782" y="4391957"/>
            <a:ext cx="3553515" cy="2391976"/>
            <a:chOff x="0" y="0"/>
            <a:chExt cx="967000" cy="650916"/>
          </a:xfrm>
        </p:grpSpPr>
        <p:sp>
          <p:nvSpPr>
            <p:cNvPr id="6" name="Freeform 6"/>
            <p:cNvSpPr/>
            <p:nvPr/>
          </p:nvSpPr>
          <p:spPr>
            <a:xfrm>
              <a:off x="0" y="0"/>
              <a:ext cx="967000" cy="650916"/>
            </a:xfrm>
            <a:custGeom>
              <a:avLst/>
              <a:gdLst/>
              <a:ahLst/>
              <a:cxnLst/>
              <a:rect l="l" t="t" r="r" b="b"/>
              <a:pathLst>
                <a:path w="967000" h="650916">
                  <a:moveTo>
                    <a:pt x="104576" y="0"/>
                  </a:moveTo>
                  <a:lnTo>
                    <a:pt x="862424" y="0"/>
                  </a:lnTo>
                  <a:cubicBezTo>
                    <a:pt x="920180" y="0"/>
                    <a:pt x="967000" y="46820"/>
                    <a:pt x="967000" y="104576"/>
                  </a:cubicBezTo>
                  <a:lnTo>
                    <a:pt x="967000" y="546340"/>
                  </a:lnTo>
                  <a:cubicBezTo>
                    <a:pt x="967000" y="574076"/>
                    <a:pt x="955983" y="600675"/>
                    <a:pt x="936371" y="620287"/>
                  </a:cubicBezTo>
                  <a:cubicBezTo>
                    <a:pt x="916759" y="639899"/>
                    <a:pt x="890160" y="650916"/>
                    <a:pt x="862424" y="650916"/>
                  </a:cubicBezTo>
                  <a:lnTo>
                    <a:pt x="104576" y="650916"/>
                  </a:lnTo>
                  <a:cubicBezTo>
                    <a:pt x="46820" y="650916"/>
                    <a:pt x="0" y="604096"/>
                    <a:pt x="0" y="546340"/>
                  </a:cubicBezTo>
                  <a:lnTo>
                    <a:pt x="0" y="104576"/>
                  </a:lnTo>
                  <a:cubicBezTo>
                    <a:pt x="0" y="46820"/>
                    <a:pt x="46820" y="0"/>
                    <a:pt x="104576" y="0"/>
                  </a:cubicBezTo>
                  <a:close/>
                </a:path>
              </a:pathLst>
            </a:custGeom>
            <a:solidFill>
              <a:srgbClr val="D5BC89"/>
            </a:solidFill>
          </p:spPr>
        </p:sp>
        <p:sp>
          <p:nvSpPr>
            <p:cNvPr id="7" name="TextBox 7"/>
            <p:cNvSpPr txBox="1"/>
            <p:nvPr/>
          </p:nvSpPr>
          <p:spPr>
            <a:xfrm>
              <a:off x="0" y="-57150"/>
              <a:ext cx="967000" cy="708066"/>
            </a:xfrm>
            <a:prstGeom prst="rect">
              <a:avLst/>
            </a:prstGeom>
          </p:spPr>
          <p:txBody>
            <a:bodyPr lIns="48302" tIns="48302" rIns="48302" bIns="48302" rtlCol="0" anchor="ctr"/>
            <a:lstStyle/>
            <a:p>
              <a:pPr algn="ctr">
                <a:lnSpc>
                  <a:spcPts val="2529"/>
                </a:lnSpc>
              </a:pPr>
              <a:endParaRPr/>
            </a:p>
          </p:txBody>
        </p:sp>
      </p:grpSp>
      <p:grpSp>
        <p:nvGrpSpPr>
          <p:cNvPr id="8" name="Group 8"/>
          <p:cNvGrpSpPr/>
          <p:nvPr/>
        </p:nvGrpSpPr>
        <p:grpSpPr>
          <a:xfrm>
            <a:off x="12275405" y="4385642"/>
            <a:ext cx="3553515" cy="2398291"/>
            <a:chOff x="0" y="0"/>
            <a:chExt cx="967000" cy="652635"/>
          </a:xfrm>
        </p:grpSpPr>
        <p:sp>
          <p:nvSpPr>
            <p:cNvPr id="9" name="Freeform 9"/>
            <p:cNvSpPr/>
            <p:nvPr/>
          </p:nvSpPr>
          <p:spPr>
            <a:xfrm>
              <a:off x="0" y="0"/>
              <a:ext cx="967000" cy="652635"/>
            </a:xfrm>
            <a:custGeom>
              <a:avLst/>
              <a:gdLst/>
              <a:ahLst/>
              <a:cxnLst/>
              <a:rect l="l" t="t" r="r" b="b"/>
              <a:pathLst>
                <a:path w="967000" h="652635">
                  <a:moveTo>
                    <a:pt x="104576" y="0"/>
                  </a:moveTo>
                  <a:lnTo>
                    <a:pt x="862424" y="0"/>
                  </a:lnTo>
                  <a:cubicBezTo>
                    <a:pt x="920180" y="0"/>
                    <a:pt x="967000" y="46820"/>
                    <a:pt x="967000" y="104576"/>
                  </a:cubicBezTo>
                  <a:lnTo>
                    <a:pt x="967000" y="548059"/>
                  </a:lnTo>
                  <a:cubicBezTo>
                    <a:pt x="967000" y="575794"/>
                    <a:pt x="955983" y="602394"/>
                    <a:pt x="936371" y="622005"/>
                  </a:cubicBezTo>
                  <a:cubicBezTo>
                    <a:pt x="916759" y="641617"/>
                    <a:pt x="890160" y="652635"/>
                    <a:pt x="862424" y="652635"/>
                  </a:cubicBezTo>
                  <a:lnTo>
                    <a:pt x="104576" y="652635"/>
                  </a:lnTo>
                  <a:cubicBezTo>
                    <a:pt x="46820" y="652635"/>
                    <a:pt x="0" y="605815"/>
                    <a:pt x="0" y="548059"/>
                  </a:cubicBezTo>
                  <a:lnTo>
                    <a:pt x="0" y="104576"/>
                  </a:lnTo>
                  <a:cubicBezTo>
                    <a:pt x="0" y="46820"/>
                    <a:pt x="46820" y="0"/>
                    <a:pt x="104576" y="0"/>
                  </a:cubicBezTo>
                  <a:close/>
                </a:path>
              </a:pathLst>
            </a:custGeom>
            <a:solidFill>
              <a:srgbClr val="EDECED"/>
            </a:solidFill>
          </p:spPr>
        </p:sp>
        <p:sp>
          <p:nvSpPr>
            <p:cNvPr id="10" name="TextBox 10"/>
            <p:cNvSpPr txBox="1"/>
            <p:nvPr/>
          </p:nvSpPr>
          <p:spPr>
            <a:xfrm>
              <a:off x="0" y="-57150"/>
              <a:ext cx="967000" cy="709785"/>
            </a:xfrm>
            <a:prstGeom prst="rect">
              <a:avLst/>
            </a:prstGeom>
          </p:spPr>
          <p:txBody>
            <a:bodyPr lIns="48302" tIns="48302" rIns="48302" bIns="48302" rtlCol="0" anchor="ctr"/>
            <a:lstStyle/>
            <a:p>
              <a:pPr algn="ctr">
                <a:lnSpc>
                  <a:spcPts val="2529"/>
                </a:lnSpc>
              </a:pPr>
              <a:endParaRPr/>
            </a:p>
          </p:txBody>
        </p:sp>
      </p:grpSp>
      <p:sp>
        <p:nvSpPr>
          <p:cNvPr id="11" name="TextBox 11"/>
          <p:cNvSpPr txBox="1"/>
          <p:nvPr/>
        </p:nvSpPr>
        <p:spPr>
          <a:xfrm>
            <a:off x="2201809" y="4755606"/>
            <a:ext cx="3365307" cy="336895"/>
          </a:xfrm>
          <a:prstGeom prst="rect">
            <a:avLst/>
          </a:prstGeom>
        </p:spPr>
        <p:txBody>
          <a:bodyPr lIns="0" tIns="0" rIns="0" bIns="0" rtlCol="0" anchor="t">
            <a:spAutoFit/>
          </a:bodyPr>
          <a:lstStyle/>
          <a:p>
            <a:pPr marL="0" lvl="0" indent="0" algn="ctr">
              <a:lnSpc>
                <a:spcPts val="2471"/>
              </a:lnSpc>
            </a:pPr>
            <a:r>
              <a:rPr lang="en-US" sz="2186" b="1">
                <a:solidFill>
                  <a:srgbClr val="000000"/>
                </a:solidFill>
                <a:latin typeface="Poppins Bold"/>
                <a:ea typeface="Poppins Bold"/>
                <a:cs typeface="Poppins Bold"/>
                <a:sym typeface="Poppins Bold"/>
              </a:rPr>
              <a:t>Entradas externas</a:t>
            </a:r>
          </a:p>
        </p:txBody>
      </p:sp>
      <p:sp>
        <p:nvSpPr>
          <p:cNvPr id="12" name="TextBox 12"/>
          <p:cNvSpPr txBox="1"/>
          <p:nvPr/>
        </p:nvSpPr>
        <p:spPr>
          <a:xfrm>
            <a:off x="2383598" y="5231505"/>
            <a:ext cx="3100951" cy="1073150"/>
          </a:xfrm>
          <a:prstGeom prst="rect">
            <a:avLst/>
          </a:prstGeom>
        </p:spPr>
        <p:txBody>
          <a:bodyPr lIns="0" tIns="0" rIns="0" bIns="0" rtlCol="0" anchor="t">
            <a:spAutoFit/>
          </a:bodyPr>
          <a:lstStyle/>
          <a:p>
            <a:pPr marL="0" lvl="0" indent="0" algn="just">
              <a:lnSpc>
                <a:spcPts val="2800"/>
              </a:lnSpc>
            </a:pPr>
            <a:r>
              <a:rPr lang="en-US" sz="2000">
                <a:solidFill>
                  <a:srgbClr val="000000"/>
                </a:solidFill>
                <a:latin typeface="Poppins Light"/>
                <a:ea typeface="Poppins Light"/>
                <a:cs typeface="Poppins Light"/>
                <a:sym typeface="Poppins Light"/>
              </a:rPr>
              <a:t>Funciones relacionadas con los datos que ingresan al sistema.</a:t>
            </a:r>
          </a:p>
        </p:txBody>
      </p:sp>
      <p:sp>
        <p:nvSpPr>
          <p:cNvPr id="13" name="TextBox 13"/>
          <p:cNvSpPr txBox="1"/>
          <p:nvPr/>
        </p:nvSpPr>
        <p:spPr>
          <a:xfrm>
            <a:off x="7229983" y="4761921"/>
            <a:ext cx="3365307" cy="336895"/>
          </a:xfrm>
          <a:prstGeom prst="rect">
            <a:avLst/>
          </a:prstGeom>
        </p:spPr>
        <p:txBody>
          <a:bodyPr lIns="0" tIns="0" rIns="0" bIns="0" rtlCol="0" anchor="t">
            <a:spAutoFit/>
          </a:bodyPr>
          <a:lstStyle/>
          <a:p>
            <a:pPr marL="0" lvl="0" indent="0" algn="ctr">
              <a:lnSpc>
                <a:spcPts val="2471"/>
              </a:lnSpc>
            </a:pPr>
            <a:r>
              <a:rPr lang="en-US" sz="2186" b="1">
                <a:solidFill>
                  <a:srgbClr val="000000"/>
                </a:solidFill>
                <a:latin typeface="Poppins Bold"/>
                <a:ea typeface="Poppins Bold"/>
                <a:cs typeface="Poppins Bold"/>
                <a:sym typeface="Poppins Bold"/>
              </a:rPr>
              <a:t>Salidas externas</a:t>
            </a:r>
          </a:p>
        </p:txBody>
      </p:sp>
      <p:sp>
        <p:nvSpPr>
          <p:cNvPr id="14" name="TextBox 14"/>
          <p:cNvSpPr txBox="1"/>
          <p:nvPr/>
        </p:nvSpPr>
        <p:spPr>
          <a:xfrm>
            <a:off x="7403022" y="5345927"/>
            <a:ext cx="3122700" cy="1073150"/>
          </a:xfrm>
          <a:prstGeom prst="rect">
            <a:avLst/>
          </a:prstGeom>
        </p:spPr>
        <p:txBody>
          <a:bodyPr lIns="0" tIns="0" rIns="0" bIns="0" rtlCol="0" anchor="t">
            <a:spAutoFit/>
          </a:bodyPr>
          <a:lstStyle/>
          <a:p>
            <a:pPr marL="0" lvl="0" indent="0" algn="just">
              <a:lnSpc>
                <a:spcPts val="2800"/>
              </a:lnSpc>
            </a:pPr>
            <a:r>
              <a:rPr lang="en-US" sz="2000">
                <a:solidFill>
                  <a:srgbClr val="000000"/>
                </a:solidFill>
                <a:latin typeface="Poppins Light"/>
                <a:ea typeface="Poppins Light"/>
                <a:cs typeface="Poppins Light"/>
                <a:sym typeface="Poppins Light"/>
              </a:rPr>
              <a:t>Funciones relacionadas con los datos que salen del sistema.</a:t>
            </a:r>
          </a:p>
        </p:txBody>
      </p:sp>
      <p:sp>
        <p:nvSpPr>
          <p:cNvPr id="15" name="TextBox 15"/>
          <p:cNvSpPr txBox="1"/>
          <p:nvPr/>
        </p:nvSpPr>
        <p:spPr>
          <a:xfrm>
            <a:off x="12463614" y="4761921"/>
            <a:ext cx="3365307" cy="336895"/>
          </a:xfrm>
          <a:prstGeom prst="rect">
            <a:avLst/>
          </a:prstGeom>
        </p:spPr>
        <p:txBody>
          <a:bodyPr lIns="0" tIns="0" rIns="0" bIns="0" rtlCol="0" anchor="t">
            <a:spAutoFit/>
          </a:bodyPr>
          <a:lstStyle/>
          <a:p>
            <a:pPr marL="0" lvl="0" indent="0" algn="ctr">
              <a:lnSpc>
                <a:spcPts val="2471"/>
              </a:lnSpc>
            </a:pPr>
            <a:r>
              <a:rPr lang="en-US" sz="2186" b="1">
                <a:solidFill>
                  <a:srgbClr val="000000"/>
                </a:solidFill>
                <a:latin typeface="Poppins Bold"/>
                <a:ea typeface="Poppins Bold"/>
                <a:cs typeface="Poppins Bold"/>
                <a:sym typeface="Poppins Bold"/>
              </a:rPr>
              <a:t>Consultas externas</a:t>
            </a:r>
          </a:p>
        </p:txBody>
      </p:sp>
      <p:sp>
        <p:nvSpPr>
          <p:cNvPr id="16" name="TextBox 16"/>
          <p:cNvSpPr txBox="1"/>
          <p:nvPr/>
        </p:nvSpPr>
        <p:spPr>
          <a:xfrm>
            <a:off x="1233418" y="2873630"/>
            <a:ext cx="14411955" cy="1197687"/>
          </a:xfrm>
          <a:prstGeom prst="rect">
            <a:avLst/>
          </a:prstGeom>
        </p:spPr>
        <p:txBody>
          <a:bodyPr lIns="0" tIns="0" rIns="0" bIns="0" rtlCol="0" anchor="t">
            <a:spAutoFit/>
          </a:bodyPr>
          <a:lstStyle/>
          <a:p>
            <a:pPr algn="l">
              <a:lnSpc>
                <a:spcPts val="3779"/>
              </a:lnSpc>
            </a:pPr>
            <a:r>
              <a:rPr lang="en-US" sz="2700" b="1">
                <a:solidFill>
                  <a:srgbClr val="FFFFFF"/>
                </a:solidFill>
                <a:latin typeface="Poppins Bold"/>
                <a:ea typeface="Poppins Bold"/>
                <a:cs typeface="Poppins Bold"/>
                <a:sym typeface="Poppins Bold"/>
              </a:rPr>
              <a:t>PASO 1:</a:t>
            </a:r>
            <a:r>
              <a:rPr lang="en-US" sz="2700">
                <a:solidFill>
                  <a:srgbClr val="FFFFFF"/>
                </a:solidFill>
                <a:latin typeface="Poppins Light"/>
                <a:ea typeface="Poppins Light"/>
                <a:cs typeface="Poppins Light"/>
                <a:sym typeface="Poppins Light"/>
              </a:rPr>
              <a:t> Contar el número de funciones de cada tipo propuesto: </a:t>
            </a:r>
          </a:p>
          <a:p>
            <a:pPr algn="l">
              <a:lnSpc>
                <a:spcPts val="3779"/>
              </a:lnSpc>
            </a:pPr>
            <a:r>
              <a:rPr lang="en-US" sz="2700">
                <a:solidFill>
                  <a:srgbClr val="FFFFFF"/>
                </a:solidFill>
                <a:latin typeface="Poppins Light"/>
                <a:ea typeface="Poppins Light"/>
                <a:cs typeface="Poppins Light"/>
                <a:sym typeface="Poppins Light"/>
              </a:rPr>
              <a:t>Encontrar el número de funciones que pertenecen a los siguientes tipos: </a:t>
            </a:r>
          </a:p>
          <a:p>
            <a:pPr marL="0" lvl="0" indent="0" algn="just">
              <a:lnSpc>
                <a:spcPts val="1741"/>
              </a:lnSpc>
            </a:pPr>
            <a:endParaRPr lang="en-US" sz="2700">
              <a:solidFill>
                <a:srgbClr val="FFFFFF"/>
              </a:solidFill>
              <a:latin typeface="Poppins Light"/>
              <a:ea typeface="Poppins Light"/>
              <a:cs typeface="Poppins Light"/>
              <a:sym typeface="Poppins Light"/>
            </a:endParaRPr>
          </a:p>
        </p:txBody>
      </p:sp>
      <p:sp>
        <p:nvSpPr>
          <p:cNvPr id="17" name="TextBox 17"/>
          <p:cNvSpPr txBox="1"/>
          <p:nvPr/>
        </p:nvSpPr>
        <p:spPr>
          <a:xfrm>
            <a:off x="1233418" y="1530605"/>
            <a:ext cx="15519400" cy="1095375"/>
          </a:xfrm>
          <a:prstGeom prst="rect">
            <a:avLst/>
          </a:prstGeom>
        </p:spPr>
        <p:txBody>
          <a:bodyPr lIns="0" tIns="0" rIns="0" bIns="0" rtlCol="0" anchor="t">
            <a:spAutoFit/>
          </a:bodyPr>
          <a:lstStyle/>
          <a:p>
            <a:pPr marL="0" lvl="0" indent="0" algn="ctr">
              <a:lnSpc>
                <a:spcPts val="8640"/>
              </a:lnSpc>
              <a:spcBef>
                <a:spcPct val="0"/>
              </a:spcBef>
            </a:pPr>
            <a:r>
              <a:rPr lang="en-US" sz="7200" b="1" spc="-324">
                <a:solidFill>
                  <a:srgbClr val="EDECED"/>
                </a:solidFill>
                <a:latin typeface="Antonio Bold"/>
                <a:ea typeface="Antonio Bold"/>
                <a:cs typeface="Antonio Bold"/>
                <a:sym typeface="Antonio Bold"/>
              </a:rPr>
              <a:t>ANÁLISIS DE PUNTOS DE FUNCIÓN</a:t>
            </a:r>
          </a:p>
        </p:txBody>
      </p:sp>
      <p:grpSp>
        <p:nvGrpSpPr>
          <p:cNvPr id="18" name="Group 18"/>
          <p:cNvGrpSpPr/>
          <p:nvPr/>
        </p:nvGrpSpPr>
        <p:grpSpPr>
          <a:xfrm>
            <a:off x="-2062688" y="9715955"/>
            <a:ext cx="21014417" cy="1392272"/>
            <a:chOff x="0" y="0"/>
            <a:chExt cx="3300463" cy="218666"/>
          </a:xfrm>
        </p:grpSpPr>
        <p:sp>
          <p:nvSpPr>
            <p:cNvPr id="19" name="Freeform 19"/>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EDECED"/>
            </a:solidFill>
          </p:spPr>
        </p:sp>
        <p:sp>
          <p:nvSpPr>
            <p:cNvPr id="20" name="TextBox 20"/>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365818" y="168893"/>
            <a:ext cx="7594232" cy="384617"/>
          </a:xfrm>
          <a:prstGeom prst="rect">
            <a:avLst/>
          </a:prstGeom>
        </p:spPr>
        <p:txBody>
          <a:bodyPr lIns="0" tIns="0" rIns="0" bIns="0" rtlCol="0" anchor="t">
            <a:spAutoFit/>
          </a:bodyPr>
          <a:lstStyle/>
          <a:p>
            <a:pPr marL="0" lvl="0" indent="0" algn="l">
              <a:lnSpc>
                <a:spcPts val="2788"/>
              </a:lnSpc>
            </a:pPr>
            <a:r>
              <a:rPr lang="en-US" sz="2534">
                <a:solidFill>
                  <a:srgbClr val="EDECED"/>
                </a:solidFill>
                <a:latin typeface="Poppins"/>
                <a:ea typeface="Poppins"/>
                <a:cs typeface="Poppins"/>
                <a:sym typeface="Poppins"/>
              </a:rPr>
              <a:t>Estimación del tamaño del software</a:t>
            </a:r>
          </a:p>
        </p:txBody>
      </p:sp>
      <p:sp>
        <p:nvSpPr>
          <p:cNvPr id="22" name="TextBox 22"/>
          <p:cNvSpPr txBox="1"/>
          <p:nvPr/>
        </p:nvSpPr>
        <p:spPr>
          <a:xfrm>
            <a:off x="12463614" y="5169715"/>
            <a:ext cx="3122700" cy="1425575"/>
          </a:xfrm>
          <a:prstGeom prst="rect">
            <a:avLst/>
          </a:prstGeom>
        </p:spPr>
        <p:txBody>
          <a:bodyPr lIns="0" tIns="0" rIns="0" bIns="0" rtlCol="0" anchor="t">
            <a:spAutoFit/>
          </a:bodyPr>
          <a:lstStyle/>
          <a:p>
            <a:pPr marL="0" lvl="0" indent="0" algn="just">
              <a:lnSpc>
                <a:spcPts val="2800"/>
              </a:lnSpc>
            </a:pPr>
            <a:r>
              <a:rPr lang="en-US" sz="2000">
                <a:solidFill>
                  <a:srgbClr val="000000"/>
                </a:solidFill>
                <a:latin typeface="Poppins Light"/>
                <a:ea typeface="Poppins Light"/>
                <a:cs typeface="Poppins Light"/>
                <a:sym typeface="Poppins Light"/>
              </a:rPr>
              <a:t>Conducen a la recuperación de datos del sistema, pero no modifican el sistema.</a:t>
            </a:r>
          </a:p>
        </p:txBody>
      </p:sp>
      <p:grpSp>
        <p:nvGrpSpPr>
          <p:cNvPr id="23" name="Group 23"/>
          <p:cNvGrpSpPr/>
          <p:nvPr/>
        </p:nvGrpSpPr>
        <p:grpSpPr>
          <a:xfrm>
            <a:off x="4755276" y="7098258"/>
            <a:ext cx="3553515" cy="2391976"/>
            <a:chOff x="0" y="0"/>
            <a:chExt cx="967000" cy="650916"/>
          </a:xfrm>
        </p:grpSpPr>
        <p:sp>
          <p:nvSpPr>
            <p:cNvPr id="24" name="Freeform 24"/>
            <p:cNvSpPr/>
            <p:nvPr/>
          </p:nvSpPr>
          <p:spPr>
            <a:xfrm>
              <a:off x="0" y="0"/>
              <a:ext cx="967000" cy="650916"/>
            </a:xfrm>
            <a:custGeom>
              <a:avLst/>
              <a:gdLst/>
              <a:ahLst/>
              <a:cxnLst/>
              <a:rect l="l" t="t" r="r" b="b"/>
              <a:pathLst>
                <a:path w="967000" h="650916">
                  <a:moveTo>
                    <a:pt x="104576" y="0"/>
                  </a:moveTo>
                  <a:lnTo>
                    <a:pt x="862424" y="0"/>
                  </a:lnTo>
                  <a:cubicBezTo>
                    <a:pt x="920180" y="0"/>
                    <a:pt x="967000" y="46820"/>
                    <a:pt x="967000" y="104576"/>
                  </a:cubicBezTo>
                  <a:lnTo>
                    <a:pt x="967000" y="546340"/>
                  </a:lnTo>
                  <a:cubicBezTo>
                    <a:pt x="967000" y="574076"/>
                    <a:pt x="955983" y="600675"/>
                    <a:pt x="936371" y="620287"/>
                  </a:cubicBezTo>
                  <a:cubicBezTo>
                    <a:pt x="916759" y="639899"/>
                    <a:pt x="890160" y="650916"/>
                    <a:pt x="862424" y="650916"/>
                  </a:cubicBezTo>
                  <a:lnTo>
                    <a:pt x="104576" y="650916"/>
                  </a:lnTo>
                  <a:cubicBezTo>
                    <a:pt x="46820" y="650916"/>
                    <a:pt x="0" y="604096"/>
                    <a:pt x="0" y="546340"/>
                  </a:cubicBezTo>
                  <a:lnTo>
                    <a:pt x="0" y="104576"/>
                  </a:lnTo>
                  <a:cubicBezTo>
                    <a:pt x="0" y="46820"/>
                    <a:pt x="46820" y="0"/>
                    <a:pt x="104576" y="0"/>
                  </a:cubicBezTo>
                  <a:close/>
                </a:path>
              </a:pathLst>
            </a:custGeom>
            <a:solidFill>
              <a:srgbClr val="D5BC89"/>
            </a:solidFill>
          </p:spPr>
        </p:sp>
        <p:sp>
          <p:nvSpPr>
            <p:cNvPr id="25" name="TextBox 25"/>
            <p:cNvSpPr txBox="1"/>
            <p:nvPr/>
          </p:nvSpPr>
          <p:spPr>
            <a:xfrm>
              <a:off x="0" y="-57150"/>
              <a:ext cx="967000" cy="708066"/>
            </a:xfrm>
            <a:prstGeom prst="rect">
              <a:avLst/>
            </a:prstGeom>
          </p:spPr>
          <p:txBody>
            <a:bodyPr lIns="48302" tIns="48302" rIns="48302" bIns="48302" rtlCol="0" anchor="ctr"/>
            <a:lstStyle/>
            <a:p>
              <a:pPr algn="ctr">
                <a:lnSpc>
                  <a:spcPts val="2529"/>
                </a:lnSpc>
              </a:pPr>
              <a:endParaRPr/>
            </a:p>
          </p:txBody>
        </p:sp>
      </p:grpSp>
      <p:sp>
        <p:nvSpPr>
          <p:cNvPr id="26" name="TextBox 26"/>
          <p:cNvSpPr txBox="1"/>
          <p:nvPr/>
        </p:nvSpPr>
        <p:spPr>
          <a:xfrm>
            <a:off x="4755276" y="7432830"/>
            <a:ext cx="3365307" cy="336895"/>
          </a:xfrm>
          <a:prstGeom prst="rect">
            <a:avLst/>
          </a:prstGeom>
        </p:spPr>
        <p:txBody>
          <a:bodyPr lIns="0" tIns="0" rIns="0" bIns="0" rtlCol="0" anchor="t">
            <a:spAutoFit/>
          </a:bodyPr>
          <a:lstStyle/>
          <a:p>
            <a:pPr marL="0" lvl="0" indent="0" algn="ctr">
              <a:lnSpc>
                <a:spcPts val="2471"/>
              </a:lnSpc>
            </a:pPr>
            <a:r>
              <a:rPr lang="en-US" sz="2186" b="1">
                <a:solidFill>
                  <a:srgbClr val="000000"/>
                </a:solidFill>
                <a:latin typeface="Poppins Bold"/>
                <a:ea typeface="Poppins Bold"/>
                <a:cs typeface="Poppins Bold"/>
                <a:sym typeface="Poppins Bold"/>
              </a:rPr>
              <a:t>Archivos lógicos</a:t>
            </a:r>
          </a:p>
        </p:txBody>
      </p:sp>
      <p:sp>
        <p:nvSpPr>
          <p:cNvPr id="27" name="TextBox 27"/>
          <p:cNvSpPr txBox="1"/>
          <p:nvPr/>
        </p:nvSpPr>
        <p:spPr>
          <a:xfrm>
            <a:off x="4970684" y="7832725"/>
            <a:ext cx="3122700" cy="1425575"/>
          </a:xfrm>
          <a:prstGeom prst="rect">
            <a:avLst/>
          </a:prstGeom>
        </p:spPr>
        <p:txBody>
          <a:bodyPr lIns="0" tIns="0" rIns="0" bIns="0" rtlCol="0" anchor="t">
            <a:spAutoFit/>
          </a:bodyPr>
          <a:lstStyle/>
          <a:p>
            <a:pPr marL="0" lvl="0" indent="0" algn="just">
              <a:lnSpc>
                <a:spcPts val="2800"/>
              </a:lnSpc>
            </a:pPr>
            <a:r>
              <a:rPr lang="en-US" sz="2000">
                <a:solidFill>
                  <a:srgbClr val="000000"/>
                </a:solidFill>
                <a:latin typeface="Poppins Light"/>
                <a:ea typeface="Poppins Light"/>
                <a:cs typeface="Poppins Light"/>
                <a:sym typeface="Poppins Light"/>
              </a:rPr>
              <a:t>Archivos lógicos que se mantienen dentro del sistema. No se incluyen los archivos de registro.</a:t>
            </a:r>
          </a:p>
        </p:txBody>
      </p:sp>
      <p:grpSp>
        <p:nvGrpSpPr>
          <p:cNvPr id="28" name="Group 28"/>
          <p:cNvGrpSpPr/>
          <p:nvPr/>
        </p:nvGrpSpPr>
        <p:grpSpPr>
          <a:xfrm>
            <a:off x="9709828" y="7098258"/>
            <a:ext cx="3553515" cy="2398291"/>
            <a:chOff x="0" y="0"/>
            <a:chExt cx="967000" cy="652635"/>
          </a:xfrm>
        </p:grpSpPr>
        <p:sp>
          <p:nvSpPr>
            <p:cNvPr id="29" name="Freeform 29"/>
            <p:cNvSpPr/>
            <p:nvPr/>
          </p:nvSpPr>
          <p:spPr>
            <a:xfrm>
              <a:off x="0" y="0"/>
              <a:ext cx="967000" cy="652635"/>
            </a:xfrm>
            <a:custGeom>
              <a:avLst/>
              <a:gdLst/>
              <a:ahLst/>
              <a:cxnLst/>
              <a:rect l="l" t="t" r="r" b="b"/>
              <a:pathLst>
                <a:path w="967000" h="652635">
                  <a:moveTo>
                    <a:pt x="104576" y="0"/>
                  </a:moveTo>
                  <a:lnTo>
                    <a:pt x="862424" y="0"/>
                  </a:lnTo>
                  <a:cubicBezTo>
                    <a:pt x="920180" y="0"/>
                    <a:pt x="967000" y="46820"/>
                    <a:pt x="967000" y="104576"/>
                  </a:cubicBezTo>
                  <a:lnTo>
                    <a:pt x="967000" y="548059"/>
                  </a:lnTo>
                  <a:cubicBezTo>
                    <a:pt x="967000" y="575794"/>
                    <a:pt x="955983" y="602394"/>
                    <a:pt x="936371" y="622005"/>
                  </a:cubicBezTo>
                  <a:cubicBezTo>
                    <a:pt x="916759" y="641617"/>
                    <a:pt x="890160" y="652635"/>
                    <a:pt x="862424" y="652635"/>
                  </a:cubicBezTo>
                  <a:lnTo>
                    <a:pt x="104576" y="652635"/>
                  </a:lnTo>
                  <a:cubicBezTo>
                    <a:pt x="46820" y="652635"/>
                    <a:pt x="0" y="605815"/>
                    <a:pt x="0" y="548059"/>
                  </a:cubicBezTo>
                  <a:lnTo>
                    <a:pt x="0" y="104576"/>
                  </a:lnTo>
                  <a:cubicBezTo>
                    <a:pt x="0" y="46820"/>
                    <a:pt x="46820" y="0"/>
                    <a:pt x="104576" y="0"/>
                  </a:cubicBezTo>
                  <a:close/>
                </a:path>
              </a:pathLst>
            </a:custGeom>
            <a:solidFill>
              <a:srgbClr val="EDECED"/>
            </a:solidFill>
          </p:spPr>
        </p:sp>
        <p:sp>
          <p:nvSpPr>
            <p:cNvPr id="30" name="TextBox 30"/>
            <p:cNvSpPr txBox="1"/>
            <p:nvPr/>
          </p:nvSpPr>
          <p:spPr>
            <a:xfrm>
              <a:off x="0" y="-57150"/>
              <a:ext cx="967000" cy="709785"/>
            </a:xfrm>
            <a:prstGeom prst="rect">
              <a:avLst/>
            </a:prstGeom>
          </p:spPr>
          <p:txBody>
            <a:bodyPr lIns="48302" tIns="48302" rIns="48302" bIns="48302" rtlCol="0" anchor="ctr"/>
            <a:lstStyle/>
            <a:p>
              <a:pPr algn="ctr">
                <a:lnSpc>
                  <a:spcPts val="2529"/>
                </a:lnSpc>
              </a:pPr>
              <a:endParaRPr/>
            </a:p>
          </p:txBody>
        </p:sp>
      </p:grpSp>
      <p:sp>
        <p:nvSpPr>
          <p:cNvPr id="31" name="TextBox 31"/>
          <p:cNvSpPr txBox="1"/>
          <p:nvPr/>
        </p:nvSpPr>
        <p:spPr>
          <a:xfrm>
            <a:off x="9803933" y="7304183"/>
            <a:ext cx="3365307" cy="644823"/>
          </a:xfrm>
          <a:prstGeom prst="rect">
            <a:avLst/>
          </a:prstGeom>
        </p:spPr>
        <p:txBody>
          <a:bodyPr lIns="0" tIns="0" rIns="0" bIns="0" rtlCol="0" anchor="t">
            <a:spAutoFit/>
          </a:bodyPr>
          <a:lstStyle/>
          <a:p>
            <a:pPr marL="0" lvl="0" indent="0" algn="ctr">
              <a:lnSpc>
                <a:spcPts val="2471"/>
              </a:lnSpc>
            </a:pPr>
            <a:r>
              <a:rPr lang="en-US" sz="2186" b="1">
                <a:solidFill>
                  <a:srgbClr val="000000"/>
                </a:solidFill>
                <a:latin typeface="Poppins Bold"/>
                <a:ea typeface="Poppins Bold"/>
                <a:cs typeface="Poppins Bold"/>
                <a:sym typeface="Poppins Bold"/>
              </a:rPr>
              <a:t>Archivos de interfaz externa</a:t>
            </a:r>
          </a:p>
        </p:txBody>
      </p:sp>
      <p:sp>
        <p:nvSpPr>
          <p:cNvPr id="32" name="TextBox 32"/>
          <p:cNvSpPr txBox="1"/>
          <p:nvPr/>
        </p:nvSpPr>
        <p:spPr>
          <a:xfrm>
            <a:off x="9925236" y="8015681"/>
            <a:ext cx="3122700" cy="1425575"/>
          </a:xfrm>
          <a:prstGeom prst="rect">
            <a:avLst/>
          </a:prstGeom>
        </p:spPr>
        <p:txBody>
          <a:bodyPr lIns="0" tIns="0" rIns="0" bIns="0" rtlCol="0" anchor="t">
            <a:spAutoFit/>
          </a:bodyPr>
          <a:lstStyle/>
          <a:p>
            <a:pPr marL="0" lvl="0" indent="0" algn="just">
              <a:lnSpc>
                <a:spcPts val="2800"/>
              </a:lnSpc>
            </a:pPr>
            <a:r>
              <a:rPr lang="en-US" sz="2000">
                <a:solidFill>
                  <a:srgbClr val="000000"/>
                </a:solidFill>
                <a:latin typeface="Poppins Light"/>
                <a:ea typeface="Poppins Light"/>
                <a:cs typeface="Poppins Light"/>
                <a:sym typeface="Poppins Light"/>
              </a:rPr>
              <a:t>Son archivos lógicos para otras aplicaciones que utiliza nuestro sistema.</a:t>
            </a:r>
          </a:p>
        </p:txBody>
      </p:sp>
    </p:spTree>
  </p:cSld>
  <p:clrMapOvr>
    <a:masterClrMapping/>
  </p:clrMapOvr>
  <p:transition>
    <p:cover dir="d"/>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9772427" y="3676649"/>
            <a:ext cx="8118060" cy="3823184"/>
          </a:xfrm>
          <a:custGeom>
            <a:avLst/>
            <a:gdLst/>
            <a:ahLst/>
            <a:cxnLst/>
            <a:rect l="l" t="t" r="r" b="b"/>
            <a:pathLst>
              <a:path w="8118060" h="3823184">
                <a:moveTo>
                  <a:pt x="0" y="0"/>
                </a:moveTo>
                <a:lnTo>
                  <a:pt x="8118060" y="0"/>
                </a:lnTo>
                <a:lnTo>
                  <a:pt x="8118060" y="3823185"/>
                </a:lnTo>
                <a:lnTo>
                  <a:pt x="0" y="3823185"/>
                </a:lnTo>
                <a:lnTo>
                  <a:pt x="0" y="0"/>
                </a:lnTo>
                <a:close/>
              </a:path>
            </a:pathLst>
          </a:custGeom>
          <a:blipFill>
            <a:blip r:embed="rId2"/>
            <a:stretch>
              <a:fillRect/>
            </a:stretch>
          </a:blipFill>
        </p:spPr>
      </p:sp>
      <p:sp>
        <p:nvSpPr>
          <p:cNvPr id="6" name="TextBox 6"/>
          <p:cNvSpPr txBox="1"/>
          <p:nvPr/>
        </p:nvSpPr>
        <p:spPr>
          <a:xfrm>
            <a:off x="1351729" y="5057775"/>
            <a:ext cx="7792271" cy="3395048"/>
          </a:xfrm>
          <a:prstGeom prst="rect">
            <a:avLst/>
          </a:prstGeom>
        </p:spPr>
        <p:txBody>
          <a:bodyPr lIns="0" tIns="0" rIns="0" bIns="0" rtlCol="0" anchor="t">
            <a:spAutoFit/>
          </a:bodyPr>
          <a:lstStyle/>
          <a:p>
            <a:pPr marL="0" lvl="0" indent="0" algn="just">
              <a:lnSpc>
                <a:spcPts val="3821"/>
              </a:lnSpc>
              <a:spcBef>
                <a:spcPct val="0"/>
              </a:spcBef>
            </a:pPr>
            <a:r>
              <a:rPr lang="en-US" sz="2729">
                <a:solidFill>
                  <a:srgbClr val="000000"/>
                </a:solidFill>
                <a:latin typeface="Poppins"/>
                <a:ea typeface="Poppins"/>
                <a:cs typeface="Poppins"/>
                <a:sym typeface="Poppins"/>
              </a:rPr>
              <a:t>Clasifique cada uno de los cinco tipos de función como simple, promedio o complejo según su complejidad. Multiplique el número de cada tipo de función por su factor de ponderación y calcule la suma ponderada. Los factores de ponderación para cada tipo, según su complejidad, son los siguientes: </a:t>
            </a:r>
          </a:p>
        </p:txBody>
      </p:sp>
      <p:sp>
        <p:nvSpPr>
          <p:cNvPr id="7" name="TextBox 7"/>
          <p:cNvSpPr txBox="1"/>
          <p:nvPr/>
        </p:nvSpPr>
        <p:spPr>
          <a:xfrm>
            <a:off x="1351729" y="1051559"/>
            <a:ext cx="9275917" cy="2025015"/>
          </a:xfrm>
          <a:prstGeom prst="rect">
            <a:avLst/>
          </a:prstGeom>
        </p:spPr>
        <p:txBody>
          <a:bodyPr lIns="0" tIns="0" rIns="0" bIns="0" rtlCol="0" anchor="t">
            <a:spAutoFit/>
          </a:bodyPr>
          <a:lstStyle/>
          <a:p>
            <a:pPr marL="0" lvl="0" indent="0" algn="l">
              <a:lnSpc>
                <a:spcPts val="7920"/>
              </a:lnSpc>
            </a:pPr>
            <a:r>
              <a:rPr lang="en-US" sz="7200" b="1" spc="-324">
                <a:solidFill>
                  <a:srgbClr val="000000"/>
                </a:solidFill>
                <a:latin typeface="Antonio Bold"/>
                <a:ea typeface="Antonio Bold"/>
                <a:cs typeface="Antonio Bold"/>
                <a:sym typeface="Antonio Bold"/>
              </a:rPr>
              <a:t>ANÁLISIS DE PUNTOS DE FUNCIÓN</a:t>
            </a:r>
          </a:p>
        </p:txBody>
      </p:sp>
      <p:sp>
        <p:nvSpPr>
          <p:cNvPr id="8" name="TextBox 8"/>
          <p:cNvSpPr txBox="1"/>
          <p:nvPr/>
        </p:nvSpPr>
        <p:spPr>
          <a:xfrm>
            <a:off x="434969" y="0"/>
            <a:ext cx="7594232" cy="384617"/>
          </a:xfrm>
          <a:prstGeom prst="rect">
            <a:avLst/>
          </a:prstGeom>
        </p:spPr>
        <p:txBody>
          <a:bodyPr lIns="0" tIns="0" rIns="0" bIns="0" rtlCol="0" anchor="t">
            <a:spAutoFit/>
          </a:bodyPr>
          <a:lstStyle/>
          <a:p>
            <a:pPr marL="0" lvl="0" indent="0" algn="l">
              <a:lnSpc>
                <a:spcPts val="2788"/>
              </a:lnSpc>
            </a:pPr>
            <a:r>
              <a:rPr lang="en-US" sz="2534">
                <a:solidFill>
                  <a:srgbClr val="000000"/>
                </a:solidFill>
                <a:latin typeface="Poppins"/>
                <a:ea typeface="Poppins"/>
                <a:cs typeface="Poppins"/>
                <a:sym typeface="Poppins"/>
              </a:rPr>
              <a:t>Estimación del tamaño del software</a:t>
            </a:r>
          </a:p>
        </p:txBody>
      </p:sp>
      <p:sp>
        <p:nvSpPr>
          <p:cNvPr id="9" name="TextBox 9"/>
          <p:cNvSpPr txBox="1"/>
          <p:nvPr/>
        </p:nvSpPr>
        <p:spPr>
          <a:xfrm>
            <a:off x="1351729" y="3590924"/>
            <a:ext cx="7792271" cy="968897"/>
          </a:xfrm>
          <a:prstGeom prst="rect">
            <a:avLst/>
          </a:prstGeom>
        </p:spPr>
        <p:txBody>
          <a:bodyPr lIns="0" tIns="0" rIns="0" bIns="0" rtlCol="0" anchor="t">
            <a:spAutoFit/>
          </a:bodyPr>
          <a:lstStyle/>
          <a:p>
            <a:pPr marL="0" lvl="0" indent="0" algn="just">
              <a:lnSpc>
                <a:spcPts val="3821"/>
              </a:lnSpc>
              <a:spcBef>
                <a:spcPct val="0"/>
              </a:spcBef>
            </a:pPr>
            <a:r>
              <a:rPr lang="en-US" sz="2729" b="1">
                <a:solidFill>
                  <a:srgbClr val="000000"/>
                </a:solidFill>
                <a:latin typeface="Poppins Bold"/>
                <a:ea typeface="Poppins Bold"/>
                <a:cs typeface="Poppins Bold"/>
                <a:sym typeface="Poppins Bold"/>
              </a:rPr>
              <a:t>Paso 2:</a:t>
            </a:r>
            <a:r>
              <a:rPr lang="en-US" sz="2729">
                <a:solidFill>
                  <a:srgbClr val="000000"/>
                </a:solidFill>
                <a:latin typeface="Poppins"/>
                <a:ea typeface="Poppins"/>
                <a:cs typeface="Poppins"/>
                <a:sym typeface="Poppins"/>
              </a:rPr>
              <a:t> Calcular los puntos de función no ajustados (UFP):</a:t>
            </a:r>
          </a:p>
        </p:txBody>
      </p:sp>
      <p:sp>
        <p:nvSpPr>
          <p:cNvPr id="10" name="TextBox 10"/>
          <p:cNvSpPr txBox="1"/>
          <p:nvPr/>
        </p:nvSpPr>
        <p:spPr>
          <a:xfrm>
            <a:off x="10169940" y="8090384"/>
            <a:ext cx="7720548" cy="1416050"/>
          </a:xfrm>
          <a:prstGeom prst="rect">
            <a:avLst/>
          </a:prstGeom>
        </p:spPr>
        <p:txBody>
          <a:bodyPr lIns="0" tIns="0" rIns="0" bIns="0" rtlCol="0" anchor="t">
            <a:spAutoFit/>
          </a:bodyPr>
          <a:lstStyle/>
          <a:p>
            <a:pPr algn="l">
              <a:lnSpc>
                <a:spcPts val="2200"/>
              </a:lnSpc>
            </a:pPr>
            <a:r>
              <a:rPr lang="en-US" sz="2000" i="1">
                <a:solidFill>
                  <a:srgbClr val="000000"/>
                </a:solidFill>
                <a:latin typeface="Poppins Italics"/>
                <a:ea typeface="Poppins Italics"/>
                <a:cs typeface="Poppins Italics"/>
                <a:sym typeface="Poppins Italics"/>
              </a:rPr>
              <a:t>Figura 2:  Tabla de calculo de UFP. </a:t>
            </a:r>
          </a:p>
          <a:p>
            <a:pPr marL="0" lvl="0" indent="0" algn="l">
              <a:lnSpc>
                <a:spcPts val="2200"/>
              </a:lnSpc>
            </a:pPr>
            <a:r>
              <a:rPr lang="en-US" sz="2000" i="1">
                <a:solidFill>
                  <a:srgbClr val="000000"/>
                </a:solidFill>
                <a:latin typeface="Poppins Italics"/>
                <a:ea typeface="Poppins Italics"/>
                <a:cs typeface="Poppins Italics"/>
                <a:sym typeface="Poppins Italics"/>
              </a:rPr>
              <a:t>Tomado de </a:t>
            </a:r>
            <a:r>
              <a:rPr lang="en-US" sz="2000" i="1">
                <a:solidFill>
                  <a:srgbClr val="000000"/>
                </a:solidFill>
                <a:latin typeface="Poppins Italics"/>
                <a:ea typeface="Poppins Italics"/>
                <a:cs typeface="Poppins Italics"/>
                <a:sym typeface="Poppins Italics"/>
                <a:hlinkClick r:id="rId3" tooltip="https://www.youtube.com/@portalucam"/>
              </a:rPr>
              <a:t>UCAM Universidad Católica de Murcia</a:t>
            </a:r>
            <a:r>
              <a:rPr lang="en-US" sz="2000">
                <a:solidFill>
                  <a:srgbClr val="000000"/>
                </a:solidFill>
                <a:latin typeface="Poppins"/>
                <a:ea typeface="Poppins"/>
                <a:cs typeface="Poppins"/>
                <a:sym typeface="Poppins"/>
              </a:rPr>
              <a:t> (s.f.). Ingeniería del Software II - Tema 2. Métricas del Software - Fernando Pereñiguez [Video]. YouTube. https://www.youtube.com/watch?v=kh7tIcXOB1E </a:t>
            </a:r>
          </a:p>
        </p:txBody>
      </p:sp>
    </p:spTree>
  </p:cSld>
  <p:clrMapOvr>
    <a:masterClrMapping/>
  </p:clrMapOvr>
  <p:transition>
    <p:cover dir="d"/>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AutoShape 2"/>
          <p:cNvSpPr/>
          <p:nvPr/>
        </p:nvSpPr>
        <p:spPr>
          <a:xfrm>
            <a:off x="10609845" y="0"/>
            <a:ext cx="7678155" cy="10287000"/>
          </a:xfrm>
          <a:prstGeom prst="rect">
            <a:avLst/>
          </a:prstGeom>
          <a:solidFill>
            <a:srgbClr val="5170FF"/>
          </a:solidFill>
        </p:spPr>
      </p:sp>
      <p:grpSp>
        <p:nvGrpSpPr>
          <p:cNvPr id="3" name="Group 3"/>
          <p:cNvGrpSpPr/>
          <p:nvPr/>
        </p:nvGrpSpPr>
        <p:grpSpPr>
          <a:xfrm>
            <a:off x="10873005" y="605059"/>
            <a:ext cx="7057893" cy="737694"/>
            <a:chOff x="0" y="0"/>
            <a:chExt cx="4566622" cy="477305"/>
          </a:xfrm>
        </p:grpSpPr>
        <p:sp>
          <p:nvSpPr>
            <p:cNvPr id="4" name="Freeform 4"/>
            <p:cNvSpPr/>
            <p:nvPr/>
          </p:nvSpPr>
          <p:spPr>
            <a:xfrm>
              <a:off x="0" y="0"/>
              <a:ext cx="4566622" cy="477306"/>
            </a:xfrm>
            <a:custGeom>
              <a:avLst/>
              <a:gdLst/>
              <a:ahLst/>
              <a:cxnLst/>
              <a:rect l="l" t="t" r="r" b="b"/>
              <a:pathLst>
                <a:path w="4566622" h="477306">
                  <a:moveTo>
                    <a:pt x="4363422" y="0"/>
                  </a:moveTo>
                  <a:cubicBezTo>
                    <a:pt x="4475647" y="0"/>
                    <a:pt x="4566622" y="106848"/>
                    <a:pt x="4566622" y="238653"/>
                  </a:cubicBezTo>
                  <a:cubicBezTo>
                    <a:pt x="4566622" y="370457"/>
                    <a:pt x="4475647" y="477306"/>
                    <a:pt x="4363422" y="477306"/>
                  </a:cubicBezTo>
                  <a:lnTo>
                    <a:pt x="203200" y="477306"/>
                  </a:lnTo>
                  <a:cubicBezTo>
                    <a:pt x="90976" y="477306"/>
                    <a:pt x="0" y="370457"/>
                    <a:pt x="0" y="238653"/>
                  </a:cubicBezTo>
                  <a:cubicBezTo>
                    <a:pt x="0" y="106848"/>
                    <a:pt x="90976" y="0"/>
                    <a:pt x="203200" y="0"/>
                  </a:cubicBezTo>
                  <a:close/>
                </a:path>
              </a:pathLst>
            </a:custGeom>
            <a:solidFill>
              <a:srgbClr val="EDECED"/>
            </a:solidFill>
          </p:spPr>
        </p:sp>
        <p:sp>
          <p:nvSpPr>
            <p:cNvPr id="5" name="TextBox 5"/>
            <p:cNvSpPr txBox="1"/>
            <p:nvPr/>
          </p:nvSpPr>
          <p:spPr>
            <a:xfrm>
              <a:off x="0" y="-57150"/>
              <a:ext cx="4566622" cy="534455"/>
            </a:xfrm>
            <a:prstGeom prst="rect">
              <a:avLst/>
            </a:prstGeom>
          </p:spPr>
          <p:txBody>
            <a:bodyPr lIns="45385" tIns="45385" rIns="45385" bIns="45385" rtlCol="0" anchor="ctr"/>
            <a:lstStyle/>
            <a:p>
              <a:pPr algn="ctr">
                <a:lnSpc>
                  <a:spcPts val="2376"/>
                </a:lnSpc>
              </a:pPr>
              <a:endParaRPr/>
            </a:p>
          </p:txBody>
        </p:sp>
      </p:grpSp>
      <p:grpSp>
        <p:nvGrpSpPr>
          <p:cNvPr id="6" name="Group 6"/>
          <p:cNvGrpSpPr/>
          <p:nvPr/>
        </p:nvGrpSpPr>
        <p:grpSpPr>
          <a:xfrm>
            <a:off x="-2062688" y="9715955"/>
            <a:ext cx="21014417" cy="1392272"/>
            <a:chOff x="0" y="0"/>
            <a:chExt cx="3300463" cy="218666"/>
          </a:xfrm>
        </p:grpSpPr>
        <p:sp>
          <p:nvSpPr>
            <p:cNvPr id="7" name="Freeform 7"/>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8" name="TextBox 8"/>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476418" y="8524098"/>
            <a:ext cx="9707595" cy="849251"/>
          </a:xfrm>
          <a:custGeom>
            <a:avLst/>
            <a:gdLst/>
            <a:ahLst/>
            <a:cxnLst/>
            <a:rect l="l" t="t" r="r" b="b"/>
            <a:pathLst>
              <a:path w="9707595" h="849251">
                <a:moveTo>
                  <a:pt x="0" y="0"/>
                </a:moveTo>
                <a:lnTo>
                  <a:pt x="9707595" y="0"/>
                </a:lnTo>
                <a:lnTo>
                  <a:pt x="9707595" y="849251"/>
                </a:lnTo>
                <a:lnTo>
                  <a:pt x="0" y="849251"/>
                </a:lnTo>
                <a:lnTo>
                  <a:pt x="0" y="0"/>
                </a:lnTo>
                <a:close/>
              </a:path>
            </a:pathLst>
          </a:custGeom>
          <a:blipFill>
            <a:blip r:embed="rId2"/>
            <a:stretch>
              <a:fillRect/>
            </a:stretch>
          </a:blipFill>
        </p:spPr>
      </p:sp>
      <p:sp>
        <p:nvSpPr>
          <p:cNvPr id="10" name="TextBox 10"/>
          <p:cNvSpPr txBox="1"/>
          <p:nvPr/>
        </p:nvSpPr>
        <p:spPr>
          <a:xfrm>
            <a:off x="1028700" y="1342754"/>
            <a:ext cx="7681163" cy="2190750"/>
          </a:xfrm>
          <a:prstGeom prst="rect">
            <a:avLst/>
          </a:prstGeom>
        </p:spPr>
        <p:txBody>
          <a:bodyPr lIns="0" tIns="0" rIns="0" bIns="0" rtlCol="0" anchor="t">
            <a:spAutoFit/>
          </a:bodyPr>
          <a:lstStyle/>
          <a:p>
            <a:pPr marL="0" lvl="0" indent="0" algn="ctr">
              <a:lnSpc>
                <a:spcPts val="8640"/>
              </a:lnSpc>
              <a:spcBef>
                <a:spcPct val="0"/>
              </a:spcBef>
            </a:pPr>
            <a:r>
              <a:rPr lang="en-US" sz="7200" b="1" spc="-324">
                <a:solidFill>
                  <a:srgbClr val="000000"/>
                </a:solidFill>
                <a:latin typeface="Antonio Bold"/>
                <a:ea typeface="Antonio Bold"/>
                <a:cs typeface="Antonio Bold"/>
                <a:sym typeface="Antonio Bold"/>
              </a:rPr>
              <a:t>ANÁLISIS DE PUNTOS DE FUNCIÓN</a:t>
            </a:r>
          </a:p>
        </p:txBody>
      </p:sp>
      <p:sp>
        <p:nvSpPr>
          <p:cNvPr id="11" name="TextBox 11"/>
          <p:cNvSpPr txBox="1"/>
          <p:nvPr/>
        </p:nvSpPr>
        <p:spPr>
          <a:xfrm>
            <a:off x="1028700" y="4583127"/>
            <a:ext cx="9155313" cy="2167890"/>
          </a:xfrm>
          <a:prstGeom prst="rect">
            <a:avLst/>
          </a:prstGeom>
        </p:spPr>
        <p:txBody>
          <a:bodyPr lIns="0" tIns="0" rIns="0" bIns="0" rtlCol="0" anchor="t">
            <a:spAutoFit/>
          </a:bodyPr>
          <a:lstStyle/>
          <a:p>
            <a:pPr marL="0" lvl="0" indent="0" algn="just">
              <a:lnSpc>
                <a:spcPts val="4320"/>
              </a:lnSpc>
              <a:spcBef>
                <a:spcPct val="0"/>
              </a:spcBef>
            </a:pPr>
            <a:r>
              <a:rPr lang="en-US" sz="2700">
                <a:solidFill>
                  <a:srgbClr val="000000"/>
                </a:solidFill>
                <a:latin typeface="Poppins"/>
                <a:ea typeface="Poppins"/>
                <a:cs typeface="Poppins"/>
                <a:sym typeface="Poppins"/>
              </a:rPr>
              <a:t>Utilizar las 14 características generales de un sistema para determinar el grado de influencia de cada una. La suma de los 14 grados de influencia dará como resultado el TDI. El rango del TDI va de 0 a 70.</a:t>
            </a:r>
          </a:p>
        </p:txBody>
      </p:sp>
      <p:sp>
        <p:nvSpPr>
          <p:cNvPr id="12" name="TextBox 12"/>
          <p:cNvSpPr txBox="1"/>
          <p:nvPr/>
        </p:nvSpPr>
        <p:spPr>
          <a:xfrm>
            <a:off x="11136166" y="761880"/>
            <a:ext cx="6531572" cy="414528"/>
          </a:xfrm>
          <a:prstGeom prst="rect">
            <a:avLst/>
          </a:prstGeom>
        </p:spPr>
        <p:txBody>
          <a:bodyPr lIns="0" tIns="0" rIns="0" bIns="0" rtlCol="0" anchor="t">
            <a:spAutoFit/>
          </a:bodyPr>
          <a:lstStyle/>
          <a:p>
            <a:pPr marL="0" lvl="1" indent="0" algn="ctr">
              <a:lnSpc>
                <a:spcPts val="3051"/>
              </a:lnSpc>
            </a:pPr>
            <a:r>
              <a:rPr lang="en-US" sz="2700" b="1" spc="-81">
                <a:solidFill>
                  <a:srgbClr val="000000"/>
                </a:solidFill>
                <a:latin typeface="Poppins Semi-Bold"/>
                <a:ea typeface="Poppins Semi-Bold"/>
                <a:cs typeface="Poppins Semi-Bold"/>
                <a:sym typeface="Poppins Semi-Bold"/>
              </a:rPr>
              <a:t>Las 14 características generales son:</a:t>
            </a:r>
          </a:p>
        </p:txBody>
      </p:sp>
      <p:sp>
        <p:nvSpPr>
          <p:cNvPr id="13" name="TextBox 13"/>
          <p:cNvSpPr txBox="1"/>
          <p:nvPr/>
        </p:nvSpPr>
        <p:spPr>
          <a:xfrm>
            <a:off x="180510" y="220442"/>
            <a:ext cx="7594232" cy="384617"/>
          </a:xfrm>
          <a:prstGeom prst="rect">
            <a:avLst/>
          </a:prstGeom>
        </p:spPr>
        <p:txBody>
          <a:bodyPr lIns="0" tIns="0" rIns="0" bIns="0" rtlCol="0" anchor="t">
            <a:spAutoFit/>
          </a:bodyPr>
          <a:lstStyle/>
          <a:p>
            <a:pPr marL="0" lvl="0" indent="0" algn="l">
              <a:lnSpc>
                <a:spcPts val="2788"/>
              </a:lnSpc>
            </a:pPr>
            <a:r>
              <a:rPr lang="en-US" sz="2534">
                <a:solidFill>
                  <a:srgbClr val="000000"/>
                </a:solidFill>
                <a:latin typeface="Poppins"/>
                <a:ea typeface="Poppins"/>
                <a:cs typeface="Poppins"/>
                <a:sym typeface="Poppins"/>
              </a:rPr>
              <a:t>Estimación del tamaño del software</a:t>
            </a:r>
          </a:p>
        </p:txBody>
      </p:sp>
      <p:sp>
        <p:nvSpPr>
          <p:cNvPr id="14" name="TextBox 14"/>
          <p:cNvSpPr txBox="1"/>
          <p:nvPr/>
        </p:nvSpPr>
        <p:spPr>
          <a:xfrm>
            <a:off x="10919976" y="1413530"/>
            <a:ext cx="7057893" cy="8117967"/>
          </a:xfrm>
          <a:prstGeom prst="rect">
            <a:avLst/>
          </a:prstGeom>
        </p:spPr>
        <p:txBody>
          <a:bodyPr lIns="0" tIns="0" rIns="0" bIns="0" rtlCol="0" anchor="t">
            <a:spAutoFit/>
          </a:bodyPr>
          <a:lstStyle/>
          <a:p>
            <a:pPr marL="582930" lvl="1" indent="-291465" algn="l">
              <a:lnSpc>
                <a:spcPts val="4644"/>
              </a:lnSpc>
              <a:buAutoNum type="arabicPeriod"/>
            </a:pPr>
            <a:r>
              <a:rPr lang="en-US" sz="2700">
                <a:solidFill>
                  <a:srgbClr val="FFFFFF"/>
                </a:solidFill>
                <a:latin typeface="Poppins"/>
                <a:ea typeface="Poppins"/>
                <a:cs typeface="Poppins"/>
                <a:sym typeface="Poppins"/>
              </a:rPr>
              <a:t>Comunicaciones de datos.</a:t>
            </a:r>
          </a:p>
          <a:p>
            <a:pPr marL="582930" lvl="1" indent="-291465" algn="l">
              <a:lnSpc>
                <a:spcPts val="4644"/>
              </a:lnSpc>
              <a:buAutoNum type="arabicPeriod"/>
            </a:pPr>
            <a:r>
              <a:rPr lang="en-US" sz="2700">
                <a:solidFill>
                  <a:srgbClr val="FFFFFF"/>
                </a:solidFill>
                <a:latin typeface="Poppins"/>
                <a:ea typeface="Poppins"/>
                <a:cs typeface="Poppins"/>
                <a:sym typeface="Poppins"/>
              </a:rPr>
              <a:t>Procesamiento distribuido de datos.</a:t>
            </a:r>
          </a:p>
          <a:p>
            <a:pPr marL="582930" lvl="1" indent="-291465" algn="l">
              <a:lnSpc>
                <a:spcPts val="4644"/>
              </a:lnSpc>
              <a:buAutoNum type="arabicPeriod"/>
            </a:pPr>
            <a:r>
              <a:rPr lang="en-US" sz="2700">
                <a:solidFill>
                  <a:srgbClr val="FFFFFF"/>
                </a:solidFill>
                <a:latin typeface="Poppins"/>
                <a:ea typeface="Poppins"/>
                <a:cs typeface="Poppins"/>
                <a:sym typeface="Poppins"/>
              </a:rPr>
              <a:t>Rendimiento.</a:t>
            </a:r>
          </a:p>
          <a:p>
            <a:pPr marL="582930" lvl="1" indent="-291465" algn="l">
              <a:lnSpc>
                <a:spcPts val="4644"/>
              </a:lnSpc>
              <a:buAutoNum type="arabicPeriod"/>
            </a:pPr>
            <a:r>
              <a:rPr lang="en-US" sz="2700">
                <a:solidFill>
                  <a:srgbClr val="FFFFFF"/>
                </a:solidFill>
                <a:latin typeface="Poppins"/>
                <a:ea typeface="Poppins"/>
                <a:cs typeface="Poppins"/>
                <a:sym typeface="Poppins"/>
              </a:rPr>
              <a:t>Configuración de uso intensivo.</a:t>
            </a:r>
          </a:p>
          <a:p>
            <a:pPr marL="582930" lvl="1" indent="-291465" algn="l">
              <a:lnSpc>
                <a:spcPts val="4644"/>
              </a:lnSpc>
              <a:buAutoNum type="arabicPeriod"/>
            </a:pPr>
            <a:r>
              <a:rPr lang="en-US" sz="2700">
                <a:solidFill>
                  <a:srgbClr val="FFFFFF"/>
                </a:solidFill>
                <a:latin typeface="Poppins"/>
                <a:ea typeface="Poppins"/>
                <a:cs typeface="Poppins"/>
                <a:sym typeface="Poppins"/>
              </a:rPr>
              <a:t>Tasa o ratio de transacciones.</a:t>
            </a:r>
          </a:p>
          <a:p>
            <a:pPr marL="582930" lvl="1" indent="-291465" algn="l">
              <a:lnSpc>
                <a:spcPts val="4644"/>
              </a:lnSpc>
              <a:buAutoNum type="arabicPeriod"/>
            </a:pPr>
            <a:r>
              <a:rPr lang="en-US" sz="2700">
                <a:solidFill>
                  <a:srgbClr val="FFFFFF"/>
                </a:solidFill>
                <a:latin typeface="Poppins"/>
                <a:ea typeface="Poppins"/>
                <a:cs typeface="Poppins"/>
                <a:sym typeface="Poppins"/>
              </a:rPr>
              <a:t>Entrada de datos en línea.</a:t>
            </a:r>
          </a:p>
          <a:p>
            <a:pPr marL="582930" lvl="1" indent="-291465" algn="l">
              <a:lnSpc>
                <a:spcPts val="4644"/>
              </a:lnSpc>
              <a:buAutoNum type="arabicPeriod"/>
            </a:pPr>
            <a:r>
              <a:rPr lang="en-US" sz="2700">
                <a:solidFill>
                  <a:srgbClr val="FFFFFF"/>
                </a:solidFill>
                <a:latin typeface="Poppins"/>
                <a:ea typeface="Poppins"/>
                <a:cs typeface="Poppins"/>
                <a:sym typeface="Poppins"/>
              </a:rPr>
              <a:t>Eficiencia del usuario final.</a:t>
            </a:r>
          </a:p>
          <a:p>
            <a:pPr marL="582930" lvl="1" indent="-291465" algn="l">
              <a:lnSpc>
                <a:spcPts val="4644"/>
              </a:lnSpc>
              <a:buAutoNum type="arabicPeriod"/>
            </a:pPr>
            <a:r>
              <a:rPr lang="en-US" sz="2700">
                <a:solidFill>
                  <a:srgbClr val="FFFFFF"/>
                </a:solidFill>
                <a:latin typeface="Poppins"/>
                <a:ea typeface="Poppins"/>
                <a:cs typeface="Poppins"/>
                <a:sym typeface="Poppins"/>
              </a:rPr>
              <a:t>Actualización en línea.</a:t>
            </a:r>
          </a:p>
          <a:p>
            <a:pPr marL="582930" lvl="1" indent="-291465" algn="l">
              <a:lnSpc>
                <a:spcPts val="4644"/>
              </a:lnSpc>
              <a:buAutoNum type="arabicPeriod"/>
            </a:pPr>
            <a:r>
              <a:rPr lang="en-US" sz="2700">
                <a:solidFill>
                  <a:srgbClr val="FFFFFF"/>
                </a:solidFill>
                <a:latin typeface="Poppins"/>
                <a:ea typeface="Poppins"/>
                <a:cs typeface="Poppins"/>
                <a:sym typeface="Poppins"/>
              </a:rPr>
              <a:t>Complejidad de procesamiento.</a:t>
            </a:r>
          </a:p>
          <a:p>
            <a:pPr marL="582930" lvl="1" indent="-291465" algn="l">
              <a:lnSpc>
                <a:spcPts val="4644"/>
              </a:lnSpc>
              <a:buAutoNum type="arabicPeriod"/>
            </a:pPr>
            <a:r>
              <a:rPr lang="en-US" sz="2700">
                <a:solidFill>
                  <a:srgbClr val="FFFFFF"/>
                </a:solidFill>
                <a:latin typeface="Poppins"/>
                <a:ea typeface="Poppins"/>
                <a:cs typeface="Poppins"/>
                <a:sym typeface="Poppins"/>
              </a:rPr>
              <a:t>Reutilización del software</a:t>
            </a:r>
          </a:p>
          <a:p>
            <a:pPr marL="582930" lvl="1" indent="-291465" algn="l">
              <a:lnSpc>
                <a:spcPts val="4644"/>
              </a:lnSpc>
              <a:buAutoNum type="arabicPeriod"/>
            </a:pPr>
            <a:r>
              <a:rPr lang="en-US" sz="2700">
                <a:solidFill>
                  <a:srgbClr val="FFFFFF"/>
                </a:solidFill>
                <a:latin typeface="Poppins"/>
                <a:ea typeface="Poppins"/>
                <a:cs typeface="Poppins"/>
                <a:sym typeface="Poppins"/>
              </a:rPr>
              <a:t>Facilidad de instalación.</a:t>
            </a:r>
          </a:p>
          <a:p>
            <a:pPr marL="582930" lvl="1" indent="-291465" algn="l">
              <a:lnSpc>
                <a:spcPts val="4644"/>
              </a:lnSpc>
              <a:buAutoNum type="arabicPeriod"/>
            </a:pPr>
            <a:r>
              <a:rPr lang="en-US" sz="2700">
                <a:solidFill>
                  <a:srgbClr val="FFFFFF"/>
                </a:solidFill>
                <a:latin typeface="Poppins"/>
                <a:ea typeface="Poppins"/>
                <a:cs typeface="Poppins"/>
                <a:sym typeface="Poppins"/>
              </a:rPr>
              <a:t>Facilidad de operación.</a:t>
            </a:r>
          </a:p>
          <a:p>
            <a:pPr marL="582930" lvl="1" indent="-291465" algn="l">
              <a:lnSpc>
                <a:spcPts val="4644"/>
              </a:lnSpc>
              <a:buAutoNum type="arabicPeriod"/>
            </a:pPr>
            <a:r>
              <a:rPr lang="en-US" sz="2700">
                <a:solidFill>
                  <a:srgbClr val="FFFFFF"/>
                </a:solidFill>
                <a:latin typeface="Poppins"/>
                <a:ea typeface="Poppins"/>
                <a:cs typeface="Poppins"/>
                <a:sym typeface="Poppins"/>
              </a:rPr>
              <a:t>Múltiples sitios.</a:t>
            </a:r>
          </a:p>
          <a:p>
            <a:pPr marL="582930" lvl="1" indent="-291465" algn="l">
              <a:lnSpc>
                <a:spcPts val="4644"/>
              </a:lnSpc>
              <a:buAutoNum type="arabicPeriod"/>
            </a:pPr>
            <a:r>
              <a:rPr lang="en-US" sz="2700">
                <a:solidFill>
                  <a:srgbClr val="FFFFFF"/>
                </a:solidFill>
                <a:latin typeface="Poppins"/>
                <a:ea typeface="Poppins"/>
                <a:cs typeface="Poppins"/>
                <a:sym typeface="Poppins"/>
              </a:rPr>
              <a:t>Facilitación del cambio.</a:t>
            </a:r>
          </a:p>
        </p:txBody>
      </p:sp>
      <p:sp>
        <p:nvSpPr>
          <p:cNvPr id="15" name="TextBox 15"/>
          <p:cNvSpPr txBox="1"/>
          <p:nvPr/>
        </p:nvSpPr>
        <p:spPr>
          <a:xfrm>
            <a:off x="1028700" y="3786837"/>
            <a:ext cx="8386191" cy="539115"/>
          </a:xfrm>
          <a:prstGeom prst="rect">
            <a:avLst/>
          </a:prstGeom>
        </p:spPr>
        <p:txBody>
          <a:bodyPr lIns="0" tIns="0" rIns="0" bIns="0" rtlCol="0" anchor="t">
            <a:spAutoFit/>
          </a:bodyPr>
          <a:lstStyle/>
          <a:p>
            <a:pPr marL="0" lvl="0" indent="0" algn="just">
              <a:lnSpc>
                <a:spcPts val="4320"/>
              </a:lnSpc>
              <a:spcBef>
                <a:spcPct val="0"/>
              </a:spcBef>
            </a:pPr>
            <a:r>
              <a:rPr lang="en-US" sz="2700" b="1">
                <a:solidFill>
                  <a:srgbClr val="000000"/>
                </a:solidFill>
                <a:latin typeface="Poppins Bold"/>
                <a:ea typeface="Poppins Bold"/>
                <a:cs typeface="Poppins Bold"/>
                <a:sym typeface="Poppins Bold"/>
              </a:rPr>
              <a:t>Paso 3:</a:t>
            </a:r>
            <a:r>
              <a:rPr lang="en-US" sz="2700">
                <a:solidFill>
                  <a:srgbClr val="000000"/>
                </a:solidFill>
                <a:latin typeface="Poppins"/>
                <a:ea typeface="Poppins"/>
                <a:cs typeface="Poppins"/>
                <a:sym typeface="Poppins"/>
              </a:rPr>
              <a:t> Encontrar el grado total de influencia:</a:t>
            </a:r>
          </a:p>
        </p:txBody>
      </p:sp>
      <p:sp>
        <p:nvSpPr>
          <p:cNvPr id="16" name="TextBox 16"/>
          <p:cNvSpPr txBox="1"/>
          <p:nvPr/>
        </p:nvSpPr>
        <p:spPr>
          <a:xfrm>
            <a:off x="1028700" y="7118421"/>
            <a:ext cx="8938473" cy="1082040"/>
          </a:xfrm>
          <a:prstGeom prst="rect">
            <a:avLst/>
          </a:prstGeom>
        </p:spPr>
        <p:txBody>
          <a:bodyPr lIns="0" tIns="0" rIns="0" bIns="0" rtlCol="0" anchor="t">
            <a:spAutoFit/>
          </a:bodyPr>
          <a:lstStyle/>
          <a:p>
            <a:pPr marL="0" lvl="0" indent="0" algn="just">
              <a:lnSpc>
                <a:spcPts val="4320"/>
              </a:lnSpc>
              <a:spcBef>
                <a:spcPct val="0"/>
              </a:spcBef>
            </a:pPr>
            <a:r>
              <a:rPr lang="en-US" sz="2700">
                <a:solidFill>
                  <a:srgbClr val="000000"/>
                </a:solidFill>
                <a:latin typeface="Poppins"/>
                <a:ea typeface="Poppins"/>
                <a:cs typeface="Poppins"/>
                <a:sym typeface="Poppins"/>
              </a:rPr>
              <a:t>Cada una de las características se evalúa en una escala de 0 a 5. </a:t>
            </a:r>
          </a:p>
        </p:txBody>
      </p:sp>
    </p:spTree>
  </p:cSld>
  <p:clrMapOvr>
    <a:masterClrMapping/>
  </p:clrMapOvr>
  <p:transition>
    <p:cover dir="d"/>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AutoShape 2"/>
          <p:cNvSpPr/>
          <p:nvPr/>
        </p:nvSpPr>
        <p:spPr>
          <a:xfrm>
            <a:off x="9144000" y="0"/>
            <a:ext cx="9144000" cy="5295117"/>
          </a:xfrm>
          <a:prstGeom prst="rect">
            <a:avLst/>
          </a:prstGeom>
          <a:solidFill>
            <a:srgbClr val="5170FF"/>
          </a:solidFill>
        </p:spPr>
      </p:sp>
      <p:grpSp>
        <p:nvGrpSpPr>
          <p:cNvPr id="3" name="Group 3"/>
          <p:cNvGrpSpPr/>
          <p:nvPr/>
        </p:nvGrpSpPr>
        <p:grpSpPr>
          <a:xfrm>
            <a:off x="-2062688" y="9715955"/>
            <a:ext cx="21014417" cy="1392272"/>
            <a:chOff x="0" y="0"/>
            <a:chExt cx="3300463" cy="218666"/>
          </a:xfrm>
        </p:grpSpPr>
        <p:sp>
          <p:nvSpPr>
            <p:cNvPr id="4" name="Freeform 4"/>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5" name="TextBox 5"/>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6" name="AutoShape 6"/>
          <p:cNvSpPr/>
          <p:nvPr/>
        </p:nvSpPr>
        <p:spPr>
          <a:xfrm>
            <a:off x="9144000" y="5295117"/>
            <a:ext cx="9144000" cy="4991883"/>
          </a:xfrm>
          <a:prstGeom prst="rect">
            <a:avLst/>
          </a:prstGeom>
          <a:solidFill>
            <a:srgbClr val="5170FF"/>
          </a:solidFill>
        </p:spPr>
      </p:sp>
      <p:grpSp>
        <p:nvGrpSpPr>
          <p:cNvPr id="7" name="Group 7"/>
          <p:cNvGrpSpPr/>
          <p:nvPr/>
        </p:nvGrpSpPr>
        <p:grpSpPr>
          <a:xfrm>
            <a:off x="9989582" y="6045601"/>
            <a:ext cx="7057893" cy="955322"/>
            <a:chOff x="0" y="0"/>
            <a:chExt cx="3473063" cy="470097"/>
          </a:xfrm>
        </p:grpSpPr>
        <p:sp>
          <p:nvSpPr>
            <p:cNvPr id="8" name="Freeform 8"/>
            <p:cNvSpPr/>
            <p:nvPr/>
          </p:nvSpPr>
          <p:spPr>
            <a:xfrm>
              <a:off x="0" y="0"/>
              <a:ext cx="3473063" cy="470097"/>
            </a:xfrm>
            <a:custGeom>
              <a:avLst/>
              <a:gdLst/>
              <a:ahLst/>
              <a:cxnLst/>
              <a:rect l="l" t="t" r="r" b="b"/>
              <a:pathLst>
                <a:path w="3473063" h="470097">
                  <a:moveTo>
                    <a:pt x="3269863" y="0"/>
                  </a:moveTo>
                  <a:cubicBezTo>
                    <a:pt x="3382087" y="0"/>
                    <a:pt x="3473063" y="105235"/>
                    <a:pt x="3473063" y="235048"/>
                  </a:cubicBezTo>
                  <a:cubicBezTo>
                    <a:pt x="3473063" y="364862"/>
                    <a:pt x="3382087" y="470097"/>
                    <a:pt x="3269863" y="470097"/>
                  </a:cubicBezTo>
                  <a:lnTo>
                    <a:pt x="203200" y="470097"/>
                  </a:lnTo>
                  <a:cubicBezTo>
                    <a:pt x="90976" y="470097"/>
                    <a:pt x="0" y="364862"/>
                    <a:pt x="0" y="235048"/>
                  </a:cubicBezTo>
                  <a:cubicBezTo>
                    <a:pt x="0" y="105235"/>
                    <a:pt x="90976" y="0"/>
                    <a:pt x="203200" y="0"/>
                  </a:cubicBezTo>
                  <a:close/>
                </a:path>
              </a:pathLst>
            </a:custGeom>
            <a:solidFill>
              <a:srgbClr val="EDECED"/>
            </a:solidFill>
          </p:spPr>
        </p:sp>
        <p:sp>
          <p:nvSpPr>
            <p:cNvPr id="9" name="TextBox 9"/>
            <p:cNvSpPr txBox="1"/>
            <p:nvPr/>
          </p:nvSpPr>
          <p:spPr>
            <a:xfrm>
              <a:off x="0" y="-66675"/>
              <a:ext cx="3473063" cy="536772"/>
            </a:xfrm>
            <a:prstGeom prst="rect">
              <a:avLst/>
            </a:prstGeom>
          </p:spPr>
          <p:txBody>
            <a:bodyPr lIns="59676" tIns="59676" rIns="59676" bIns="59676" rtlCol="0" anchor="ctr"/>
            <a:lstStyle/>
            <a:p>
              <a:pPr algn="ctr">
                <a:lnSpc>
                  <a:spcPts val="3124"/>
                </a:lnSpc>
              </a:pPr>
              <a:endParaRPr/>
            </a:p>
          </p:txBody>
        </p:sp>
      </p:grpSp>
      <p:sp>
        <p:nvSpPr>
          <p:cNvPr id="10" name="TextBox 10"/>
          <p:cNvSpPr txBox="1"/>
          <p:nvPr/>
        </p:nvSpPr>
        <p:spPr>
          <a:xfrm>
            <a:off x="785079" y="3951512"/>
            <a:ext cx="7507203" cy="2190750"/>
          </a:xfrm>
          <a:prstGeom prst="rect">
            <a:avLst/>
          </a:prstGeom>
        </p:spPr>
        <p:txBody>
          <a:bodyPr lIns="0" tIns="0" rIns="0" bIns="0" rtlCol="0" anchor="t">
            <a:spAutoFit/>
          </a:bodyPr>
          <a:lstStyle/>
          <a:p>
            <a:pPr marL="0" lvl="0" indent="0" algn="ctr">
              <a:lnSpc>
                <a:spcPts val="8640"/>
              </a:lnSpc>
              <a:spcBef>
                <a:spcPct val="0"/>
              </a:spcBef>
            </a:pPr>
            <a:r>
              <a:rPr lang="en-US" sz="7200" b="1" spc="-324">
                <a:solidFill>
                  <a:srgbClr val="000000"/>
                </a:solidFill>
                <a:latin typeface="Antonio Bold"/>
                <a:ea typeface="Antonio Bold"/>
                <a:cs typeface="Antonio Bold"/>
                <a:sym typeface="Antonio Bold"/>
              </a:rPr>
              <a:t>ANÁLISIS DE PUNTOS DE FUNCIÓN</a:t>
            </a:r>
          </a:p>
        </p:txBody>
      </p:sp>
      <p:sp>
        <p:nvSpPr>
          <p:cNvPr id="11" name="TextBox 11"/>
          <p:cNvSpPr txBox="1"/>
          <p:nvPr/>
        </p:nvSpPr>
        <p:spPr>
          <a:xfrm>
            <a:off x="180510" y="220442"/>
            <a:ext cx="7594232" cy="384617"/>
          </a:xfrm>
          <a:prstGeom prst="rect">
            <a:avLst/>
          </a:prstGeom>
        </p:spPr>
        <p:txBody>
          <a:bodyPr lIns="0" tIns="0" rIns="0" bIns="0" rtlCol="0" anchor="t">
            <a:spAutoFit/>
          </a:bodyPr>
          <a:lstStyle/>
          <a:p>
            <a:pPr marL="0" lvl="0" indent="0" algn="l">
              <a:lnSpc>
                <a:spcPts val="2788"/>
              </a:lnSpc>
            </a:pPr>
            <a:r>
              <a:rPr lang="en-US" sz="2534">
                <a:solidFill>
                  <a:srgbClr val="000000"/>
                </a:solidFill>
                <a:latin typeface="Poppins"/>
                <a:ea typeface="Poppins"/>
                <a:cs typeface="Poppins"/>
                <a:sym typeface="Poppins"/>
              </a:rPr>
              <a:t>Estimación del tamaño del software</a:t>
            </a:r>
          </a:p>
        </p:txBody>
      </p:sp>
      <p:sp>
        <p:nvSpPr>
          <p:cNvPr id="12" name="TextBox 12"/>
          <p:cNvSpPr txBox="1"/>
          <p:nvPr/>
        </p:nvSpPr>
        <p:spPr>
          <a:xfrm>
            <a:off x="10337749" y="6120735"/>
            <a:ext cx="6361559" cy="795528"/>
          </a:xfrm>
          <a:prstGeom prst="rect">
            <a:avLst/>
          </a:prstGeom>
        </p:spPr>
        <p:txBody>
          <a:bodyPr lIns="0" tIns="0" rIns="0" bIns="0" rtlCol="0" anchor="t">
            <a:spAutoFit/>
          </a:bodyPr>
          <a:lstStyle/>
          <a:p>
            <a:pPr marL="0" lvl="1" indent="0" algn="ctr">
              <a:lnSpc>
                <a:spcPts val="3051"/>
              </a:lnSpc>
            </a:pPr>
            <a:r>
              <a:rPr lang="en-US" sz="2700" b="1" spc="-81">
                <a:solidFill>
                  <a:srgbClr val="000000"/>
                </a:solidFill>
                <a:latin typeface="Poppins Semi-Bold"/>
                <a:ea typeface="Poppins Semi-Bold"/>
                <a:cs typeface="Poppins Semi-Bold"/>
                <a:sym typeface="Poppins Semi-Bold"/>
              </a:rPr>
              <a:t>Paso 5: </a:t>
            </a:r>
            <a:r>
              <a:rPr lang="en-US" sz="2700" spc="-81">
                <a:solidFill>
                  <a:srgbClr val="000000"/>
                </a:solidFill>
                <a:latin typeface="Poppins"/>
                <a:ea typeface="Poppins"/>
                <a:cs typeface="Poppins"/>
                <a:sym typeface="Poppins"/>
              </a:rPr>
              <a:t>Encuentra el recuento de puntos de función</a:t>
            </a:r>
          </a:p>
        </p:txBody>
      </p:sp>
      <p:sp>
        <p:nvSpPr>
          <p:cNvPr id="13" name="TextBox 13"/>
          <p:cNvSpPr txBox="1"/>
          <p:nvPr/>
        </p:nvSpPr>
        <p:spPr>
          <a:xfrm>
            <a:off x="9989582" y="2810997"/>
            <a:ext cx="7057893" cy="960120"/>
          </a:xfrm>
          <a:prstGeom prst="rect">
            <a:avLst/>
          </a:prstGeom>
        </p:spPr>
        <p:txBody>
          <a:bodyPr lIns="0" tIns="0" rIns="0" bIns="0" rtlCol="0" anchor="t">
            <a:spAutoFit/>
          </a:bodyPr>
          <a:lstStyle/>
          <a:p>
            <a:pPr algn="l">
              <a:lnSpc>
                <a:spcPts val="3779"/>
              </a:lnSpc>
            </a:pPr>
            <a:r>
              <a:rPr lang="en-US" sz="2700">
                <a:solidFill>
                  <a:srgbClr val="FFFFFF"/>
                </a:solidFill>
                <a:latin typeface="Poppins"/>
                <a:ea typeface="Poppins"/>
                <a:cs typeface="Poppins"/>
                <a:sym typeface="Poppins"/>
              </a:rPr>
              <a:t>Se utiliza la siguiente fórmula para calcular VAF:</a:t>
            </a:r>
          </a:p>
        </p:txBody>
      </p:sp>
      <p:sp>
        <p:nvSpPr>
          <p:cNvPr id="14" name="TextBox 14"/>
          <p:cNvSpPr txBox="1"/>
          <p:nvPr/>
        </p:nvSpPr>
        <p:spPr>
          <a:xfrm>
            <a:off x="9989582" y="7380512"/>
            <a:ext cx="7057893" cy="960120"/>
          </a:xfrm>
          <a:prstGeom prst="rect">
            <a:avLst/>
          </a:prstGeom>
        </p:spPr>
        <p:txBody>
          <a:bodyPr lIns="0" tIns="0" rIns="0" bIns="0" rtlCol="0" anchor="t">
            <a:spAutoFit/>
          </a:bodyPr>
          <a:lstStyle/>
          <a:p>
            <a:pPr algn="just">
              <a:lnSpc>
                <a:spcPts val="3779"/>
              </a:lnSpc>
            </a:pPr>
            <a:r>
              <a:rPr lang="en-US" sz="2700">
                <a:solidFill>
                  <a:srgbClr val="FFFFFF"/>
                </a:solidFill>
                <a:latin typeface="Poppins"/>
                <a:ea typeface="Poppins"/>
                <a:cs typeface="Poppins"/>
                <a:sym typeface="Poppins"/>
              </a:rPr>
              <a:t>Se utiliza la siguiente fórmula para calcular el FPC:</a:t>
            </a:r>
          </a:p>
        </p:txBody>
      </p:sp>
      <p:grpSp>
        <p:nvGrpSpPr>
          <p:cNvPr id="15" name="Group 15"/>
          <p:cNvGrpSpPr/>
          <p:nvPr/>
        </p:nvGrpSpPr>
        <p:grpSpPr>
          <a:xfrm>
            <a:off x="9989582" y="944040"/>
            <a:ext cx="7057893" cy="955322"/>
            <a:chOff x="0" y="0"/>
            <a:chExt cx="3473063" cy="470097"/>
          </a:xfrm>
        </p:grpSpPr>
        <p:sp>
          <p:nvSpPr>
            <p:cNvPr id="16" name="Freeform 16"/>
            <p:cNvSpPr/>
            <p:nvPr/>
          </p:nvSpPr>
          <p:spPr>
            <a:xfrm>
              <a:off x="0" y="0"/>
              <a:ext cx="3473063" cy="470097"/>
            </a:xfrm>
            <a:custGeom>
              <a:avLst/>
              <a:gdLst/>
              <a:ahLst/>
              <a:cxnLst/>
              <a:rect l="l" t="t" r="r" b="b"/>
              <a:pathLst>
                <a:path w="3473063" h="470097">
                  <a:moveTo>
                    <a:pt x="3269863" y="0"/>
                  </a:moveTo>
                  <a:cubicBezTo>
                    <a:pt x="3382087" y="0"/>
                    <a:pt x="3473063" y="105235"/>
                    <a:pt x="3473063" y="235048"/>
                  </a:cubicBezTo>
                  <a:cubicBezTo>
                    <a:pt x="3473063" y="364862"/>
                    <a:pt x="3382087" y="470097"/>
                    <a:pt x="3269863" y="470097"/>
                  </a:cubicBezTo>
                  <a:lnTo>
                    <a:pt x="203200" y="470097"/>
                  </a:lnTo>
                  <a:cubicBezTo>
                    <a:pt x="90976" y="470097"/>
                    <a:pt x="0" y="364862"/>
                    <a:pt x="0" y="235048"/>
                  </a:cubicBezTo>
                  <a:cubicBezTo>
                    <a:pt x="0" y="105235"/>
                    <a:pt x="90976" y="0"/>
                    <a:pt x="203200" y="0"/>
                  </a:cubicBezTo>
                  <a:close/>
                </a:path>
              </a:pathLst>
            </a:custGeom>
            <a:solidFill>
              <a:srgbClr val="EDECED"/>
            </a:solidFill>
          </p:spPr>
        </p:sp>
        <p:sp>
          <p:nvSpPr>
            <p:cNvPr id="17" name="TextBox 17"/>
            <p:cNvSpPr txBox="1"/>
            <p:nvPr/>
          </p:nvSpPr>
          <p:spPr>
            <a:xfrm>
              <a:off x="0" y="-66675"/>
              <a:ext cx="3473063" cy="536772"/>
            </a:xfrm>
            <a:prstGeom prst="rect">
              <a:avLst/>
            </a:prstGeom>
          </p:spPr>
          <p:txBody>
            <a:bodyPr lIns="59676" tIns="59676" rIns="59676" bIns="59676" rtlCol="0" anchor="ctr"/>
            <a:lstStyle/>
            <a:p>
              <a:pPr algn="ctr">
                <a:lnSpc>
                  <a:spcPts val="3124"/>
                </a:lnSpc>
              </a:pPr>
              <a:endParaRPr/>
            </a:p>
          </p:txBody>
        </p:sp>
      </p:grpSp>
      <p:sp>
        <p:nvSpPr>
          <p:cNvPr id="18" name="TextBox 18"/>
          <p:cNvSpPr txBox="1"/>
          <p:nvPr/>
        </p:nvSpPr>
        <p:spPr>
          <a:xfrm>
            <a:off x="10252743" y="1019175"/>
            <a:ext cx="6531572" cy="795528"/>
          </a:xfrm>
          <a:prstGeom prst="rect">
            <a:avLst/>
          </a:prstGeom>
        </p:spPr>
        <p:txBody>
          <a:bodyPr lIns="0" tIns="0" rIns="0" bIns="0" rtlCol="0" anchor="t">
            <a:spAutoFit/>
          </a:bodyPr>
          <a:lstStyle/>
          <a:p>
            <a:pPr marL="0" lvl="1" indent="0" algn="ctr">
              <a:lnSpc>
                <a:spcPts val="3051"/>
              </a:lnSpc>
            </a:pPr>
            <a:r>
              <a:rPr lang="en-US" sz="2700" b="1" spc="-81">
                <a:solidFill>
                  <a:srgbClr val="000000"/>
                </a:solidFill>
                <a:latin typeface="Poppins Semi-Bold"/>
                <a:ea typeface="Poppins Semi-Bold"/>
                <a:cs typeface="Poppins Semi-Bold"/>
                <a:sym typeface="Poppins Semi-Bold"/>
              </a:rPr>
              <a:t>Paso 4: </a:t>
            </a:r>
            <a:r>
              <a:rPr lang="en-US" sz="2700" spc="-81">
                <a:solidFill>
                  <a:srgbClr val="000000"/>
                </a:solidFill>
                <a:latin typeface="Poppins"/>
                <a:ea typeface="Poppins"/>
                <a:cs typeface="Poppins"/>
                <a:sym typeface="Poppins"/>
              </a:rPr>
              <a:t>Calcular el factor de ajuste de valor (VAF)</a:t>
            </a:r>
          </a:p>
        </p:txBody>
      </p:sp>
      <p:sp>
        <p:nvSpPr>
          <p:cNvPr id="19" name="TextBox 19"/>
          <p:cNvSpPr txBox="1"/>
          <p:nvPr/>
        </p:nvSpPr>
        <p:spPr>
          <a:xfrm>
            <a:off x="11926930" y="8566493"/>
            <a:ext cx="3578141" cy="483870"/>
          </a:xfrm>
          <a:prstGeom prst="rect">
            <a:avLst/>
          </a:prstGeom>
        </p:spPr>
        <p:txBody>
          <a:bodyPr lIns="0" tIns="0" rIns="0" bIns="0" rtlCol="0" anchor="t">
            <a:spAutoFit/>
          </a:bodyPr>
          <a:lstStyle/>
          <a:p>
            <a:pPr algn="just">
              <a:lnSpc>
                <a:spcPts val="3779"/>
              </a:lnSpc>
            </a:pPr>
            <a:r>
              <a:rPr lang="en-US" sz="2700">
                <a:solidFill>
                  <a:srgbClr val="FFFFFF"/>
                </a:solidFill>
                <a:latin typeface="Poppins"/>
                <a:ea typeface="Poppins"/>
                <a:cs typeface="Poppins"/>
                <a:sym typeface="Poppins"/>
              </a:rPr>
              <a:t>FPC = UFP * VAF</a:t>
            </a:r>
          </a:p>
        </p:txBody>
      </p:sp>
      <p:sp>
        <p:nvSpPr>
          <p:cNvPr id="20" name="TextBox 20"/>
          <p:cNvSpPr txBox="1"/>
          <p:nvPr/>
        </p:nvSpPr>
        <p:spPr>
          <a:xfrm>
            <a:off x="11230107" y="4144497"/>
            <a:ext cx="7057893" cy="483870"/>
          </a:xfrm>
          <a:prstGeom prst="rect">
            <a:avLst/>
          </a:prstGeom>
        </p:spPr>
        <p:txBody>
          <a:bodyPr lIns="0" tIns="0" rIns="0" bIns="0" rtlCol="0" anchor="t">
            <a:spAutoFit/>
          </a:bodyPr>
          <a:lstStyle/>
          <a:p>
            <a:pPr algn="l">
              <a:lnSpc>
                <a:spcPts val="3779"/>
              </a:lnSpc>
            </a:pPr>
            <a:r>
              <a:rPr lang="en-US" sz="2700">
                <a:solidFill>
                  <a:srgbClr val="FFFFFF"/>
                </a:solidFill>
                <a:latin typeface="Poppins"/>
                <a:ea typeface="Poppins"/>
                <a:cs typeface="Poppins"/>
                <a:sym typeface="Poppins"/>
              </a:rPr>
              <a:t>VAF = (TDI * 0,01) + 0,65</a:t>
            </a:r>
          </a:p>
        </p:txBody>
      </p:sp>
    </p:spTree>
  </p:cSld>
  <p:clrMapOvr>
    <a:masterClrMapping/>
  </p:clrMapOvr>
  <p:transition>
    <p:cover dir="d"/>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6806879" y="2456054"/>
            <a:ext cx="11083608" cy="5785194"/>
          </a:xfrm>
          <a:custGeom>
            <a:avLst/>
            <a:gdLst/>
            <a:ahLst/>
            <a:cxnLst/>
            <a:rect l="l" t="t" r="r" b="b"/>
            <a:pathLst>
              <a:path w="11083608" h="5785194">
                <a:moveTo>
                  <a:pt x="0" y="0"/>
                </a:moveTo>
                <a:lnTo>
                  <a:pt x="11083608" y="0"/>
                </a:lnTo>
                <a:lnTo>
                  <a:pt x="11083608" y="5785194"/>
                </a:lnTo>
                <a:lnTo>
                  <a:pt x="0" y="5785194"/>
                </a:lnTo>
                <a:lnTo>
                  <a:pt x="0" y="0"/>
                </a:lnTo>
                <a:close/>
              </a:path>
            </a:pathLst>
          </a:custGeom>
          <a:blipFill>
            <a:blip r:embed="rId2"/>
            <a:stretch>
              <a:fillRect/>
            </a:stretch>
          </a:blipFill>
        </p:spPr>
      </p:sp>
      <p:sp>
        <p:nvSpPr>
          <p:cNvPr id="6" name="TextBox 6"/>
          <p:cNvSpPr txBox="1"/>
          <p:nvPr/>
        </p:nvSpPr>
        <p:spPr>
          <a:xfrm>
            <a:off x="1351729" y="3191703"/>
            <a:ext cx="5022519" cy="981726"/>
          </a:xfrm>
          <a:prstGeom prst="rect">
            <a:avLst/>
          </a:prstGeom>
        </p:spPr>
        <p:txBody>
          <a:bodyPr lIns="0" tIns="0" rIns="0" bIns="0" rtlCol="0" anchor="t">
            <a:spAutoFit/>
          </a:bodyPr>
          <a:lstStyle/>
          <a:p>
            <a:pPr marL="0" lvl="0" indent="0" algn="just">
              <a:lnSpc>
                <a:spcPts val="3821"/>
              </a:lnSpc>
              <a:spcBef>
                <a:spcPct val="0"/>
              </a:spcBef>
            </a:pPr>
            <a:r>
              <a:rPr lang="en-US" sz="2729">
                <a:solidFill>
                  <a:srgbClr val="000000"/>
                </a:solidFill>
                <a:latin typeface="Poppins"/>
                <a:ea typeface="Poppins"/>
                <a:cs typeface="Poppins"/>
                <a:sym typeface="Poppins"/>
              </a:rPr>
              <a:t>Software que controla la seguridad de una casa.</a:t>
            </a:r>
          </a:p>
        </p:txBody>
      </p:sp>
      <p:sp>
        <p:nvSpPr>
          <p:cNvPr id="7" name="TextBox 7"/>
          <p:cNvSpPr txBox="1"/>
          <p:nvPr/>
        </p:nvSpPr>
        <p:spPr>
          <a:xfrm>
            <a:off x="1351729" y="1051559"/>
            <a:ext cx="10910300" cy="1024890"/>
          </a:xfrm>
          <a:prstGeom prst="rect">
            <a:avLst/>
          </a:prstGeom>
        </p:spPr>
        <p:txBody>
          <a:bodyPr lIns="0" tIns="0" rIns="0" bIns="0" rtlCol="0" anchor="t">
            <a:spAutoFit/>
          </a:bodyPr>
          <a:lstStyle/>
          <a:p>
            <a:pPr marL="0" lvl="0" indent="0" algn="l">
              <a:lnSpc>
                <a:spcPts val="7920"/>
              </a:lnSpc>
            </a:pPr>
            <a:r>
              <a:rPr lang="en-US" sz="7200" b="1" spc="-324">
                <a:solidFill>
                  <a:srgbClr val="000000"/>
                </a:solidFill>
                <a:latin typeface="Antonio Bold"/>
                <a:ea typeface="Antonio Bold"/>
                <a:cs typeface="Antonio Bold"/>
                <a:sym typeface="Antonio Bold"/>
              </a:rPr>
              <a:t>ANÁLISIS DE PUNTOS DE FUNCIÓN</a:t>
            </a:r>
          </a:p>
        </p:txBody>
      </p:sp>
      <p:sp>
        <p:nvSpPr>
          <p:cNvPr id="8" name="TextBox 8"/>
          <p:cNvSpPr txBox="1"/>
          <p:nvPr/>
        </p:nvSpPr>
        <p:spPr>
          <a:xfrm>
            <a:off x="434969" y="0"/>
            <a:ext cx="7594232" cy="384617"/>
          </a:xfrm>
          <a:prstGeom prst="rect">
            <a:avLst/>
          </a:prstGeom>
        </p:spPr>
        <p:txBody>
          <a:bodyPr lIns="0" tIns="0" rIns="0" bIns="0" rtlCol="0" anchor="t">
            <a:spAutoFit/>
          </a:bodyPr>
          <a:lstStyle/>
          <a:p>
            <a:pPr marL="0" lvl="0" indent="0" algn="l">
              <a:lnSpc>
                <a:spcPts val="2788"/>
              </a:lnSpc>
            </a:pPr>
            <a:r>
              <a:rPr lang="en-US" sz="2534">
                <a:solidFill>
                  <a:srgbClr val="000000"/>
                </a:solidFill>
                <a:latin typeface="Poppins"/>
                <a:ea typeface="Poppins"/>
                <a:cs typeface="Poppins"/>
                <a:sym typeface="Poppins"/>
              </a:rPr>
              <a:t>Estimación del tamaño del software</a:t>
            </a:r>
          </a:p>
        </p:txBody>
      </p:sp>
      <p:sp>
        <p:nvSpPr>
          <p:cNvPr id="9" name="TextBox 9"/>
          <p:cNvSpPr txBox="1"/>
          <p:nvPr/>
        </p:nvSpPr>
        <p:spPr>
          <a:xfrm>
            <a:off x="1351729" y="2517311"/>
            <a:ext cx="7792271" cy="492647"/>
          </a:xfrm>
          <a:prstGeom prst="rect">
            <a:avLst/>
          </a:prstGeom>
        </p:spPr>
        <p:txBody>
          <a:bodyPr lIns="0" tIns="0" rIns="0" bIns="0" rtlCol="0" anchor="t">
            <a:spAutoFit/>
          </a:bodyPr>
          <a:lstStyle/>
          <a:p>
            <a:pPr marL="0" lvl="0" indent="0" algn="just">
              <a:lnSpc>
                <a:spcPts val="3821"/>
              </a:lnSpc>
              <a:spcBef>
                <a:spcPct val="0"/>
              </a:spcBef>
            </a:pPr>
            <a:r>
              <a:rPr lang="en-US" sz="2729" b="1">
                <a:solidFill>
                  <a:srgbClr val="000000"/>
                </a:solidFill>
                <a:latin typeface="Poppins Bold"/>
                <a:ea typeface="Poppins Bold"/>
                <a:cs typeface="Poppins Bold"/>
                <a:sym typeface="Poppins Bold"/>
              </a:rPr>
              <a:t>Ejemplo:</a:t>
            </a:r>
          </a:p>
        </p:txBody>
      </p:sp>
      <p:sp>
        <p:nvSpPr>
          <p:cNvPr id="10" name="TextBox 10"/>
          <p:cNvSpPr txBox="1"/>
          <p:nvPr/>
        </p:nvSpPr>
        <p:spPr>
          <a:xfrm>
            <a:off x="6947678" y="8403927"/>
            <a:ext cx="10802011" cy="1139825"/>
          </a:xfrm>
          <a:prstGeom prst="rect">
            <a:avLst/>
          </a:prstGeom>
        </p:spPr>
        <p:txBody>
          <a:bodyPr lIns="0" tIns="0" rIns="0" bIns="0" rtlCol="0" anchor="t">
            <a:spAutoFit/>
          </a:bodyPr>
          <a:lstStyle/>
          <a:p>
            <a:pPr algn="l">
              <a:lnSpc>
                <a:spcPts val="2200"/>
              </a:lnSpc>
            </a:pPr>
            <a:r>
              <a:rPr lang="en-US" sz="2000" i="1">
                <a:solidFill>
                  <a:srgbClr val="000000"/>
                </a:solidFill>
                <a:latin typeface="Poppins Italics"/>
                <a:ea typeface="Poppins Italics"/>
                <a:cs typeface="Poppins Italics"/>
                <a:sym typeface="Poppins Italics"/>
              </a:rPr>
              <a:t>Figura 3: Ejemplo caso análisis PF. </a:t>
            </a:r>
          </a:p>
          <a:p>
            <a:pPr marL="0" lvl="0" indent="0" algn="l">
              <a:lnSpc>
                <a:spcPts val="2200"/>
              </a:lnSpc>
            </a:pPr>
            <a:r>
              <a:rPr lang="en-US" sz="2000" i="1">
                <a:solidFill>
                  <a:srgbClr val="000000"/>
                </a:solidFill>
                <a:latin typeface="Poppins Italics"/>
                <a:ea typeface="Poppins Italics"/>
                <a:cs typeface="Poppins Italics"/>
                <a:sym typeface="Poppins Italics"/>
              </a:rPr>
              <a:t>Tomado de </a:t>
            </a:r>
            <a:r>
              <a:rPr lang="en-US" sz="2000" i="1">
                <a:solidFill>
                  <a:srgbClr val="000000"/>
                </a:solidFill>
                <a:latin typeface="Poppins Italics"/>
                <a:ea typeface="Poppins Italics"/>
                <a:cs typeface="Poppins Italics"/>
                <a:sym typeface="Poppins Italics"/>
                <a:hlinkClick r:id="rId3" tooltip="https://www.youtube.com/@portalucam"/>
              </a:rPr>
              <a:t>UCAM Universidad Católica de Murcia</a:t>
            </a:r>
            <a:r>
              <a:rPr lang="en-US" sz="2000">
                <a:solidFill>
                  <a:srgbClr val="000000"/>
                </a:solidFill>
                <a:latin typeface="Poppins"/>
                <a:ea typeface="Poppins"/>
                <a:cs typeface="Poppins"/>
                <a:sym typeface="Poppins"/>
              </a:rPr>
              <a:t> (s.f.). Ingeniería del Software II - Tema 2. Métricas del Software - Fernando Pereñiguez [Video]. YouTube. https://www.youtube.com/watch?v=kh7tIcXOB1E </a:t>
            </a:r>
          </a:p>
        </p:txBody>
      </p:sp>
    </p:spTree>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7088476" y="2372098"/>
            <a:ext cx="10539030" cy="5869150"/>
          </a:xfrm>
          <a:custGeom>
            <a:avLst/>
            <a:gdLst/>
            <a:ahLst/>
            <a:cxnLst/>
            <a:rect l="l" t="t" r="r" b="b"/>
            <a:pathLst>
              <a:path w="10539030" h="5869150">
                <a:moveTo>
                  <a:pt x="0" y="0"/>
                </a:moveTo>
                <a:lnTo>
                  <a:pt x="10539030" y="0"/>
                </a:lnTo>
                <a:lnTo>
                  <a:pt x="10539030" y="5869150"/>
                </a:lnTo>
                <a:lnTo>
                  <a:pt x="0" y="5869150"/>
                </a:lnTo>
                <a:lnTo>
                  <a:pt x="0" y="0"/>
                </a:lnTo>
                <a:close/>
              </a:path>
            </a:pathLst>
          </a:custGeom>
          <a:blipFill>
            <a:blip r:embed="rId2"/>
            <a:stretch>
              <a:fillRect/>
            </a:stretch>
          </a:blipFill>
        </p:spPr>
      </p:sp>
      <p:sp>
        <p:nvSpPr>
          <p:cNvPr id="6" name="TextBox 6"/>
          <p:cNvSpPr txBox="1"/>
          <p:nvPr/>
        </p:nvSpPr>
        <p:spPr>
          <a:xfrm>
            <a:off x="1351729" y="3222048"/>
            <a:ext cx="5022519" cy="2429719"/>
          </a:xfrm>
          <a:prstGeom prst="rect">
            <a:avLst/>
          </a:prstGeom>
        </p:spPr>
        <p:txBody>
          <a:bodyPr lIns="0" tIns="0" rIns="0" bIns="0" rtlCol="0" anchor="t">
            <a:spAutoFit/>
          </a:bodyPr>
          <a:lstStyle/>
          <a:p>
            <a:pPr algn="just">
              <a:lnSpc>
                <a:spcPts val="3821"/>
              </a:lnSpc>
            </a:pPr>
            <a:r>
              <a:rPr lang="en-US" sz="2729">
                <a:solidFill>
                  <a:srgbClr val="000000"/>
                </a:solidFill>
                <a:latin typeface="Poppins"/>
                <a:ea typeface="Poppins"/>
                <a:cs typeface="Poppins"/>
                <a:sym typeface="Poppins"/>
              </a:rPr>
              <a:t>Software que controla la seguridad de una casa.</a:t>
            </a:r>
          </a:p>
          <a:p>
            <a:pPr algn="just">
              <a:lnSpc>
                <a:spcPts val="3821"/>
              </a:lnSpc>
            </a:pPr>
            <a:endParaRPr lang="en-US" sz="2729">
              <a:solidFill>
                <a:srgbClr val="000000"/>
              </a:solidFill>
              <a:latin typeface="Poppins"/>
              <a:ea typeface="Poppins"/>
              <a:cs typeface="Poppins"/>
              <a:sym typeface="Poppins"/>
            </a:endParaRPr>
          </a:p>
          <a:p>
            <a:pPr marL="0" lvl="0" indent="0" algn="just">
              <a:lnSpc>
                <a:spcPts val="3821"/>
              </a:lnSpc>
              <a:spcBef>
                <a:spcPct val="0"/>
              </a:spcBef>
            </a:pPr>
            <a:r>
              <a:rPr lang="en-US" sz="2729">
                <a:solidFill>
                  <a:srgbClr val="000000"/>
                </a:solidFill>
                <a:latin typeface="Poppins"/>
                <a:ea typeface="Poppins"/>
                <a:cs typeface="Poppins"/>
                <a:sym typeface="Poppins"/>
              </a:rPr>
              <a:t>Paso 1: Identificar número de funciones de cada tipo.</a:t>
            </a:r>
          </a:p>
        </p:txBody>
      </p:sp>
      <p:sp>
        <p:nvSpPr>
          <p:cNvPr id="7" name="TextBox 7"/>
          <p:cNvSpPr txBox="1"/>
          <p:nvPr/>
        </p:nvSpPr>
        <p:spPr>
          <a:xfrm>
            <a:off x="1351729" y="1051559"/>
            <a:ext cx="11647374" cy="1024890"/>
          </a:xfrm>
          <a:prstGeom prst="rect">
            <a:avLst/>
          </a:prstGeom>
        </p:spPr>
        <p:txBody>
          <a:bodyPr lIns="0" tIns="0" rIns="0" bIns="0" rtlCol="0" anchor="t">
            <a:spAutoFit/>
          </a:bodyPr>
          <a:lstStyle/>
          <a:p>
            <a:pPr marL="0" lvl="0" indent="0" algn="l">
              <a:lnSpc>
                <a:spcPts val="7920"/>
              </a:lnSpc>
            </a:pPr>
            <a:r>
              <a:rPr lang="en-US" sz="7200" b="1" spc="-324">
                <a:solidFill>
                  <a:srgbClr val="000000"/>
                </a:solidFill>
                <a:latin typeface="Antonio Bold"/>
                <a:ea typeface="Antonio Bold"/>
                <a:cs typeface="Antonio Bold"/>
                <a:sym typeface="Antonio Bold"/>
              </a:rPr>
              <a:t>ANÁLISIS DE PUNTOS DE FUNCIÓN</a:t>
            </a:r>
          </a:p>
        </p:txBody>
      </p:sp>
      <p:sp>
        <p:nvSpPr>
          <p:cNvPr id="8" name="TextBox 8"/>
          <p:cNvSpPr txBox="1"/>
          <p:nvPr/>
        </p:nvSpPr>
        <p:spPr>
          <a:xfrm>
            <a:off x="434969" y="0"/>
            <a:ext cx="7594232" cy="384617"/>
          </a:xfrm>
          <a:prstGeom prst="rect">
            <a:avLst/>
          </a:prstGeom>
        </p:spPr>
        <p:txBody>
          <a:bodyPr lIns="0" tIns="0" rIns="0" bIns="0" rtlCol="0" anchor="t">
            <a:spAutoFit/>
          </a:bodyPr>
          <a:lstStyle/>
          <a:p>
            <a:pPr marL="0" lvl="0" indent="0" algn="l">
              <a:lnSpc>
                <a:spcPts val="2788"/>
              </a:lnSpc>
            </a:pPr>
            <a:r>
              <a:rPr lang="en-US" sz="2534">
                <a:solidFill>
                  <a:srgbClr val="000000"/>
                </a:solidFill>
                <a:latin typeface="Poppins"/>
                <a:ea typeface="Poppins"/>
                <a:cs typeface="Poppins"/>
                <a:sym typeface="Poppins"/>
              </a:rPr>
              <a:t>Estimación del tamaño del software</a:t>
            </a:r>
          </a:p>
        </p:txBody>
      </p:sp>
      <p:sp>
        <p:nvSpPr>
          <p:cNvPr id="9" name="TextBox 9"/>
          <p:cNvSpPr txBox="1"/>
          <p:nvPr/>
        </p:nvSpPr>
        <p:spPr>
          <a:xfrm>
            <a:off x="1351729" y="2590799"/>
            <a:ext cx="7792271" cy="492647"/>
          </a:xfrm>
          <a:prstGeom prst="rect">
            <a:avLst/>
          </a:prstGeom>
        </p:spPr>
        <p:txBody>
          <a:bodyPr lIns="0" tIns="0" rIns="0" bIns="0" rtlCol="0" anchor="t">
            <a:spAutoFit/>
          </a:bodyPr>
          <a:lstStyle/>
          <a:p>
            <a:pPr marL="0" lvl="0" indent="0" algn="just">
              <a:lnSpc>
                <a:spcPts val="3821"/>
              </a:lnSpc>
              <a:spcBef>
                <a:spcPct val="0"/>
              </a:spcBef>
            </a:pPr>
            <a:r>
              <a:rPr lang="en-US" sz="2729" b="1">
                <a:solidFill>
                  <a:srgbClr val="000000"/>
                </a:solidFill>
                <a:latin typeface="Poppins Bold"/>
                <a:ea typeface="Poppins Bold"/>
                <a:cs typeface="Poppins Bold"/>
                <a:sym typeface="Poppins Bold"/>
              </a:rPr>
              <a:t>Ejemplo:</a:t>
            </a:r>
          </a:p>
        </p:txBody>
      </p:sp>
      <p:sp>
        <p:nvSpPr>
          <p:cNvPr id="10" name="TextBox 10"/>
          <p:cNvSpPr txBox="1"/>
          <p:nvPr/>
        </p:nvSpPr>
        <p:spPr>
          <a:xfrm>
            <a:off x="7088476" y="8403173"/>
            <a:ext cx="10802011" cy="1139825"/>
          </a:xfrm>
          <a:prstGeom prst="rect">
            <a:avLst/>
          </a:prstGeom>
        </p:spPr>
        <p:txBody>
          <a:bodyPr lIns="0" tIns="0" rIns="0" bIns="0" rtlCol="0" anchor="t">
            <a:spAutoFit/>
          </a:bodyPr>
          <a:lstStyle/>
          <a:p>
            <a:pPr algn="l">
              <a:lnSpc>
                <a:spcPts val="2200"/>
              </a:lnSpc>
            </a:pPr>
            <a:r>
              <a:rPr lang="en-US" sz="2000" i="1">
                <a:solidFill>
                  <a:srgbClr val="000000"/>
                </a:solidFill>
                <a:latin typeface="Poppins Italics"/>
                <a:ea typeface="Poppins Italics"/>
                <a:cs typeface="Poppins Italics"/>
                <a:sym typeface="Poppins Italics"/>
              </a:rPr>
              <a:t>Figura 4: Ejemplo caso análisis PF - Paso 1. </a:t>
            </a:r>
          </a:p>
          <a:p>
            <a:pPr marL="0" lvl="0" indent="0" algn="l">
              <a:lnSpc>
                <a:spcPts val="2200"/>
              </a:lnSpc>
            </a:pPr>
            <a:r>
              <a:rPr lang="en-US" sz="2000" i="1">
                <a:solidFill>
                  <a:srgbClr val="000000"/>
                </a:solidFill>
                <a:latin typeface="Poppins Italics"/>
                <a:ea typeface="Poppins Italics"/>
                <a:cs typeface="Poppins Italics"/>
                <a:sym typeface="Poppins Italics"/>
              </a:rPr>
              <a:t>Tomado de </a:t>
            </a:r>
            <a:r>
              <a:rPr lang="en-US" sz="2000" i="1">
                <a:solidFill>
                  <a:srgbClr val="000000"/>
                </a:solidFill>
                <a:latin typeface="Poppins Italics"/>
                <a:ea typeface="Poppins Italics"/>
                <a:cs typeface="Poppins Italics"/>
                <a:sym typeface="Poppins Italics"/>
                <a:hlinkClick r:id="rId3" tooltip="https://www.youtube.com/@portalucam"/>
              </a:rPr>
              <a:t>UCAM Universidad Católica de Murcia</a:t>
            </a:r>
            <a:r>
              <a:rPr lang="en-US" sz="2000">
                <a:solidFill>
                  <a:srgbClr val="000000"/>
                </a:solidFill>
                <a:latin typeface="Poppins"/>
                <a:ea typeface="Poppins"/>
                <a:cs typeface="Poppins"/>
                <a:sym typeface="Poppins"/>
              </a:rPr>
              <a:t> (s.f.). Ingeniería del Software II - Tema 2. Métricas del Software - Fernando Pereñiguez [Video]. YouTube. https://www.youtube.com/watch?v=kh7tIcXOB1E </a:t>
            </a:r>
          </a:p>
        </p:txBody>
      </p:sp>
    </p:spTree>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351729" y="3775772"/>
            <a:ext cx="12295997" cy="4223498"/>
          </a:xfrm>
          <a:custGeom>
            <a:avLst/>
            <a:gdLst/>
            <a:ahLst/>
            <a:cxnLst/>
            <a:rect l="l" t="t" r="r" b="b"/>
            <a:pathLst>
              <a:path w="12295997" h="4223498">
                <a:moveTo>
                  <a:pt x="0" y="0"/>
                </a:moveTo>
                <a:lnTo>
                  <a:pt x="12295997" y="0"/>
                </a:lnTo>
                <a:lnTo>
                  <a:pt x="12295997" y="4223499"/>
                </a:lnTo>
                <a:lnTo>
                  <a:pt x="0" y="4223499"/>
                </a:lnTo>
                <a:lnTo>
                  <a:pt x="0" y="0"/>
                </a:lnTo>
                <a:close/>
              </a:path>
            </a:pathLst>
          </a:custGeom>
          <a:blipFill>
            <a:blip r:embed="rId2"/>
            <a:stretch>
              <a:fillRect/>
            </a:stretch>
          </a:blipFill>
        </p:spPr>
      </p:sp>
      <p:sp>
        <p:nvSpPr>
          <p:cNvPr id="6" name="TextBox 6"/>
          <p:cNvSpPr txBox="1"/>
          <p:nvPr/>
        </p:nvSpPr>
        <p:spPr>
          <a:xfrm>
            <a:off x="3182329" y="2149457"/>
            <a:ext cx="10265429" cy="1464390"/>
          </a:xfrm>
          <a:prstGeom prst="rect">
            <a:avLst/>
          </a:prstGeom>
        </p:spPr>
        <p:txBody>
          <a:bodyPr lIns="0" tIns="0" rIns="0" bIns="0" rtlCol="0" anchor="t">
            <a:spAutoFit/>
          </a:bodyPr>
          <a:lstStyle/>
          <a:p>
            <a:pPr algn="just">
              <a:lnSpc>
                <a:spcPts val="3821"/>
              </a:lnSpc>
            </a:pPr>
            <a:r>
              <a:rPr lang="en-US" sz="2729">
                <a:solidFill>
                  <a:srgbClr val="000000"/>
                </a:solidFill>
                <a:latin typeface="Poppins"/>
                <a:ea typeface="Poppins"/>
                <a:cs typeface="Poppins"/>
                <a:sym typeface="Poppins"/>
              </a:rPr>
              <a:t>Software que controla la seguridad de una casa.</a:t>
            </a:r>
          </a:p>
          <a:p>
            <a:pPr algn="just">
              <a:lnSpc>
                <a:spcPts val="3821"/>
              </a:lnSpc>
            </a:pPr>
            <a:endParaRPr lang="en-US" sz="2729">
              <a:solidFill>
                <a:srgbClr val="000000"/>
              </a:solidFill>
              <a:latin typeface="Poppins"/>
              <a:ea typeface="Poppins"/>
              <a:cs typeface="Poppins"/>
              <a:sym typeface="Poppins"/>
            </a:endParaRPr>
          </a:p>
          <a:p>
            <a:pPr marL="0" lvl="0" indent="0" algn="just">
              <a:lnSpc>
                <a:spcPts val="3821"/>
              </a:lnSpc>
              <a:spcBef>
                <a:spcPct val="0"/>
              </a:spcBef>
            </a:pPr>
            <a:r>
              <a:rPr lang="en-US" sz="2729">
                <a:solidFill>
                  <a:srgbClr val="000000"/>
                </a:solidFill>
                <a:latin typeface="Poppins"/>
                <a:ea typeface="Poppins"/>
                <a:cs typeface="Poppins"/>
                <a:sym typeface="Poppins"/>
              </a:rPr>
              <a:t>Paso 2: Calcular los puntos de función no ajustados (UFP)</a:t>
            </a:r>
          </a:p>
        </p:txBody>
      </p:sp>
      <p:sp>
        <p:nvSpPr>
          <p:cNvPr id="7" name="TextBox 7"/>
          <p:cNvSpPr txBox="1"/>
          <p:nvPr/>
        </p:nvSpPr>
        <p:spPr>
          <a:xfrm>
            <a:off x="1351729" y="1051559"/>
            <a:ext cx="12096029" cy="1024890"/>
          </a:xfrm>
          <a:prstGeom prst="rect">
            <a:avLst/>
          </a:prstGeom>
        </p:spPr>
        <p:txBody>
          <a:bodyPr lIns="0" tIns="0" rIns="0" bIns="0" rtlCol="0" anchor="t">
            <a:spAutoFit/>
          </a:bodyPr>
          <a:lstStyle/>
          <a:p>
            <a:pPr marL="0" lvl="0" indent="0" algn="l">
              <a:lnSpc>
                <a:spcPts val="7920"/>
              </a:lnSpc>
            </a:pPr>
            <a:r>
              <a:rPr lang="en-US" sz="7200" b="1" spc="-324">
                <a:solidFill>
                  <a:srgbClr val="000000"/>
                </a:solidFill>
                <a:latin typeface="Antonio Bold"/>
                <a:ea typeface="Antonio Bold"/>
                <a:cs typeface="Antonio Bold"/>
                <a:sym typeface="Antonio Bold"/>
              </a:rPr>
              <a:t>ANÁLISIS DE PUNTOS DE FUNCIÓN</a:t>
            </a:r>
          </a:p>
        </p:txBody>
      </p:sp>
      <p:sp>
        <p:nvSpPr>
          <p:cNvPr id="8" name="TextBox 8"/>
          <p:cNvSpPr txBox="1"/>
          <p:nvPr/>
        </p:nvSpPr>
        <p:spPr>
          <a:xfrm>
            <a:off x="434969" y="0"/>
            <a:ext cx="7594232" cy="384617"/>
          </a:xfrm>
          <a:prstGeom prst="rect">
            <a:avLst/>
          </a:prstGeom>
        </p:spPr>
        <p:txBody>
          <a:bodyPr lIns="0" tIns="0" rIns="0" bIns="0" rtlCol="0" anchor="t">
            <a:spAutoFit/>
          </a:bodyPr>
          <a:lstStyle/>
          <a:p>
            <a:pPr marL="0" lvl="0" indent="0" algn="l">
              <a:lnSpc>
                <a:spcPts val="2788"/>
              </a:lnSpc>
            </a:pPr>
            <a:r>
              <a:rPr lang="en-US" sz="2534">
                <a:solidFill>
                  <a:srgbClr val="000000"/>
                </a:solidFill>
                <a:latin typeface="Poppins"/>
                <a:ea typeface="Poppins"/>
                <a:cs typeface="Poppins"/>
                <a:sym typeface="Poppins"/>
              </a:rPr>
              <a:t>Estimación del tamaño del software</a:t>
            </a:r>
          </a:p>
        </p:txBody>
      </p:sp>
      <p:sp>
        <p:nvSpPr>
          <p:cNvPr id="9" name="TextBox 9"/>
          <p:cNvSpPr txBox="1"/>
          <p:nvPr/>
        </p:nvSpPr>
        <p:spPr>
          <a:xfrm>
            <a:off x="1351729" y="2149457"/>
            <a:ext cx="2344327" cy="492647"/>
          </a:xfrm>
          <a:prstGeom prst="rect">
            <a:avLst/>
          </a:prstGeom>
        </p:spPr>
        <p:txBody>
          <a:bodyPr lIns="0" tIns="0" rIns="0" bIns="0" rtlCol="0" anchor="t">
            <a:spAutoFit/>
          </a:bodyPr>
          <a:lstStyle/>
          <a:p>
            <a:pPr marL="0" lvl="0" indent="0" algn="just">
              <a:lnSpc>
                <a:spcPts val="3821"/>
              </a:lnSpc>
              <a:spcBef>
                <a:spcPct val="0"/>
              </a:spcBef>
            </a:pPr>
            <a:r>
              <a:rPr lang="en-US" sz="2729" b="1">
                <a:solidFill>
                  <a:srgbClr val="000000"/>
                </a:solidFill>
                <a:latin typeface="Poppins Bold"/>
                <a:ea typeface="Poppins Bold"/>
                <a:cs typeface="Poppins Bold"/>
                <a:sym typeface="Poppins Bold"/>
              </a:rPr>
              <a:t>Ejemplo:</a:t>
            </a:r>
          </a:p>
        </p:txBody>
      </p:sp>
      <p:sp>
        <p:nvSpPr>
          <p:cNvPr id="10" name="TextBox 10"/>
          <p:cNvSpPr txBox="1"/>
          <p:nvPr/>
        </p:nvSpPr>
        <p:spPr>
          <a:xfrm>
            <a:off x="1351729" y="8152348"/>
            <a:ext cx="12096029" cy="1139825"/>
          </a:xfrm>
          <a:prstGeom prst="rect">
            <a:avLst/>
          </a:prstGeom>
        </p:spPr>
        <p:txBody>
          <a:bodyPr lIns="0" tIns="0" rIns="0" bIns="0" rtlCol="0" anchor="t">
            <a:spAutoFit/>
          </a:bodyPr>
          <a:lstStyle/>
          <a:p>
            <a:pPr algn="l">
              <a:lnSpc>
                <a:spcPts val="2200"/>
              </a:lnSpc>
            </a:pPr>
            <a:r>
              <a:rPr lang="en-US" sz="2000" i="1">
                <a:solidFill>
                  <a:srgbClr val="000000"/>
                </a:solidFill>
                <a:latin typeface="Poppins Italics"/>
                <a:ea typeface="Poppins Italics"/>
                <a:cs typeface="Poppins Italics"/>
                <a:sym typeface="Poppins Italics"/>
              </a:rPr>
              <a:t>Figura 5: Ejemplo caso análisis PF - Paso 2. </a:t>
            </a:r>
          </a:p>
          <a:p>
            <a:pPr marL="0" lvl="0" indent="0" algn="l">
              <a:lnSpc>
                <a:spcPts val="2200"/>
              </a:lnSpc>
            </a:pPr>
            <a:r>
              <a:rPr lang="en-US" sz="2000" i="1">
                <a:solidFill>
                  <a:srgbClr val="000000"/>
                </a:solidFill>
                <a:latin typeface="Poppins Italics"/>
                <a:ea typeface="Poppins Italics"/>
                <a:cs typeface="Poppins Italics"/>
                <a:sym typeface="Poppins Italics"/>
              </a:rPr>
              <a:t>Tomado de </a:t>
            </a:r>
            <a:r>
              <a:rPr lang="en-US" sz="2000" i="1">
                <a:solidFill>
                  <a:srgbClr val="000000"/>
                </a:solidFill>
                <a:latin typeface="Poppins Italics"/>
                <a:ea typeface="Poppins Italics"/>
                <a:cs typeface="Poppins Italics"/>
                <a:sym typeface="Poppins Italics"/>
                <a:hlinkClick r:id="rId3" tooltip="https://www.youtube.com/@portalucam"/>
              </a:rPr>
              <a:t>UCAM Universidad Católica de Murcia</a:t>
            </a:r>
            <a:r>
              <a:rPr lang="en-US" sz="2000">
                <a:solidFill>
                  <a:srgbClr val="000000"/>
                </a:solidFill>
                <a:latin typeface="Poppins"/>
                <a:ea typeface="Poppins"/>
                <a:cs typeface="Poppins"/>
                <a:sym typeface="Poppins"/>
              </a:rPr>
              <a:t> (s.f.). Ingeniería del Software II - Tema 2. Métricas del Software - Fernando Pereñiguez [Video]. YouTube. https://www.youtube.com/watch?v=kh7tIcXOB1E </a:t>
            </a:r>
          </a:p>
        </p:txBody>
      </p:sp>
    </p:spTree>
  </p:cSld>
  <p:clrMapOvr>
    <a:masterClrMapping/>
  </p:clrMapOvr>
  <p:transition>
    <p:cover dir="d"/>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3674277" y="7485915"/>
            <a:ext cx="7536140" cy="609925"/>
          </a:xfrm>
          <a:custGeom>
            <a:avLst/>
            <a:gdLst/>
            <a:ahLst/>
            <a:cxnLst/>
            <a:rect l="l" t="t" r="r" b="b"/>
            <a:pathLst>
              <a:path w="7536140" h="609925">
                <a:moveTo>
                  <a:pt x="0" y="0"/>
                </a:moveTo>
                <a:lnTo>
                  <a:pt x="7536140" y="0"/>
                </a:lnTo>
                <a:lnTo>
                  <a:pt x="7536140" y="609925"/>
                </a:lnTo>
                <a:lnTo>
                  <a:pt x="0" y="609925"/>
                </a:lnTo>
                <a:lnTo>
                  <a:pt x="0" y="0"/>
                </a:lnTo>
                <a:close/>
              </a:path>
            </a:pathLst>
          </a:custGeom>
          <a:blipFill>
            <a:blip r:embed="rId2"/>
            <a:stretch>
              <a:fillRect l="-17902" t="-264076" r="-30434"/>
            </a:stretch>
          </a:blipFill>
        </p:spPr>
      </p:sp>
      <p:sp>
        <p:nvSpPr>
          <p:cNvPr id="6" name="TextBox 6"/>
          <p:cNvSpPr txBox="1"/>
          <p:nvPr/>
        </p:nvSpPr>
        <p:spPr>
          <a:xfrm>
            <a:off x="3438703" y="2319024"/>
            <a:ext cx="9050779" cy="4843041"/>
          </a:xfrm>
          <a:prstGeom prst="rect">
            <a:avLst/>
          </a:prstGeom>
        </p:spPr>
        <p:txBody>
          <a:bodyPr lIns="0" tIns="0" rIns="0" bIns="0" rtlCol="0" anchor="t">
            <a:spAutoFit/>
          </a:bodyPr>
          <a:lstStyle/>
          <a:p>
            <a:pPr algn="just">
              <a:lnSpc>
                <a:spcPts val="3821"/>
              </a:lnSpc>
            </a:pPr>
            <a:r>
              <a:rPr lang="en-US" sz="2729">
                <a:solidFill>
                  <a:srgbClr val="000000"/>
                </a:solidFill>
                <a:latin typeface="Poppins"/>
                <a:ea typeface="Poppins"/>
                <a:cs typeface="Poppins"/>
                <a:sym typeface="Poppins"/>
              </a:rPr>
              <a:t>Software que controla la seguridad de una casa.</a:t>
            </a:r>
          </a:p>
          <a:p>
            <a:pPr algn="just">
              <a:lnSpc>
                <a:spcPts val="3821"/>
              </a:lnSpc>
            </a:pPr>
            <a:endParaRPr lang="en-US" sz="2729">
              <a:solidFill>
                <a:srgbClr val="000000"/>
              </a:solidFill>
              <a:latin typeface="Poppins"/>
              <a:ea typeface="Poppins"/>
              <a:cs typeface="Poppins"/>
              <a:sym typeface="Poppins"/>
            </a:endParaRPr>
          </a:p>
          <a:p>
            <a:pPr algn="just">
              <a:lnSpc>
                <a:spcPts val="3821"/>
              </a:lnSpc>
            </a:pPr>
            <a:r>
              <a:rPr lang="en-US" sz="2729">
                <a:solidFill>
                  <a:srgbClr val="000000"/>
                </a:solidFill>
                <a:latin typeface="Poppins"/>
                <a:ea typeface="Poppins"/>
                <a:cs typeface="Poppins"/>
                <a:sym typeface="Poppins"/>
              </a:rPr>
              <a:t>Paso 3: Encontrar el grado total de influencia (Se asume que dio 46).</a:t>
            </a:r>
          </a:p>
          <a:p>
            <a:pPr algn="just">
              <a:lnSpc>
                <a:spcPts val="3821"/>
              </a:lnSpc>
            </a:pPr>
            <a:endParaRPr lang="en-US" sz="2729">
              <a:solidFill>
                <a:srgbClr val="000000"/>
              </a:solidFill>
              <a:latin typeface="Poppins"/>
              <a:ea typeface="Poppins"/>
              <a:cs typeface="Poppins"/>
              <a:sym typeface="Poppins"/>
            </a:endParaRPr>
          </a:p>
          <a:p>
            <a:pPr algn="just">
              <a:lnSpc>
                <a:spcPts val="3821"/>
              </a:lnSpc>
            </a:pPr>
            <a:r>
              <a:rPr lang="en-US" sz="2729">
                <a:solidFill>
                  <a:srgbClr val="000000"/>
                </a:solidFill>
                <a:latin typeface="Poppins"/>
                <a:ea typeface="Poppins"/>
                <a:cs typeface="Poppins"/>
                <a:sym typeface="Poppins"/>
              </a:rPr>
              <a:t>Paso 4:  Calcular el factor de ajuste de valor (VAF). </a:t>
            </a:r>
          </a:p>
          <a:p>
            <a:pPr algn="just">
              <a:lnSpc>
                <a:spcPts val="3821"/>
              </a:lnSpc>
            </a:pPr>
            <a:r>
              <a:rPr lang="en-US" sz="2729">
                <a:solidFill>
                  <a:srgbClr val="000000"/>
                </a:solidFill>
                <a:latin typeface="Poppins"/>
                <a:ea typeface="Poppins"/>
                <a:cs typeface="Poppins"/>
                <a:sym typeface="Poppins"/>
              </a:rPr>
              <a:t>VAF = (TDI * 0,01) + 0,65</a:t>
            </a:r>
          </a:p>
          <a:p>
            <a:pPr algn="just">
              <a:lnSpc>
                <a:spcPts val="3821"/>
              </a:lnSpc>
            </a:pPr>
            <a:r>
              <a:rPr lang="en-US" sz="2729">
                <a:solidFill>
                  <a:srgbClr val="000000"/>
                </a:solidFill>
                <a:latin typeface="Poppins"/>
                <a:ea typeface="Poppins"/>
                <a:cs typeface="Poppins"/>
                <a:sym typeface="Poppins"/>
              </a:rPr>
              <a:t>VAF = (46 * 0,01) + 0,65</a:t>
            </a:r>
          </a:p>
          <a:p>
            <a:pPr algn="just">
              <a:lnSpc>
                <a:spcPts val="3821"/>
              </a:lnSpc>
            </a:pPr>
            <a:endParaRPr lang="en-US" sz="2729">
              <a:solidFill>
                <a:srgbClr val="000000"/>
              </a:solidFill>
              <a:latin typeface="Poppins"/>
              <a:ea typeface="Poppins"/>
              <a:cs typeface="Poppins"/>
              <a:sym typeface="Poppins"/>
            </a:endParaRPr>
          </a:p>
          <a:p>
            <a:pPr marL="0" lvl="0" indent="0" algn="just">
              <a:lnSpc>
                <a:spcPts val="3821"/>
              </a:lnSpc>
              <a:spcBef>
                <a:spcPct val="0"/>
              </a:spcBef>
            </a:pPr>
            <a:r>
              <a:rPr lang="en-US" sz="2729">
                <a:solidFill>
                  <a:srgbClr val="000000"/>
                </a:solidFill>
                <a:latin typeface="Poppins"/>
                <a:ea typeface="Poppins"/>
                <a:cs typeface="Poppins"/>
                <a:sym typeface="Poppins"/>
              </a:rPr>
              <a:t>Paso 5: Encuentra el recuento de puntos de función.</a:t>
            </a:r>
          </a:p>
        </p:txBody>
      </p:sp>
      <p:sp>
        <p:nvSpPr>
          <p:cNvPr id="7" name="TextBox 7"/>
          <p:cNvSpPr txBox="1"/>
          <p:nvPr/>
        </p:nvSpPr>
        <p:spPr>
          <a:xfrm>
            <a:off x="1351729" y="1051559"/>
            <a:ext cx="12096029" cy="1024890"/>
          </a:xfrm>
          <a:prstGeom prst="rect">
            <a:avLst/>
          </a:prstGeom>
        </p:spPr>
        <p:txBody>
          <a:bodyPr lIns="0" tIns="0" rIns="0" bIns="0" rtlCol="0" anchor="t">
            <a:spAutoFit/>
          </a:bodyPr>
          <a:lstStyle/>
          <a:p>
            <a:pPr marL="0" lvl="0" indent="0" algn="l">
              <a:lnSpc>
                <a:spcPts val="7920"/>
              </a:lnSpc>
            </a:pPr>
            <a:r>
              <a:rPr lang="en-US" sz="7200" b="1" spc="-324">
                <a:solidFill>
                  <a:srgbClr val="000000"/>
                </a:solidFill>
                <a:latin typeface="Antonio Bold"/>
                <a:ea typeface="Antonio Bold"/>
                <a:cs typeface="Antonio Bold"/>
                <a:sym typeface="Antonio Bold"/>
              </a:rPr>
              <a:t>ANÁLISIS DE PUNTOS DE FUNCIÓN</a:t>
            </a:r>
          </a:p>
        </p:txBody>
      </p:sp>
      <p:sp>
        <p:nvSpPr>
          <p:cNvPr id="8" name="TextBox 8"/>
          <p:cNvSpPr txBox="1"/>
          <p:nvPr/>
        </p:nvSpPr>
        <p:spPr>
          <a:xfrm>
            <a:off x="434969" y="0"/>
            <a:ext cx="7594232" cy="384617"/>
          </a:xfrm>
          <a:prstGeom prst="rect">
            <a:avLst/>
          </a:prstGeom>
        </p:spPr>
        <p:txBody>
          <a:bodyPr lIns="0" tIns="0" rIns="0" bIns="0" rtlCol="0" anchor="t">
            <a:spAutoFit/>
          </a:bodyPr>
          <a:lstStyle/>
          <a:p>
            <a:pPr marL="0" lvl="0" indent="0" algn="l">
              <a:lnSpc>
                <a:spcPts val="2788"/>
              </a:lnSpc>
            </a:pPr>
            <a:r>
              <a:rPr lang="en-US" sz="2534">
                <a:solidFill>
                  <a:srgbClr val="000000"/>
                </a:solidFill>
                <a:latin typeface="Poppins"/>
                <a:ea typeface="Poppins"/>
                <a:cs typeface="Poppins"/>
                <a:sym typeface="Poppins"/>
              </a:rPr>
              <a:t>Estimación del tamaño del software</a:t>
            </a:r>
          </a:p>
        </p:txBody>
      </p:sp>
      <p:sp>
        <p:nvSpPr>
          <p:cNvPr id="9" name="TextBox 9"/>
          <p:cNvSpPr txBox="1"/>
          <p:nvPr/>
        </p:nvSpPr>
        <p:spPr>
          <a:xfrm>
            <a:off x="1351729" y="2319024"/>
            <a:ext cx="7792271" cy="492647"/>
          </a:xfrm>
          <a:prstGeom prst="rect">
            <a:avLst/>
          </a:prstGeom>
        </p:spPr>
        <p:txBody>
          <a:bodyPr lIns="0" tIns="0" rIns="0" bIns="0" rtlCol="0" anchor="t">
            <a:spAutoFit/>
          </a:bodyPr>
          <a:lstStyle/>
          <a:p>
            <a:pPr marL="0" lvl="0" indent="0" algn="just">
              <a:lnSpc>
                <a:spcPts val="3821"/>
              </a:lnSpc>
              <a:spcBef>
                <a:spcPct val="0"/>
              </a:spcBef>
            </a:pPr>
            <a:r>
              <a:rPr lang="en-US" sz="2729" b="1">
                <a:solidFill>
                  <a:srgbClr val="000000"/>
                </a:solidFill>
                <a:latin typeface="Poppins Bold"/>
                <a:ea typeface="Poppins Bold"/>
                <a:cs typeface="Poppins Bold"/>
                <a:sym typeface="Poppins Bold"/>
              </a:rPr>
              <a:t>Ejemplo:</a:t>
            </a:r>
          </a:p>
        </p:txBody>
      </p:sp>
    </p:spTree>
  </p:cSld>
  <p:clrMapOvr>
    <a:masterClrMapping/>
  </p:clrMapOvr>
  <p:transition>
    <p:cover dir="d"/>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7557433" y="896211"/>
            <a:ext cx="9701867" cy="4144792"/>
            <a:chOff x="0" y="0"/>
            <a:chExt cx="3034128" cy="1296227"/>
          </a:xfrm>
        </p:grpSpPr>
        <p:sp>
          <p:nvSpPr>
            <p:cNvPr id="3" name="Freeform 3"/>
            <p:cNvSpPr/>
            <p:nvPr/>
          </p:nvSpPr>
          <p:spPr>
            <a:xfrm>
              <a:off x="0" y="0"/>
              <a:ext cx="3034128" cy="1296227"/>
            </a:xfrm>
            <a:custGeom>
              <a:avLst/>
              <a:gdLst/>
              <a:ahLst/>
              <a:cxnLst/>
              <a:rect l="l" t="t" r="r" b="b"/>
              <a:pathLst>
                <a:path w="3034128" h="1296227">
                  <a:moveTo>
                    <a:pt x="40398" y="0"/>
                  </a:moveTo>
                  <a:lnTo>
                    <a:pt x="2993730" y="0"/>
                  </a:lnTo>
                  <a:cubicBezTo>
                    <a:pt x="3004444" y="0"/>
                    <a:pt x="3014719" y="4256"/>
                    <a:pt x="3022295" y="11832"/>
                  </a:cubicBezTo>
                  <a:cubicBezTo>
                    <a:pt x="3029871" y="19408"/>
                    <a:pt x="3034128" y="29684"/>
                    <a:pt x="3034128" y="40398"/>
                  </a:cubicBezTo>
                  <a:lnTo>
                    <a:pt x="3034128" y="1255830"/>
                  </a:lnTo>
                  <a:cubicBezTo>
                    <a:pt x="3034128" y="1278141"/>
                    <a:pt x="3016041" y="1296227"/>
                    <a:pt x="2993730" y="1296227"/>
                  </a:cubicBezTo>
                  <a:lnTo>
                    <a:pt x="40398" y="1296227"/>
                  </a:lnTo>
                  <a:cubicBezTo>
                    <a:pt x="18087" y="1296227"/>
                    <a:pt x="0" y="1278141"/>
                    <a:pt x="0" y="1255830"/>
                  </a:cubicBezTo>
                  <a:lnTo>
                    <a:pt x="0" y="40398"/>
                  </a:lnTo>
                  <a:cubicBezTo>
                    <a:pt x="0" y="18087"/>
                    <a:pt x="18087" y="0"/>
                    <a:pt x="40398" y="0"/>
                  </a:cubicBezTo>
                  <a:close/>
                </a:path>
              </a:pathLst>
            </a:custGeom>
            <a:solidFill>
              <a:srgbClr val="5170FF"/>
            </a:solidFill>
          </p:spPr>
        </p:sp>
        <p:sp>
          <p:nvSpPr>
            <p:cNvPr id="4" name="TextBox 4"/>
            <p:cNvSpPr txBox="1"/>
            <p:nvPr/>
          </p:nvSpPr>
          <p:spPr>
            <a:xfrm>
              <a:off x="0" y="-57150"/>
              <a:ext cx="3034128" cy="1353377"/>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7557433" y="5498202"/>
            <a:ext cx="9701867" cy="3892587"/>
            <a:chOff x="0" y="0"/>
            <a:chExt cx="3034128" cy="1217354"/>
          </a:xfrm>
        </p:grpSpPr>
        <p:sp>
          <p:nvSpPr>
            <p:cNvPr id="6" name="Freeform 6"/>
            <p:cNvSpPr/>
            <p:nvPr/>
          </p:nvSpPr>
          <p:spPr>
            <a:xfrm>
              <a:off x="0" y="0"/>
              <a:ext cx="3034128" cy="1217354"/>
            </a:xfrm>
            <a:custGeom>
              <a:avLst/>
              <a:gdLst/>
              <a:ahLst/>
              <a:cxnLst/>
              <a:rect l="l" t="t" r="r" b="b"/>
              <a:pathLst>
                <a:path w="3034128" h="1217354">
                  <a:moveTo>
                    <a:pt x="40398" y="0"/>
                  </a:moveTo>
                  <a:lnTo>
                    <a:pt x="2993730" y="0"/>
                  </a:lnTo>
                  <a:cubicBezTo>
                    <a:pt x="3004444" y="0"/>
                    <a:pt x="3014719" y="4256"/>
                    <a:pt x="3022295" y="11832"/>
                  </a:cubicBezTo>
                  <a:cubicBezTo>
                    <a:pt x="3029871" y="19408"/>
                    <a:pt x="3034128" y="29684"/>
                    <a:pt x="3034128" y="40398"/>
                  </a:cubicBezTo>
                  <a:lnTo>
                    <a:pt x="3034128" y="1176956"/>
                  </a:lnTo>
                  <a:cubicBezTo>
                    <a:pt x="3034128" y="1199267"/>
                    <a:pt x="3016041" y="1217354"/>
                    <a:pt x="2993730" y="1217354"/>
                  </a:cubicBezTo>
                  <a:lnTo>
                    <a:pt x="40398" y="1217354"/>
                  </a:lnTo>
                  <a:cubicBezTo>
                    <a:pt x="18087" y="1217354"/>
                    <a:pt x="0" y="1199267"/>
                    <a:pt x="0" y="1176956"/>
                  </a:cubicBezTo>
                  <a:lnTo>
                    <a:pt x="0" y="40398"/>
                  </a:lnTo>
                  <a:cubicBezTo>
                    <a:pt x="0" y="18087"/>
                    <a:pt x="18087" y="0"/>
                    <a:pt x="40398" y="0"/>
                  </a:cubicBezTo>
                  <a:close/>
                </a:path>
              </a:pathLst>
            </a:custGeom>
            <a:solidFill>
              <a:srgbClr val="5170FF"/>
            </a:solidFill>
          </p:spPr>
        </p:sp>
        <p:sp>
          <p:nvSpPr>
            <p:cNvPr id="7" name="TextBox 7"/>
            <p:cNvSpPr txBox="1"/>
            <p:nvPr/>
          </p:nvSpPr>
          <p:spPr>
            <a:xfrm>
              <a:off x="0" y="-57150"/>
              <a:ext cx="3034128" cy="1274504"/>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9413826" y="1180329"/>
            <a:ext cx="5506960" cy="385953"/>
          </a:xfrm>
          <a:prstGeom prst="rect">
            <a:avLst/>
          </a:prstGeom>
        </p:spPr>
        <p:txBody>
          <a:bodyPr lIns="0" tIns="0" rIns="0" bIns="0" rtlCol="0" anchor="t">
            <a:spAutoFit/>
          </a:bodyPr>
          <a:lstStyle/>
          <a:p>
            <a:pPr marL="0" lvl="0" indent="0" algn="ctr">
              <a:lnSpc>
                <a:spcPts val="3051"/>
              </a:lnSpc>
            </a:pPr>
            <a:r>
              <a:rPr lang="en-US" sz="2700" b="1">
                <a:solidFill>
                  <a:srgbClr val="000000"/>
                </a:solidFill>
                <a:latin typeface="Antonio Bold"/>
                <a:ea typeface="Antonio Bold"/>
                <a:cs typeface="Antonio Bold"/>
                <a:sym typeface="Antonio Bold"/>
              </a:rPr>
              <a:t>VENTAJAS</a:t>
            </a:r>
          </a:p>
        </p:txBody>
      </p:sp>
      <p:sp>
        <p:nvSpPr>
          <p:cNvPr id="9" name="TextBox 9"/>
          <p:cNvSpPr txBox="1"/>
          <p:nvPr/>
        </p:nvSpPr>
        <p:spPr>
          <a:xfrm>
            <a:off x="8805072" y="6010701"/>
            <a:ext cx="6724468" cy="385953"/>
          </a:xfrm>
          <a:prstGeom prst="rect">
            <a:avLst/>
          </a:prstGeom>
        </p:spPr>
        <p:txBody>
          <a:bodyPr lIns="0" tIns="0" rIns="0" bIns="0" rtlCol="0" anchor="t">
            <a:spAutoFit/>
          </a:bodyPr>
          <a:lstStyle/>
          <a:p>
            <a:pPr marL="0" lvl="0" indent="0" algn="ctr">
              <a:lnSpc>
                <a:spcPts val="3051"/>
              </a:lnSpc>
            </a:pPr>
            <a:r>
              <a:rPr lang="en-US" sz="2700" b="1">
                <a:solidFill>
                  <a:srgbClr val="000000"/>
                </a:solidFill>
                <a:latin typeface="Antonio Bold"/>
                <a:ea typeface="Antonio Bold"/>
                <a:cs typeface="Antonio Bold"/>
                <a:sym typeface="Antonio Bold"/>
              </a:rPr>
              <a:t>DESVENTAJAS</a:t>
            </a:r>
          </a:p>
        </p:txBody>
      </p:sp>
      <p:sp>
        <p:nvSpPr>
          <p:cNvPr id="10" name="TextBox 10"/>
          <p:cNvSpPr txBox="1"/>
          <p:nvPr/>
        </p:nvSpPr>
        <p:spPr>
          <a:xfrm>
            <a:off x="7883437" y="6721377"/>
            <a:ext cx="8567738" cy="2388870"/>
          </a:xfrm>
          <a:prstGeom prst="rect">
            <a:avLst/>
          </a:prstGeom>
        </p:spPr>
        <p:txBody>
          <a:bodyPr lIns="0" tIns="0" rIns="0" bIns="0" rtlCol="0" anchor="t">
            <a:spAutoFit/>
          </a:bodyPr>
          <a:lstStyle/>
          <a:p>
            <a:pPr marL="582930" lvl="1" indent="-291465" algn="just">
              <a:lnSpc>
                <a:spcPts val="3779"/>
              </a:lnSpc>
              <a:buFont typeface="Arial"/>
              <a:buChar char="•"/>
            </a:pPr>
            <a:r>
              <a:rPr lang="en-US" sz="2700">
                <a:solidFill>
                  <a:srgbClr val="FFFFFF"/>
                </a:solidFill>
                <a:latin typeface="Poppins"/>
                <a:ea typeface="Poppins"/>
                <a:cs typeface="Poppins"/>
                <a:sym typeface="Poppins"/>
              </a:rPr>
              <a:t>No es bueno para sistemas en tiempo real ni para sistemas integrados.</a:t>
            </a:r>
          </a:p>
          <a:p>
            <a:pPr marL="582930" lvl="1" indent="-291465" algn="just">
              <a:lnSpc>
                <a:spcPts val="3779"/>
              </a:lnSpc>
              <a:buFont typeface="Arial"/>
              <a:buChar char="•"/>
            </a:pPr>
            <a:r>
              <a:rPr lang="en-US" sz="2700">
                <a:solidFill>
                  <a:srgbClr val="FFFFFF"/>
                </a:solidFill>
                <a:latin typeface="Poppins"/>
                <a:ea typeface="Poppins"/>
                <a:cs typeface="Poppins"/>
                <a:sym typeface="Poppins"/>
              </a:rPr>
              <a:t>Muchos modelos de estimación de costos como COCOMO utilizan LOC y, por lo tanto, FPC debe convertirse a LOC.</a:t>
            </a:r>
          </a:p>
        </p:txBody>
      </p:sp>
      <p:grpSp>
        <p:nvGrpSpPr>
          <p:cNvPr id="11" name="Group 11"/>
          <p:cNvGrpSpPr/>
          <p:nvPr/>
        </p:nvGrpSpPr>
        <p:grpSpPr>
          <a:xfrm>
            <a:off x="-2062688" y="9715955"/>
            <a:ext cx="21014417" cy="1392272"/>
            <a:chOff x="0" y="0"/>
            <a:chExt cx="3300463" cy="218666"/>
          </a:xfrm>
        </p:grpSpPr>
        <p:sp>
          <p:nvSpPr>
            <p:cNvPr id="12" name="Freeform 12"/>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13" name="TextBox 13"/>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434969" y="0"/>
            <a:ext cx="7594232" cy="384617"/>
          </a:xfrm>
          <a:prstGeom prst="rect">
            <a:avLst/>
          </a:prstGeom>
        </p:spPr>
        <p:txBody>
          <a:bodyPr lIns="0" tIns="0" rIns="0" bIns="0" rtlCol="0" anchor="t">
            <a:spAutoFit/>
          </a:bodyPr>
          <a:lstStyle/>
          <a:p>
            <a:pPr marL="0" lvl="0" indent="0" algn="l">
              <a:lnSpc>
                <a:spcPts val="2788"/>
              </a:lnSpc>
            </a:pPr>
            <a:r>
              <a:rPr lang="en-US" sz="2534">
                <a:solidFill>
                  <a:srgbClr val="000000"/>
                </a:solidFill>
                <a:latin typeface="Poppins"/>
                <a:ea typeface="Poppins"/>
                <a:cs typeface="Poppins"/>
                <a:sym typeface="Poppins"/>
              </a:rPr>
              <a:t>Estimación del tamaño del software</a:t>
            </a:r>
          </a:p>
        </p:txBody>
      </p:sp>
      <p:sp>
        <p:nvSpPr>
          <p:cNvPr id="15" name="TextBox 15"/>
          <p:cNvSpPr txBox="1"/>
          <p:nvPr/>
        </p:nvSpPr>
        <p:spPr>
          <a:xfrm>
            <a:off x="7883437" y="1890132"/>
            <a:ext cx="9002707" cy="2865120"/>
          </a:xfrm>
          <a:prstGeom prst="rect">
            <a:avLst/>
          </a:prstGeom>
        </p:spPr>
        <p:txBody>
          <a:bodyPr lIns="0" tIns="0" rIns="0" bIns="0" rtlCol="0" anchor="t">
            <a:spAutoFit/>
          </a:bodyPr>
          <a:lstStyle/>
          <a:p>
            <a:pPr marL="582930" lvl="1" indent="-291465" algn="just">
              <a:lnSpc>
                <a:spcPts val="3779"/>
              </a:lnSpc>
              <a:buFont typeface="Arial"/>
              <a:buChar char="•"/>
            </a:pPr>
            <a:r>
              <a:rPr lang="en-US" sz="2700">
                <a:solidFill>
                  <a:srgbClr val="FFFFFF"/>
                </a:solidFill>
                <a:latin typeface="Poppins"/>
                <a:ea typeface="Poppins"/>
                <a:cs typeface="Poppins"/>
                <a:sym typeface="Poppins"/>
              </a:rPr>
              <a:t>Se puede utilizar fácilmente en las primeras etapas de la planificación del proyecto.</a:t>
            </a:r>
          </a:p>
          <a:p>
            <a:pPr marL="582930" lvl="1" indent="-291465" algn="just">
              <a:lnSpc>
                <a:spcPts val="3779"/>
              </a:lnSpc>
              <a:buFont typeface="Arial"/>
              <a:buChar char="•"/>
            </a:pPr>
            <a:r>
              <a:rPr lang="en-US" sz="2700">
                <a:solidFill>
                  <a:srgbClr val="FFFFFF"/>
                </a:solidFill>
                <a:latin typeface="Poppins"/>
                <a:ea typeface="Poppins"/>
                <a:cs typeface="Poppins"/>
                <a:sym typeface="Poppins"/>
              </a:rPr>
              <a:t>Es independiente del lenguaje de programación.</a:t>
            </a:r>
          </a:p>
          <a:p>
            <a:pPr marL="582930" lvl="1" indent="-291465" algn="just">
              <a:lnSpc>
                <a:spcPts val="3779"/>
              </a:lnSpc>
              <a:buFont typeface="Arial"/>
              <a:buChar char="•"/>
            </a:pPr>
            <a:r>
              <a:rPr lang="en-US" sz="2700">
                <a:solidFill>
                  <a:srgbClr val="FFFFFF"/>
                </a:solidFill>
                <a:latin typeface="Poppins"/>
                <a:ea typeface="Poppins"/>
                <a:cs typeface="Poppins"/>
                <a:sym typeface="Poppins"/>
              </a:rPr>
              <a:t>Se puede utilizar para comparar diferentes proyectos incluso si utilizan diferentes tecnologías (base de datos, lenguaje, etc.).</a:t>
            </a:r>
          </a:p>
        </p:txBody>
      </p:sp>
      <p:sp>
        <p:nvSpPr>
          <p:cNvPr id="16" name="TextBox 16"/>
          <p:cNvSpPr txBox="1"/>
          <p:nvPr/>
        </p:nvSpPr>
        <p:spPr>
          <a:xfrm>
            <a:off x="434969" y="4061832"/>
            <a:ext cx="6815549" cy="2025015"/>
          </a:xfrm>
          <a:prstGeom prst="rect">
            <a:avLst/>
          </a:prstGeom>
        </p:spPr>
        <p:txBody>
          <a:bodyPr lIns="0" tIns="0" rIns="0" bIns="0" rtlCol="0" anchor="t">
            <a:spAutoFit/>
          </a:bodyPr>
          <a:lstStyle/>
          <a:p>
            <a:pPr marL="0" lvl="0" indent="0" algn="ctr">
              <a:lnSpc>
                <a:spcPts val="7920"/>
              </a:lnSpc>
            </a:pPr>
            <a:r>
              <a:rPr lang="en-US" sz="7200" b="1" spc="-324">
                <a:solidFill>
                  <a:srgbClr val="000000"/>
                </a:solidFill>
                <a:latin typeface="Antonio Bold"/>
                <a:ea typeface="Antonio Bold"/>
                <a:cs typeface="Antonio Bold"/>
                <a:sym typeface="Antonio Bold"/>
              </a:rPr>
              <a:t>ANÁLISIS DE PUNTOS </a:t>
            </a:r>
          </a:p>
          <a:p>
            <a:pPr marL="0" lvl="0" indent="0" algn="ctr">
              <a:lnSpc>
                <a:spcPts val="7920"/>
              </a:lnSpc>
            </a:pPr>
            <a:r>
              <a:rPr lang="en-US" sz="7200" b="1" spc="-324">
                <a:solidFill>
                  <a:srgbClr val="000000"/>
                </a:solidFill>
                <a:latin typeface="Antonio Bold"/>
                <a:ea typeface="Antonio Bold"/>
                <a:cs typeface="Antonio Bold"/>
                <a:sym typeface="Antonio Bold"/>
              </a:rPr>
              <a:t>DE FUNCIÓN</a:t>
            </a:r>
          </a:p>
        </p:txBody>
      </p:sp>
    </p:spTree>
  </p:cSld>
  <p:clrMapOvr>
    <a:masterClrMapping/>
  </p:clrMapOvr>
  <p:transition>
    <p:cover dir="d"/>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AutoShape 2"/>
          <p:cNvSpPr/>
          <p:nvPr/>
        </p:nvSpPr>
        <p:spPr>
          <a:xfrm>
            <a:off x="0" y="0"/>
            <a:ext cx="7883485" cy="10287000"/>
          </a:xfrm>
          <a:prstGeom prst="rect">
            <a:avLst/>
          </a:prstGeom>
          <a:solidFill>
            <a:srgbClr val="5170FF"/>
          </a:solidFill>
        </p:spPr>
      </p:sp>
      <p:sp>
        <p:nvSpPr>
          <p:cNvPr id="3" name="TextBox 3"/>
          <p:cNvSpPr txBox="1"/>
          <p:nvPr/>
        </p:nvSpPr>
        <p:spPr>
          <a:xfrm>
            <a:off x="768013" y="2651474"/>
            <a:ext cx="6636713" cy="2025015"/>
          </a:xfrm>
          <a:prstGeom prst="rect">
            <a:avLst/>
          </a:prstGeom>
        </p:spPr>
        <p:txBody>
          <a:bodyPr lIns="0" tIns="0" rIns="0" bIns="0" rtlCol="0" anchor="t">
            <a:spAutoFit/>
          </a:bodyPr>
          <a:lstStyle/>
          <a:p>
            <a:pPr marL="0" lvl="0" indent="0" algn="ctr">
              <a:lnSpc>
                <a:spcPts val="7920"/>
              </a:lnSpc>
            </a:pPr>
            <a:r>
              <a:rPr lang="en-US" sz="7200" b="1" spc="-324">
                <a:solidFill>
                  <a:srgbClr val="EDECED"/>
                </a:solidFill>
                <a:latin typeface="Antonio Bold"/>
                <a:ea typeface="Antonio Bold"/>
                <a:cs typeface="Antonio Bold"/>
                <a:sym typeface="Antonio Bold"/>
              </a:rPr>
              <a:t>PUNTOS DE CASOS DE USOS (UCP).</a:t>
            </a:r>
          </a:p>
        </p:txBody>
      </p:sp>
      <p:sp>
        <p:nvSpPr>
          <p:cNvPr id="4" name="TextBox 4"/>
          <p:cNvSpPr txBox="1"/>
          <p:nvPr/>
        </p:nvSpPr>
        <p:spPr>
          <a:xfrm>
            <a:off x="623386" y="4851033"/>
            <a:ext cx="6636713" cy="3817620"/>
          </a:xfrm>
          <a:prstGeom prst="rect">
            <a:avLst/>
          </a:prstGeom>
        </p:spPr>
        <p:txBody>
          <a:bodyPr lIns="0" tIns="0" rIns="0" bIns="0" rtlCol="0" anchor="t">
            <a:spAutoFit/>
          </a:bodyPr>
          <a:lstStyle/>
          <a:p>
            <a:pPr marL="0" lvl="0" indent="0" algn="just">
              <a:lnSpc>
                <a:spcPts val="3779"/>
              </a:lnSpc>
              <a:spcBef>
                <a:spcPct val="0"/>
              </a:spcBef>
            </a:pPr>
            <a:r>
              <a:rPr lang="en-US" sz="2700">
                <a:solidFill>
                  <a:srgbClr val="EDECED"/>
                </a:solidFill>
                <a:latin typeface="Poppins"/>
                <a:ea typeface="Poppins"/>
                <a:cs typeface="Poppins"/>
                <a:sym typeface="Poppins"/>
              </a:rPr>
              <a:t>El método UCP clasifica los casos de uso en simple, promedio y complejo con factores de peso 5, 10 y 15 respectivamente. La clasificación se hace en base al número de transacciones que contiene el caso de uso, 1 a 3 para simple, 4 a 7 para promedio y 8 ó más para complejos. </a:t>
            </a:r>
          </a:p>
        </p:txBody>
      </p:sp>
      <p:sp>
        <p:nvSpPr>
          <p:cNvPr id="5" name="TextBox 5"/>
          <p:cNvSpPr txBox="1"/>
          <p:nvPr/>
        </p:nvSpPr>
        <p:spPr>
          <a:xfrm>
            <a:off x="9955945" y="1124712"/>
            <a:ext cx="6882882" cy="796417"/>
          </a:xfrm>
          <a:prstGeom prst="rect">
            <a:avLst/>
          </a:prstGeom>
        </p:spPr>
        <p:txBody>
          <a:bodyPr lIns="0" tIns="0" rIns="0" bIns="0" rtlCol="0" anchor="t">
            <a:spAutoFit/>
          </a:bodyPr>
          <a:lstStyle/>
          <a:p>
            <a:pPr marL="0" lvl="0" indent="0" algn="ctr">
              <a:lnSpc>
                <a:spcPts val="3163"/>
              </a:lnSpc>
            </a:pPr>
            <a:r>
              <a:rPr lang="en-US" sz="2799">
                <a:solidFill>
                  <a:srgbClr val="000000"/>
                </a:solidFill>
                <a:latin typeface="Antonio"/>
                <a:ea typeface="Antonio"/>
                <a:cs typeface="Antonio"/>
                <a:sym typeface="Antonio"/>
              </a:rPr>
              <a:t>PROCEDIMIENTO PARA DETERMINAR PUNTOS OBJETO (CASOS DE USO) EN UN PROYECTO DE SOFTWARE:</a:t>
            </a:r>
          </a:p>
        </p:txBody>
      </p:sp>
      <p:sp>
        <p:nvSpPr>
          <p:cNvPr id="6" name="TextBox 6"/>
          <p:cNvSpPr txBox="1"/>
          <p:nvPr/>
        </p:nvSpPr>
        <p:spPr>
          <a:xfrm>
            <a:off x="8175618" y="2692437"/>
            <a:ext cx="9628476" cy="6635115"/>
          </a:xfrm>
          <a:prstGeom prst="rect">
            <a:avLst/>
          </a:prstGeom>
        </p:spPr>
        <p:txBody>
          <a:bodyPr lIns="0" tIns="0" rIns="0" bIns="0" rtlCol="0" anchor="t">
            <a:spAutoFit/>
          </a:bodyPr>
          <a:lstStyle/>
          <a:p>
            <a:pPr marL="582927" lvl="1" indent="-291463" algn="just">
              <a:lnSpc>
                <a:spcPts val="3779"/>
              </a:lnSpc>
              <a:buAutoNum type="arabicPeriod"/>
            </a:pPr>
            <a:r>
              <a:rPr lang="en-US" sz="2699">
                <a:solidFill>
                  <a:srgbClr val="000000"/>
                </a:solidFill>
                <a:latin typeface="Poppins"/>
                <a:ea typeface="Poppins"/>
                <a:cs typeface="Poppins"/>
                <a:sym typeface="Poppins"/>
              </a:rPr>
              <a:t>Determinar Cantidad de Actores y casos de uso.</a:t>
            </a:r>
          </a:p>
          <a:p>
            <a:pPr marL="582927" lvl="1" indent="-291463" algn="just">
              <a:lnSpc>
                <a:spcPts val="3509"/>
              </a:lnSpc>
              <a:buAutoNum type="arabicPeriod"/>
            </a:pPr>
            <a:r>
              <a:rPr lang="en-US" sz="2699">
                <a:solidFill>
                  <a:srgbClr val="000000"/>
                </a:solidFill>
                <a:latin typeface="Poppins"/>
                <a:ea typeface="Poppins"/>
                <a:cs typeface="Poppins"/>
                <a:sym typeface="Poppins"/>
              </a:rPr>
              <a:t>Determinar Factor de Peso de los Actores sin ajustar (UAW). </a:t>
            </a:r>
          </a:p>
          <a:p>
            <a:pPr marL="582927" lvl="1" indent="-291463" algn="l">
              <a:lnSpc>
                <a:spcPts val="3509"/>
              </a:lnSpc>
              <a:buAutoNum type="arabicPeriod"/>
            </a:pPr>
            <a:r>
              <a:rPr lang="en-US" sz="2699">
                <a:solidFill>
                  <a:srgbClr val="000000"/>
                </a:solidFill>
                <a:latin typeface="Poppins"/>
                <a:ea typeface="Poppins"/>
                <a:cs typeface="Poppins"/>
                <a:sym typeface="Poppins"/>
              </a:rPr>
              <a:t>Determinar el Factor de Peso de los Casos de Uso sin ajustar (UUCW).  </a:t>
            </a:r>
          </a:p>
          <a:p>
            <a:pPr marL="582927" lvl="1" indent="-291463" algn="l">
              <a:lnSpc>
                <a:spcPts val="3509"/>
              </a:lnSpc>
              <a:buAutoNum type="arabicPeriod"/>
            </a:pPr>
            <a:r>
              <a:rPr lang="en-US" sz="2699">
                <a:solidFill>
                  <a:srgbClr val="000000"/>
                </a:solidFill>
                <a:latin typeface="Poppins"/>
                <a:ea typeface="Poppins"/>
                <a:cs typeface="Poppins"/>
                <a:sym typeface="Poppins"/>
              </a:rPr>
              <a:t>Aplicar formula para determinar los Puntos de Casos de Uso sin ajustar: UUCP = UAW + UUCW</a:t>
            </a:r>
          </a:p>
          <a:p>
            <a:pPr marL="582927" lvl="1" indent="-291463" algn="l">
              <a:lnSpc>
                <a:spcPts val="3509"/>
              </a:lnSpc>
              <a:buAutoNum type="arabicPeriod"/>
            </a:pPr>
            <a:r>
              <a:rPr lang="en-US" sz="2699">
                <a:solidFill>
                  <a:srgbClr val="000000"/>
                </a:solidFill>
                <a:latin typeface="Poppins"/>
                <a:ea typeface="Poppins"/>
                <a:cs typeface="Poppins"/>
                <a:sym typeface="Poppins"/>
              </a:rPr>
              <a:t>Cálculo de Puntos de Casos de Uso ajustados aplicando la ecuación: UCP = UUCP x TCF x EF, donde: </a:t>
            </a:r>
          </a:p>
          <a:p>
            <a:pPr marL="582927" lvl="1" indent="-291463" algn="l">
              <a:lnSpc>
                <a:spcPts val="3509"/>
              </a:lnSpc>
              <a:buFont typeface="Arial"/>
              <a:buChar char="•"/>
            </a:pPr>
            <a:r>
              <a:rPr lang="en-US" sz="2699">
                <a:solidFill>
                  <a:srgbClr val="000000"/>
                </a:solidFill>
                <a:latin typeface="Poppins"/>
                <a:ea typeface="Poppins"/>
                <a:cs typeface="Poppins"/>
                <a:sym typeface="Poppins"/>
              </a:rPr>
              <a:t> UCP: Puntos de Casos de Uso ajustados</a:t>
            </a:r>
          </a:p>
          <a:p>
            <a:pPr marL="582927" lvl="1" indent="-291463" algn="l">
              <a:lnSpc>
                <a:spcPts val="3509"/>
              </a:lnSpc>
              <a:buFont typeface="Arial"/>
              <a:buChar char="•"/>
            </a:pPr>
            <a:r>
              <a:rPr lang="en-US" sz="2699">
                <a:solidFill>
                  <a:srgbClr val="000000"/>
                </a:solidFill>
                <a:latin typeface="Poppins"/>
                <a:ea typeface="Poppins"/>
                <a:cs typeface="Poppins"/>
                <a:sym typeface="Poppins"/>
              </a:rPr>
              <a:t> UUCP: Puntos de Casos de Uso sin ajustar</a:t>
            </a:r>
          </a:p>
          <a:p>
            <a:pPr marL="582927" lvl="1" indent="-291463" algn="l">
              <a:lnSpc>
                <a:spcPts val="3509"/>
              </a:lnSpc>
              <a:buFont typeface="Arial"/>
              <a:buChar char="•"/>
            </a:pPr>
            <a:r>
              <a:rPr lang="en-US" sz="2699">
                <a:solidFill>
                  <a:srgbClr val="000000"/>
                </a:solidFill>
                <a:latin typeface="Poppins"/>
                <a:ea typeface="Poppins"/>
                <a:cs typeface="Poppins"/>
                <a:sym typeface="Poppins"/>
              </a:rPr>
              <a:t> TCF: Factor de complejidad técnica</a:t>
            </a:r>
          </a:p>
          <a:p>
            <a:pPr marL="582927" lvl="1" indent="-291463" algn="l">
              <a:lnSpc>
                <a:spcPts val="3509"/>
              </a:lnSpc>
              <a:buFont typeface="Arial"/>
              <a:buChar char="•"/>
            </a:pPr>
            <a:r>
              <a:rPr lang="en-US" sz="2699">
                <a:solidFill>
                  <a:srgbClr val="000000"/>
                </a:solidFill>
                <a:latin typeface="Poppins"/>
                <a:ea typeface="Poppins"/>
                <a:cs typeface="Poppins"/>
                <a:sym typeface="Poppins"/>
              </a:rPr>
              <a:t> EF: Factor de ambiente</a:t>
            </a:r>
          </a:p>
          <a:p>
            <a:pPr algn="l">
              <a:lnSpc>
                <a:spcPts val="3509"/>
              </a:lnSpc>
            </a:pPr>
            <a:endParaRPr lang="en-US" sz="2699">
              <a:solidFill>
                <a:srgbClr val="000000"/>
              </a:solidFill>
              <a:latin typeface="Poppins"/>
              <a:ea typeface="Poppins"/>
              <a:cs typeface="Poppins"/>
              <a:sym typeface="Poppins"/>
            </a:endParaRPr>
          </a:p>
        </p:txBody>
      </p:sp>
      <p:grpSp>
        <p:nvGrpSpPr>
          <p:cNvPr id="7" name="Group 7"/>
          <p:cNvGrpSpPr/>
          <p:nvPr/>
        </p:nvGrpSpPr>
        <p:grpSpPr>
          <a:xfrm>
            <a:off x="-2062688" y="9715955"/>
            <a:ext cx="21014417" cy="1392272"/>
            <a:chOff x="0" y="0"/>
            <a:chExt cx="3300463" cy="218666"/>
          </a:xfrm>
        </p:grpSpPr>
        <p:sp>
          <p:nvSpPr>
            <p:cNvPr id="8" name="Freeform 8"/>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9" name="TextBox 9"/>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289253" y="387684"/>
            <a:ext cx="7594232" cy="384617"/>
          </a:xfrm>
          <a:prstGeom prst="rect">
            <a:avLst/>
          </a:prstGeom>
        </p:spPr>
        <p:txBody>
          <a:bodyPr lIns="0" tIns="0" rIns="0" bIns="0" rtlCol="0" anchor="t">
            <a:spAutoFit/>
          </a:bodyPr>
          <a:lstStyle/>
          <a:p>
            <a:pPr marL="0" lvl="0" indent="0" algn="l">
              <a:lnSpc>
                <a:spcPts val="2788"/>
              </a:lnSpc>
            </a:pPr>
            <a:r>
              <a:rPr lang="en-US" sz="2534">
                <a:solidFill>
                  <a:srgbClr val="EDECED"/>
                </a:solidFill>
                <a:latin typeface="Poppins"/>
                <a:ea typeface="Poppins"/>
                <a:cs typeface="Poppins"/>
                <a:sym typeface="Poppins"/>
              </a:rPr>
              <a:t>Estimación del tamaño del software</a:t>
            </a:r>
          </a:p>
        </p:txBody>
      </p:sp>
    </p:spTree>
  </p:cSld>
  <p:clrMapOvr>
    <a:masterClrMapping/>
  </p:clrMapOvr>
  <p:transition>
    <p:cover dir="d"/>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226025" y="3637304"/>
            <a:ext cx="11359891" cy="4186794"/>
          </a:xfrm>
          <a:custGeom>
            <a:avLst/>
            <a:gdLst/>
            <a:ahLst/>
            <a:cxnLst/>
            <a:rect l="l" t="t" r="r" b="b"/>
            <a:pathLst>
              <a:path w="11359891" h="4186794">
                <a:moveTo>
                  <a:pt x="0" y="0"/>
                </a:moveTo>
                <a:lnTo>
                  <a:pt x="11359891" y="0"/>
                </a:lnTo>
                <a:lnTo>
                  <a:pt x="11359891" y="4186794"/>
                </a:lnTo>
                <a:lnTo>
                  <a:pt x="0" y="4186794"/>
                </a:lnTo>
                <a:lnTo>
                  <a:pt x="0" y="0"/>
                </a:lnTo>
                <a:close/>
              </a:path>
            </a:pathLst>
          </a:custGeom>
          <a:blipFill>
            <a:blip r:embed="rId2"/>
            <a:stretch>
              <a:fillRect l="-13135" t="-2031" r="-2364"/>
            </a:stretch>
          </a:blipFill>
        </p:spPr>
      </p:sp>
      <p:sp>
        <p:nvSpPr>
          <p:cNvPr id="6" name="TextBox 6"/>
          <p:cNvSpPr txBox="1"/>
          <p:nvPr/>
        </p:nvSpPr>
        <p:spPr>
          <a:xfrm>
            <a:off x="768013" y="1369605"/>
            <a:ext cx="10674600" cy="1024890"/>
          </a:xfrm>
          <a:prstGeom prst="rect">
            <a:avLst/>
          </a:prstGeom>
        </p:spPr>
        <p:txBody>
          <a:bodyPr lIns="0" tIns="0" rIns="0" bIns="0" rtlCol="0" anchor="t">
            <a:spAutoFit/>
          </a:bodyPr>
          <a:lstStyle/>
          <a:p>
            <a:pPr marL="0" lvl="0" indent="0" algn="ctr">
              <a:lnSpc>
                <a:spcPts val="7920"/>
              </a:lnSpc>
            </a:pPr>
            <a:r>
              <a:rPr lang="en-US" sz="7200" b="1" spc="-324">
                <a:solidFill>
                  <a:srgbClr val="000000"/>
                </a:solidFill>
                <a:latin typeface="Antonio Bold"/>
                <a:ea typeface="Antonio Bold"/>
                <a:cs typeface="Antonio Bold"/>
                <a:sym typeface="Antonio Bold"/>
              </a:rPr>
              <a:t>PUNTOS DE CASOS DE USOS (UCP).</a:t>
            </a:r>
          </a:p>
        </p:txBody>
      </p:sp>
      <p:sp>
        <p:nvSpPr>
          <p:cNvPr id="7" name="TextBox 7"/>
          <p:cNvSpPr txBox="1"/>
          <p:nvPr/>
        </p:nvSpPr>
        <p:spPr>
          <a:xfrm>
            <a:off x="2855363" y="2655480"/>
            <a:ext cx="9115729"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Tenemos 3 actores y 10 casos de uso.</a:t>
            </a:r>
          </a:p>
        </p:txBody>
      </p:sp>
      <p:sp>
        <p:nvSpPr>
          <p:cNvPr id="8" name="TextBox 8"/>
          <p:cNvSpPr txBox="1"/>
          <p:nvPr/>
        </p:nvSpPr>
        <p:spPr>
          <a:xfrm>
            <a:off x="1028700" y="2655480"/>
            <a:ext cx="9115729"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Ejemplo:</a:t>
            </a:r>
          </a:p>
        </p:txBody>
      </p:sp>
    </p:spTree>
  </p:cSld>
  <p:clrMapOvr>
    <a:masterClrMapping/>
  </p:clrMapOvr>
  <p:transition>
    <p:cover dir="d"/>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729660" y="3430815"/>
            <a:ext cx="11682930" cy="4503662"/>
          </a:xfrm>
          <a:custGeom>
            <a:avLst/>
            <a:gdLst/>
            <a:ahLst/>
            <a:cxnLst/>
            <a:rect l="l" t="t" r="r" b="b"/>
            <a:pathLst>
              <a:path w="11682930" h="4503662">
                <a:moveTo>
                  <a:pt x="0" y="0"/>
                </a:moveTo>
                <a:lnTo>
                  <a:pt x="11682930" y="0"/>
                </a:lnTo>
                <a:lnTo>
                  <a:pt x="11682930" y="4503662"/>
                </a:lnTo>
                <a:lnTo>
                  <a:pt x="0" y="4503662"/>
                </a:lnTo>
                <a:lnTo>
                  <a:pt x="0" y="0"/>
                </a:lnTo>
                <a:close/>
              </a:path>
            </a:pathLst>
          </a:custGeom>
          <a:blipFill>
            <a:blip r:embed="rId2"/>
            <a:stretch>
              <a:fillRect/>
            </a:stretch>
          </a:blipFill>
        </p:spPr>
      </p:sp>
      <p:sp>
        <p:nvSpPr>
          <p:cNvPr id="6" name="TextBox 6"/>
          <p:cNvSpPr txBox="1"/>
          <p:nvPr/>
        </p:nvSpPr>
        <p:spPr>
          <a:xfrm>
            <a:off x="768013" y="1369605"/>
            <a:ext cx="10674600" cy="1024890"/>
          </a:xfrm>
          <a:prstGeom prst="rect">
            <a:avLst/>
          </a:prstGeom>
        </p:spPr>
        <p:txBody>
          <a:bodyPr lIns="0" tIns="0" rIns="0" bIns="0" rtlCol="0" anchor="t">
            <a:spAutoFit/>
          </a:bodyPr>
          <a:lstStyle/>
          <a:p>
            <a:pPr marL="0" lvl="0" indent="0" algn="ctr">
              <a:lnSpc>
                <a:spcPts val="7920"/>
              </a:lnSpc>
            </a:pPr>
            <a:r>
              <a:rPr lang="en-US" sz="7200" b="1" spc="-324">
                <a:solidFill>
                  <a:srgbClr val="000000"/>
                </a:solidFill>
                <a:latin typeface="Antonio Bold"/>
                <a:ea typeface="Antonio Bold"/>
                <a:cs typeface="Antonio Bold"/>
                <a:sym typeface="Antonio Bold"/>
              </a:rPr>
              <a:t>PUNTOS DE CASOS DE USOS (UCP).</a:t>
            </a:r>
          </a:p>
        </p:txBody>
      </p:sp>
      <p:sp>
        <p:nvSpPr>
          <p:cNvPr id="7" name="TextBox 7"/>
          <p:cNvSpPr txBox="1"/>
          <p:nvPr/>
        </p:nvSpPr>
        <p:spPr>
          <a:xfrm>
            <a:off x="2759223" y="2655480"/>
            <a:ext cx="11839701"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Paso 2: Determinar Factor de Peso de los Actores sin ajustar (UAW). </a:t>
            </a:r>
          </a:p>
        </p:txBody>
      </p:sp>
      <p:sp>
        <p:nvSpPr>
          <p:cNvPr id="8" name="TextBox 8"/>
          <p:cNvSpPr txBox="1"/>
          <p:nvPr/>
        </p:nvSpPr>
        <p:spPr>
          <a:xfrm>
            <a:off x="1028700" y="2655480"/>
            <a:ext cx="1730523"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Ejemplo:</a:t>
            </a:r>
          </a:p>
        </p:txBody>
      </p:sp>
      <p:sp>
        <p:nvSpPr>
          <p:cNvPr id="9" name="TextBox 9"/>
          <p:cNvSpPr txBox="1"/>
          <p:nvPr/>
        </p:nvSpPr>
        <p:spPr>
          <a:xfrm>
            <a:off x="1729660" y="8191652"/>
            <a:ext cx="14243205"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UAW = (Número de actores de 1 categoría) x (factor de peso de la categoría). </a:t>
            </a:r>
          </a:p>
        </p:txBody>
      </p:sp>
      <p:sp>
        <p:nvSpPr>
          <p:cNvPr id="10" name="TextBox 10"/>
          <p:cNvSpPr txBox="1"/>
          <p:nvPr/>
        </p:nvSpPr>
        <p:spPr>
          <a:xfrm>
            <a:off x="1729660" y="8797290"/>
            <a:ext cx="14243205"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UAW Total = Suma de resultados</a:t>
            </a:r>
          </a:p>
        </p:txBody>
      </p:sp>
    </p:spTree>
  </p:cSld>
  <p:clrMapOvr>
    <a:masterClrMapping/>
  </p:clrMapOvr>
  <p:transition>
    <p:cover dir="d"/>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2226104" y="3430815"/>
            <a:ext cx="13193195" cy="2984960"/>
          </a:xfrm>
          <a:custGeom>
            <a:avLst/>
            <a:gdLst/>
            <a:ahLst/>
            <a:cxnLst/>
            <a:rect l="l" t="t" r="r" b="b"/>
            <a:pathLst>
              <a:path w="13193195" h="2984960">
                <a:moveTo>
                  <a:pt x="0" y="0"/>
                </a:moveTo>
                <a:lnTo>
                  <a:pt x="13193195" y="0"/>
                </a:lnTo>
                <a:lnTo>
                  <a:pt x="13193195" y="2984960"/>
                </a:lnTo>
                <a:lnTo>
                  <a:pt x="0" y="2984960"/>
                </a:lnTo>
                <a:lnTo>
                  <a:pt x="0" y="0"/>
                </a:lnTo>
                <a:close/>
              </a:path>
            </a:pathLst>
          </a:custGeom>
          <a:blipFill>
            <a:blip r:embed="rId2"/>
            <a:stretch>
              <a:fillRect/>
            </a:stretch>
          </a:blipFill>
        </p:spPr>
      </p:sp>
      <p:sp>
        <p:nvSpPr>
          <p:cNvPr id="6" name="TextBox 6"/>
          <p:cNvSpPr txBox="1"/>
          <p:nvPr/>
        </p:nvSpPr>
        <p:spPr>
          <a:xfrm>
            <a:off x="768013" y="1369605"/>
            <a:ext cx="10674600" cy="1024890"/>
          </a:xfrm>
          <a:prstGeom prst="rect">
            <a:avLst/>
          </a:prstGeom>
        </p:spPr>
        <p:txBody>
          <a:bodyPr lIns="0" tIns="0" rIns="0" bIns="0" rtlCol="0" anchor="t">
            <a:spAutoFit/>
          </a:bodyPr>
          <a:lstStyle/>
          <a:p>
            <a:pPr marL="0" lvl="0" indent="0" algn="ctr">
              <a:lnSpc>
                <a:spcPts val="7920"/>
              </a:lnSpc>
            </a:pPr>
            <a:r>
              <a:rPr lang="en-US" sz="7200" b="1" spc="-324">
                <a:solidFill>
                  <a:srgbClr val="000000"/>
                </a:solidFill>
                <a:latin typeface="Antonio Bold"/>
                <a:ea typeface="Antonio Bold"/>
                <a:cs typeface="Antonio Bold"/>
                <a:sym typeface="Antonio Bold"/>
              </a:rPr>
              <a:t>PUNTOS DE CASOS DE USOS (UCP).</a:t>
            </a:r>
          </a:p>
        </p:txBody>
      </p:sp>
      <p:sp>
        <p:nvSpPr>
          <p:cNvPr id="7" name="TextBox 7"/>
          <p:cNvSpPr txBox="1"/>
          <p:nvPr/>
        </p:nvSpPr>
        <p:spPr>
          <a:xfrm>
            <a:off x="2759223" y="2655480"/>
            <a:ext cx="13634317"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Paso 3: Determinar el Factor de Peso de los Casos de Uso sin ajustar (UUCW).</a:t>
            </a:r>
          </a:p>
        </p:txBody>
      </p:sp>
      <p:sp>
        <p:nvSpPr>
          <p:cNvPr id="8" name="TextBox 8"/>
          <p:cNvSpPr txBox="1"/>
          <p:nvPr/>
        </p:nvSpPr>
        <p:spPr>
          <a:xfrm>
            <a:off x="1028700" y="2655480"/>
            <a:ext cx="1730523"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Ejemplo:</a:t>
            </a:r>
          </a:p>
        </p:txBody>
      </p:sp>
      <p:sp>
        <p:nvSpPr>
          <p:cNvPr id="9" name="TextBox 9"/>
          <p:cNvSpPr txBox="1"/>
          <p:nvPr/>
        </p:nvSpPr>
        <p:spPr>
          <a:xfrm>
            <a:off x="1701099" y="6672950"/>
            <a:ext cx="14243205"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UUCW = (Número de CU de 1 categoría) x (factor de peso de la categoría). </a:t>
            </a:r>
          </a:p>
        </p:txBody>
      </p:sp>
      <p:sp>
        <p:nvSpPr>
          <p:cNvPr id="10" name="TextBox 10"/>
          <p:cNvSpPr txBox="1"/>
          <p:nvPr/>
        </p:nvSpPr>
        <p:spPr>
          <a:xfrm>
            <a:off x="1701099" y="7285822"/>
            <a:ext cx="14243205"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UUCW Total = Suma de resultados</a:t>
            </a:r>
          </a:p>
        </p:txBody>
      </p:sp>
      <p:sp>
        <p:nvSpPr>
          <p:cNvPr id="11" name="TextBox 11"/>
          <p:cNvSpPr txBox="1"/>
          <p:nvPr/>
        </p:nvSpPr>
        <p:spPr>
          <a:xfrm>
            <a:off x="1701099" y="7946803"/>
            <a:ext cx="14243205" cy="89916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Paso 4: Aplicar formula para determinar los Puntos de Casos de Uso sin ajustar: UUCP = UAW + UUCW = 9 + 160 = 169</a:t>
            </a:r>
          </a:p>
        </p:txBody>
      </p:sp>
    </p:spTree>
  </p:cSld>
  <p:clrMapOvr>
    <a:masterClrMapping/>
  </p:clrMapOvr>
  <p:transition>
    <p:cover dir="d"/>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6316973" y="2568901"/>
            <a:ext cx="10707198" cy="7147055"/>
          </a:xfrm>
          <a:custGeom>
            <a:avLst/>
            <a:gdLst/>
            <a:ahLst/>
            <a:cxnLst/>
            <a:rect l="l" t="t" r="r" b="b"/>
            <a:pathLst>
              <a:path w="10707198" h="7147055">
                <a:moveTo>
                  <a:pt x="0" y="0"/>
                </a:moveTo>
                <a:lnTo>
                  <a:pt x="10707198" y="0"/>
                </a:lnTo>
                <a:lnTo>
                  <a:pt x="10707198" y="7147054"/>
                </a:lnTo>
                <a:lnTo>
                  <a:pt x="0" y="7147054"/>
                </a:lnTo>
                <a:lnTo>
                  <a:pt x="0" y="0"/>
                </a:lnTo>
                <a:close/>
              </a:path>
            </a:pathLst>
          </a:custGeom>
          <a:blipFill>
            <a:blip r:embed="rId2"/>
            <a:stretch>
              <a:fillRect/>
            </a:stretch>
          </a:blipFill>
        </p:spPr>
      </p:sp>
      <p:sp>
        <p:nvSpPr>
          <p:cNvPr id="6" name="TextBox 6"/>
          <p:cNvSpPr txBox="1"/>
          <p:nvPr/>
        </p:nvSpPr>
        <p:spPr>
          <a:xfrm>
            <a:off x="768013" y="549593"/>
            <a:ext cx="10674600" cy="1024890"/>
          </a:xfrm>
          <a:prstGeom prst="rect">
            <a:avLst/>
          </a:prstGeom>
        </p:spPr>
        <p:txBody>
          <a:bodyPr lIns="0" tIns="0" rIns="0" bIns="0" rtlCol="0" anchor="t">
            <a:spAutoFit/>
          </a:bodyPr>
          <a:lstStyle/>
          <a:p>
            <a:pPr marL="0" lvl="0" indent="0" algn="ctr">
              <a:lnSpc>
                <a:spcPts val="7920"/>
              </a:lnSpc>
            </a:pPr>
            <a:r>
              <a:rPr lang="en-US" sz="7200" b="1" spc="-324">
                <a:solidFill>
                  <a:srgbClr val="000000"/>
                </a:solidFill>
                <a:latin typeface="Antonio Bold"/>
                <a:ea typeface="Antonio Bold"/>
                <a:cs typeface="Antonio Bold"/>
                <a:sym typeface="Antonio Bold"/>
              </a:rPr>
              <a:t>PUNTOS DE CASOS DE USOS (UCP).</a:t>
            </a:r>
          </a:p>
        </p:txBody>
      </p:sp>
      <p:sp>
        <p:nvSpPr>
          <p:cNvPr id="7" name="TextBox 7"/>
          <p:cNvSpPr txBox="1"/>
          <p:nvPr/>
        </p:nvSpPr>
        <p:spPr>
          <a:xfrm>
            <a:off x="2759223" y="1593540"/>
            <a:ext cx="13634317" cy="89916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Paso 5: Cálculo de Puntos de Casos de Uso ajustados aplicando la ecuación: UCP = UUCP x TCF x EF</a:t>
            </a:r>
          </a:p>
        </p:txBody>
      </p:sp>
      <p:sp>
        <p:nvSpPr>
          <p:cNvPr id="8" name="TextBox 8"/>
          <p:cNvSpPr txBox="1"/>
          <p:nvPr/>
        </p:nvSpPr>
        <p:spPr>
          <a:xfrm>
            <a:off x="1028700" y="1812615"/>
            <a:ext cx="1730523"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Ejemplo:</a:t>
            </a:r>
          </a:p>
        </p:txBody>
      </p:sp>
      <p:sp>
        <p:nvSpPr>
          <p:cNvPr id="9" name="TextBox 9"/>
          <p:cNvSpPr txBox="1"/>
          <p:nvPr/>
        </p:nvSpPr>
        <p:spPr>
          <a:xfrm>
            <a:off x="1028700" y="2730826"/>
            <a:ext cx="4782395" cy="89916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Cálculo de TCF: Factor de complejidad técnica</a:t>
            </a:r>
          </a:p>
        </p:txBody>
      </p:sp>
    </p:spTree>
  </p:cSld>
  <p:clrMapOvr>
    <a:masterClrMapping/>
  </p:clrMapOvr>
  <p:transition>
    <p:cover dir="d"/>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245997" y="7246529"/>
            <a:ext cx="6891464" cy="1747304"/>
          </a:xfrm>
          <a:custGeom>
            <a:avLst/>
            <a:gdLst/>
            <a:ahLst/>
            <a:cxnLst/>
            <a:rect l="l" t="t" r="r" b="b"/>
            <a:pathLst>
              <a:path w="6891464" h="1747304">
                <a:moveTo>
                  <a:pt x="0" y="0"/>
                </a:moveTo>
                <a:lnTo>
                  <a:pt x="6891464" y="0"/>
                </a:lnTo>
                <a:lnTo>
                  <a:pt x="6891464" y="1747303"/>
                </a:lnTo>
                <a:lnTo>
                  <a:pt x="0" y="1747303"/>
                </a:lnTo>
                <a:lnTo>
                  <a:pt x="0" y="0"/>
                </a:lnTo>
                <a:close/>
              </a:path>
            </a:pathLst>
          </a:custGeom>
          <a:blipFill>
            <a:blip r:embed="rId2"/>
            <a:stretch>
              <a:fillRect/>
            </a:stretch>
          </a:blipFill>
        </p:spPr>
      </p:sp>
      <p:sp>
        <p:nvSpPr>
          <p:cNvPr id="6" name="Freeform 6"/>
          <p:cNvSpPr/>
          <p:nvPr/>
        </p:nvSpPr>
        <p:spPr>
          <a:xfrm>
            <a:off x="7322048" y="1814520"/>
            <a:ext cx="10351301" cy="6935372"/>
          </a:xfrm>
          <a:custGeom>
            <a:avLst/>
            <a:gdLst/>
            <a:ahLst/>
            <a:cxnLst/>
            <a:rect l="l" t="t" r="r" b="b"/>
            <a:pathLst>
              <a:path w="10351301" h="6935372">
                <a:moveTo>
                  <a:pt x="0" y="0"/>
                </a:moveTo>
                <a:lnTo>
                  <a:pt x="10351300" y="0"/>
                </a:lnTo>
                <a:lnTo>
                  <a:pt x="10351300" y="6935372"/>
                </a:lnTo>
                <a:lnTo>
                  <a:pt x="0" y="6935372"/>
                </a:lnTo>
                <a:lnTo>
                  <a:pt x="0" y="0"/>
                </a:lnTo>
                <a:close/>
              </a:path>
            </a:pathLst>
          </a:custGeom>
          <a:blipFill>
            <a:blip r:embed="rId3"/>
            <a:stretch>
              <a:fillRect/>
            </a:stretch>
          </a:blipFill>
        </p:spPr>
      </p:sp>
      <p:sp>
        <p:nvSpPr>
          <p:cNvPr id="7" name="TextBox 7"/>
          <p:cNvSpPr txBox="1"/>
          <p:nvPr/>
        </p:nvSpPr>
        <p:spPr>
          <a:xfrm>
            <a:off x="768013" y="549593"/>
            <a:ext cx="10674600" cy="1024890"/>
          </a:xfrm>
          <a:prstGeom prst="rect">
            <a:avLst/>
          </a:prstGeom>
        </p:spPr>
        <p:txBody>
          <a:bodyPr lIns="0" tIns="0" rIns="0" bIns="0" rtlCol="0" anchor="t">
            <a:spAutoFit/>
          </a:bodyPr>
          <a:lstStyle/>
          <a:p>
            <a:pPr marL="0" lvl="0" indent="0" algn="ctr">
              <a:lnSpc>
                <a:spcPts val="7920"/>
              </a:lnSpc>
            </a:pPr>
            <a:r>
              <a:rPr lang="en-US" sz="7200" b="1" spc="-324">
                <a:solidFill>
                  <a:srgbClr val="000000"/>
                </a:solidFill>
                <a:latin typeface="Antonio Bold"/>
                <a:ea typeface="Antonio Bold"/>
                <a:cs typeface="Antonio Bold"/>
                <a:sym typeface="Antonio Bold"/>
              </a:rPr>
              <a:t>PUNTOS DE CASOS DE USOS (UCP).</a:t>
            </a:r>
          </a:p>
        </p:txBody>
      </p:sp>
      <p:sp>
        <p:nvSpPr>
          <p:cNvPr id="8" name="TextBox 8"/>
          <p:cNvSpPr txBox="1"/>
          <p:nvPr/>
        </p:nvSpPr>
        <p:spPr>
          <a:xfrm>
            <a:off x="1028700" y="2216476"/>
            <a:ext cx="4782395" cy="89916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Cálculo de TCF: Factor de complejidad técnica</a:t>
            </a:r>
          </a:p>
        </p:txBody>
      </p:sp>
    </p:spTree>
  </p:cSld>
  <p:clrMapOvr>
    <a:masterClrMapping/>
  </p:clrMapOvr>
  <p:transition>
    <p:cover dir="d"/>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7914558" y="1574482"/>
            <a:ext cx="9024274" cy="7433746"/>
          </a:xfrm>
          <a:custGeom>
            <a:avLst/>
            <a:gdLst/>
            <a:ahLst/>
            <a:cxnLst/>
            <a:rect l="l" t="t" r="r" b="b"/>
            <a:pathLst>
              <a:path w="9024274" h="7433746">
                <a:moveTo>
                  <a:pt x="0" y="0"/>
                </a:moveTo>
                <a:lnTo>
                  <a:pt x="9024275" y="0"/>
                </a:lnTo>
                <a:lnTo>
                  <a:pt x="9024275" y="7433747"/>
                </a:lnTo>
                <a:lnTo>
                  <a:pt x="0" y="7433747"/>
                </a:lnTo>
                <a:lnTo>
                  <a:pt x="0" y="0"/>
                </a:lnTo>
                <a:close/>
              </a:path>
            </a:pathLst>
          </a:custGeom>
          <a:blipFill>
            <a:blip r:embed="rId2"/>
            <a:stretch>
              <a:fillRect/>
            </a:stretch>
          </a:blipFill>
        </p:spPr>
      </p:sp>
      <p:sp>
        <p:nvSpPr>
          <p:cNvPr id="6" name="Freeform 6"/>
          <p:cNvSpPr/>
          <p:nvPr/>
        </p:nvSpPr>
        <p:spPr>
          <a:xfrm>
            <a:off x="1037008" y="9055243"/>
            <a:ext cx="10136609" cy="613699"/>
          </a:xfrm>
          <a:custGeom>
            <a:avLst/>
            <a:gdLst/>
            <a:ahLst/>
            <a:cxnLst/>
            <a:rect l="l" t="t" r="r" b="b"/>
            <a:pathLst>
              <a:path w="10136609" h="613699">
                <a:moveTo>
                  <a:pt x="0" y="0"/>
                </a:moveTo>
                <a:lnTo>
                  <a:pt x="10136609" y="0"/>
                </a:lnTo>
                <a:lnTo>
                  <a:pt x="10136609" y="613698"/>
                </a:lnTo>
                <a:lnTo>
                  <a:pt x="0" y="613698"/>
                </a:lnTo>
                <a:lnTo>
                  <a:pt x="0" y="0"/>
                </a:lnTo>
                <a:close/>
              </a:path>
            </a:pathLst>
          </a:custGeom>
          <a:blipFill>
            <a:blip r:embed="rId3"/>
            <a:stretch>
              <a:fillRect/>
            </a:stretch>
          </a:blipFill>
        </p:spPr>
      </p:sp>
      <p:sp>
        <p:nvSpPr>
          <p:cNvPr id="7" name="TextBox 7"/>
          <p:cNvSpPr txBox="1"/>
          <p:nvPr/>
        </p:nvSpPr>
        <p:spPr>
          <a:xfrm>
            <a:off x="768013" y="549593"/>
            <a:ext cx="10674600" cy="1024890"/>
          </a:xfrm>
          <a:prstGeom prst="rect">
            <a:avLst/>
          </a:prstGeom>
        </p:spPr>
        <p:txBody>
          <a:bodyPr lIns="0" tIns="0" rIns="0" bIns="0" rtlCol="0" anchor="t">
            <a:spAutoFit/>
          </a:bodyPr>
          <a:lstStyle/>
          <a:p>
            <a:pPr marL="0" lvl="0" indent="0" algn="ctr">
              <a:lnSpc>
                <a:spcPts val="7920"/>
              </a:lnSpc>
            </a:pPr>
            <a:r>
              <a:rPr lang="en-US" sz="7200" b="1" spc="-324">
                <a:solidFill>
                  <a:srgbClr val="000000"/>
                </a:solidFill>
                <a:latin typeface="Antonio Bold"/>
                <a:ea typeface="Antonio Bold"/>
                <a:cs typeface="Antonio Bold"/>
                <a:sym typeface="Antonio Bold"/>
              </a:rPr>
              <a:t>PUNTOS DE CASOS DE USOS (UCP).</a:t>
            </a:r>
          </a:p>
        </p:txBody>
      </p:sp>
      <p:sp>
        <p:nvSpPr>
          <p:cNvPr id="8" name="TextBox 8"/>
          <p:cNvSpPr txBox="1"/>
          <p:nvPr/>
        </p:nvSpPr>
        <p:spPr>
          <a:xfrm>
            <a:off x="1028700" y="2730826"/>
            <a:ext cx="5807890"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Cálculo de EF: Factor ambiental</a:t>
            </a:r>
          </a:p>
        </p:txBody>
      </p:sp>
    </p:spTree>
  </p:cSld>
  <p:clrMapOvr>
    <a:masterClrMapping/>
  </p:clrMapOvr>
  <p:transition>
    <p:cover dir="d"/>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2062688" y="9715955"/>
            <a:ext cx="21014417" cy="1392272"/>
            <a:chOff x="0" y="0"/>
            <a:chExt cx="3300463" cy="218666"/>
          </a:xfrm>
        </p:grpSpPr>
        <p:sp>
          <p:nvSpPr>
            <p:cNvPr id="3" name="Freeform 3"/>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4" name="TextBox 4"/>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77574" y="3224869"/>
            <a:ext cx="8098808" cy="3470918"/>
          </a:xfrm>
          <a:custGeom>
            <a:avLst/>
            <a:gdLst/>
            <a:ahLst/>
            <a:cxnLst/>
            <a:rect l="l" t="t" r="r" b="b"/>
            <a:pathLst>
              <a:path w="8098808" h="3470918">
                <a:moveTo>
                  <a:pt x="0" y="0"/>
                </a:moveTo>
                <a:lnTo>
                  <a:pt x="8098808" y="0"/>
                </a:lnTo>
                <a:lnTo>
                  <a:pt x="8098808" y="3470918"/>
                </a:lnTo>
                <a:lnTo>
                  <a:pt x="0" y="3470918"/>
                </a:lnTo>
                <a:lnTo>
                  <a:pt x="0" y="0"/>
                </a:lnTo>
                <a:close/>
              </a:path>
            </a:pathLst>
          </a:custGeom>
          <a:blipFill>
            <a:blip r:embed="rId2"/>
            <a:stretch>
              <a:fillRect/>
            </a:stretch>
          </a:blipFill>
        </p:spPr>
      </p:sp>
      <p:sp>
        <p:nvSpPr>
          <p:cNvPr id="6" name="TextBox 6"/>
          <p:cNvSpPr txBox="1"/>
          <p:nvPr/>
        </p:nvSpPr>
        <p:spPr>
          <a:xfrm>
            <a:off x="768013" y="549593"/>
            <a:ext cx="10674600" cy="1024890"/>
          </a:xfrm>
          <a:prstGeom prst="rect">
            <a:avLst/>
          </a:prstGeom>
        </p:spPr>
        <p:txBody>
          <a:bodyPr lIns="0" tIns="0" rIns="0" bIns="0" rtlCol="0" anchor="t">
            <a:spAutoFit/>
          </a:bodyPr>
          <a:lstStyle/>
          <a:p>
            <a:pPr marL="0" lvl="0" indent="0" algn="ctr">
              <a:lnSpc>
                <a:spcPts val="7920"/>
              </a:lnSpc>
            </a:pPr>
            <a:r>
              <a:rPr lang="en-US" sz="7200" b="1" spc="-324">
                <a:solidFill>
                  <a:srgbClr val="000000"/>
                </a:solidFill>
                <a:latin typeface="Antonio Bold"/>
                <a:ea typeface="Antonio Bold"/>
                <a:cs typeface="Antonio Bold"/>
                <a:sym typeface="Antonio Bold"/>
              </a:rPr>
              <a:t>PUNTOS DE CASOS DE USOS (UCP).</a:t>
            </a:r>
          </a:p>
        </p:txBody>
      </p:sp>
      <p:sp>
        <p:nvSpPr>
          <p:cNvPr id="7" name="TextBox 7"/>
          <p:cNvSpPr txBox="1"/>
          <p:nvPr/>
        </p:nvSpPr>
        <p:spPr>
          <a:xfrm>
            <a:off x="2759223" y="1593540"/>
            <a:ext cx="13634317" cy="89916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Paso 5: Cálculo de Puntos de Casos de Uso ajustados aplicando la ecuación: UCP = UUCP x TCF x EF</a:t>
            </a:r>
          </a:p>
        </p:txBody>
      </p:sp>
      <p:sp>
        <p:nvSpPr>
          <p:cNvPr id="8" name="TextBox 8"/>
          <p:cNvSpPr txBox="1"/>
          <p:nvPr/>
        </p:nvSpPr>
        <p:spPr>
          <a:xfrm>
            <a:off x="1028700" y="1812615"/>
            <a:ext cx="1730523" cy="461010"/>
          </a:xfrm>
          <a:prstGeom prst="rect">
            <a:avLst/>
          </a:prstGeom>
        </p:spPr>
        <p:txBody>
          <a:bodyPr lIns="0" tIns="0" rIns="0" bIns="0" rtlCol="0" anchor="t">
            <a:spAutoFit/>
          </a:bodyPr>
          <a:lstStyle/>
          <a:p>
            <a:pPr algn="just">
              <a:lnSpc>
                <a:spcPts val="3509"/>
              </a:lnSpc>
            </a:pPr>
            <a:r>
              <a:rPr lang="en-US" sz="2699">
                <a:solidFill>
                  <a:srgbClr val="000000"/>
                </a:solidFill>
                <a:latin typeface="Poppins"/>
                <a:ea typeface="Poppins"/>
                <a:cs typeface="Poppins"/>
                <a:sym typeface="Poppins"/>
              </a:rPr>
              <a:t>Ejemplo:</a:t>
            </a:r>
          </a:p>
        </p:txBody>
      </p:sp>
    </p:spTree>
  </p:cSld>
  <p:clrMapOvr>
    <a:masterClrMapping/>
  </p:clrMapOvr>
  <p:transition>
    <p:cover dir="d"/>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grpSp>
        <p:nvGrpSpPr>
          <p:cNvPr id="2" name="Group 2"/>
          <p:cNvGrpSpPr/>
          <p:nvPr/>
        </p:nvGrpSpPr>
        <p:grpSpPr>
          <a:xfrm>
            <a:off x="1733565" y="1985167"/>
            <a:ext cx="5416934" cy="541693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38125" cap="sq">
              <a:solidFill>
                <a:srgbClr val="000000"/>
              </a:solidFill>
              <a:prstDash val="solid"/>
              <a:miter/>
            </a:ln>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577900" y="896384"/>
            <a:ext cx="3728264" cy="3728264"/>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70FF"/>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2599052" y="2003595"/>
            <a:ext cx="3707111" cy="1485265"/>
          </a:xfrm>
          <a:prstGeom prst="rect">
            <a:avLst/>
          </a:prstGeom>
        </p:spPr>
        <p:txBody>
          <a:bodyPr lIns="0" tIns="0" rIns="0" bIns="0" rtlCol="0" anchor="t">
            <a:spAutoFit/>
          </a:bodyPr>
          <a:lstStyle/>
          <a:p>
            <a:pPr marL="0" lvl="0" indent="0" algn="ctr">
              <a:lnSpc>
                <a:spcPts val="2990"/>
              </a:lnSpc>
            </a:pPr>
            <a:r>
              <a:rPr lang="en-US" sz="2300">
                <a:solidFill>
                  <a:srgbClr val="EDECED"/>
                </a:solidFill>
                <a:latin typeface="Poppins"/>
                <a:ea typeface="Poppins"/>
                <a:cs typeface="Poppins"/>
                <a:sym typeface="Poppins"/>
              </a:rPr>
              <a:t>Permite al equipo del proyecto realizar una planificación más detallada.</a:t>
            </a:r>
          </a:p>
        </p:txBody>
      </p:sp>
      <p:sp>
        <p:nvSpPr>
          <p:cNvPr id="9" name="TextBox 9"/>
          <p:cNvSpPr txBox="1"/>
          <p:nvPr/>
        </p:nvSpPr>
        <p:spPr>
          <a:xfrm>
            <a:off x="9858332" y="722535"/>
            <a:ext cx="7279020" cy="1024890"/>
          </a:xfrm>
          <a:prstGeom prst="rect">
            <a:avLst/>
          </a:prstGeom>
        </p:spPr>
        <p:txBody>
          <a:bodyPr lIns="0" tIns="0" rIns="0" bIns="0" rtlCol="0" anchor="t">
            <a:spAutoFit/>
          </a:bodyPr>
          <a:lstStyle/>
          <a:p>
            <a:pPr marL="0" lvl="0" indent="0" algn="l">
              <a:lnSpc>
                <a:spcPts val="7920"/>
              </a:lnSpc>
            </a:pPr>
            <a:r>
              <a:rPr lang="en-US" sz="7200" b="1" spc="-324">
                <a:solidFill>
                  <a:srgbClr val="000000"/>
                </a:solidFill>
                <a:latin typeface="Antonio Bold"/>
                <a:ea typeface="Antonio Bold"/>
                <a:cs typeface="Antonio Bold"/>
                <a:sym typeface="Antonio Bold"/>
              </a:rPr>
              <a:t>INFORME DEL ALCANCE</a:t>
            </a:r>
          </a:p>
        </p:txBody>
      </p:sp>
      <p:sp>
        <p:nvSpPr>
          <p:cNvPr id="10" name="TextBox 10"/>
          <p:cNvSpPr txBox="1"/>
          <p:nvPr/>
        </p:nvSpPr>
        <p:spPr>
          <a:xfrm>
            <a:off x="9110342" y="2401585"/>
            <a:ext cx="8540430" cy="6675120"/>
          </a:xfrm>
          <a:prstGeom prst="rect">
            <a:avLst/>
          </a:prstGeom>
        </p:spPr>
        <p:txBody>
          <a:bodyPr lIns="0" tIns="0" rIns="0" bIns="0" rtlCol="0" anchor="t">
            <a:spAutoFit/>
          </a:bodyPr>
          <a:lstStyle/>
          <a:p>
            <a:pPr algn="just">
              <a:lnSpc>
                <a:spcPts val="3779"/>
              </a:lnSpc>
            </a:pPr>
            <a:r>
              <a:rPr lang="en-US" sz="2700">
                <a:solidFill>
                  <a:srgbClr val="000000"/>
                </a:solidFill>
                <a:latin typeface="Poppins"/>
                <a:ea typeface="Poppins"/>
                <a:cs typeface="Poppins"/>
                <a:sym typeface="Poppins"/>
              </a:rPr>
              <a:t>Es un documento que describe formalmente el alcance aprobado del proyecto. En este se describen los entregables principales, los supuestos y las restricciones del proyecto. </a:t>
            </a:r>
          </a:p>
          <a:p>
            <a:pPr algn="just">
              <a:lnSpc>
                <a:spcPts val="3779"/>
              </a:lnSpc>
            </a:pPr>
            <a:endParaRPr lang="en-US" sz="2700">
              <a:solidFill>
                <a:srgbClr val="000000"/>
              </a:solidFill>
              <a:latin typeface="Poppins"/>
              <a:ea typeface="Poppins"/>
              <a:cs typeface="Poppins"/>
              <a:sym typeface="Poppins"/>
            </a:endParaRPr>
          </a:p>
          <a:p>
            <a:pPr algn="just">
              <a:lnSpc>
                <a:spcPts val="3779"/>
              </a:lnSpc>
            </a:pPr>
            <a:r>
              <a:rPr lang="en-US" sz="2700">
                <a:solidFill>
                  <a:srgbClr val="000000"/>
                </a:solidFill>
                <a:latin typeface="Poppins"/>
                <a:ea typeface="Poppins"/>
                <a:cs typeface="Poppins"/>
                <a:sym typeface="Poppins"/>
              </a:rPr>
              <a:t>El informe del alcance del proyecto documenta el alcance en su totalidad, incluyendo el alcance del proyecto y del producto software. </a:t>
            </a:r>
          </a:p>
          <a:p>
            <a:pPr algn="just">
              <a:lnSpc>
                <a:spcPts val="3779"/>
              </a:lnSpc>
            </a:pPr>
            <a:endParaRPr lang="en-US" sz="2700">
              <a:solidFill>
                <a:srgbClr val="000000"/>
              </a:solidFill>
              <a:latin typeface="Poppins"/>
              <a:ea typeface="Poppins"/>
              <a:cs typeface="Poppins"/>
              <a:sym typeface="Poppins"/>
            </a:endParaRPr>
          </a:p>
          <a:p>
            <a:pPr marL="0" lvl="0" indent="0" algn="just">
              <a:lnSpc>
                <a:spcPts val="3779"/>
              </a:lnSpc>
              <a:spcBef>
                <a:spcPct val="0"/>
              </a:spcBef>
            </a:pPr>
            <a:r>
              <a:rPr lang="en-US" sz="2700">
                <a:solidFill>
                  <a:srgbClr val="000000"/>
                </a:solidFill>
                <a:latin typeface="Poppins"/>
                <a:ea typeface="Poppins"/>
                <a:cs typeface="Poppins"/>
                <a:sym typeface="Poppins"/>
              </a:rPr>
              <a:t>También proporciona un entendimiento común del alcance del proyecto entre los interesados en el mismo y puede contener exclusiones explícitas que pueden ayudar a gestionar las expectativas de los interesados. </a:t>
            </a:r>
          </a:p>
        </p:txBody>
      </p:sp>
      <p:grpSp>
        <p:nvGrpSpPr>
          <p:cNvPr id="11" name="Group 11"/>
          <p:cNvGrpSpPr/>
          <p:nvPr/>
        </p:nvGrpSpPr>
        <p:grpSpPr>
          <a:xfrm>
            <a:off x="-2062688" y="9715955"/>
            <a:ext cx="21014417" cy="1392272"/>
            <a:chOff x="0" y="0"/>
            <a:chExt cx="3300463" cy="218666"/>
          </a:xfrm>
        </p:grpSpPr>
        <p:sp>
          <p:nvSpPr>
            <p:cNvPr id="12" name="Freeform 12"/>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5170FF"/>
            </a:solidFill>
          </p:spPr>
        </p:sp>
        <p:sp>
          <p:nvSpPr>
            <p:cNvPr id="13" name="TextBox 13"/>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4452608" y="4531741"/>
            <a:ext cx="3728264" cy="372826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53A8"/>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4452608" y="5348424"/>
            <a:ext cx="3707111" cy="2228215"/>
          </a:xfrm>
          <a:prstGeom prst="rect">
            <a:avLst/>
          </a:prstGeom>
        </p:spPr>
        <p:txBody>
          <a:bodyPr lIns="0" tIns="0" rIns="0" bIns="0" rtlCol="0" anchor="t">
            <a:spAutoFit/>
          </a:bodyPr>
          <a:lstStyle/>
          <a:p>
            <a:pPr marL="0" lvl="0" indent="0" algn="ctr">
              <a:lnSpc>
                <a:spcPts val="2990"/>
              </a:lnSpc>
            </a:pPr>
            <a:r>
              <a:rPr lang="en-US" sz="2300">
                <a:solidFill>
                  <a:srgbClr val="EDECED"/>
                </a:solidFill>
                <a:latin typeface="Poppins"/>
                <a:ea typeface="Poppins"/>
                <a:cs typeface="Poppins"/>
                <a:sym typeface="Poppins"/>
              </a:rPr>
              <a:t>Permite evaluar si las solicitudes de cambio o de trabajo adicional se encuentran dentro o fuera de los límites del proyecto.</a:t>
            </a:r>
          </a:p>
        </p:txBody>
      </p:sp>
      <p:grpSp>
        <p:nvGrpSpPr>
          <p:cNvPr id="18" name="Group 18"/>
          <p:cNvGrpSpPr/>
          <p:nvPr/>
        </p:nvGrpSpPr>
        <p:grpSpPr>
          <a:xfrm>
            <a:off x="468461" y="4531741"/>
            <a:ext cx="3728264" cy="372826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5BC89"/>
            </a:solidFill>
          </p:spPr>
        </p:sp>
        <p:sp>
          <p:nvSpPr>
            <p:cNvPr id="20" name="TextBox 2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794390" y="5719899"/>
            <a:ext cx="3076406" cy="1485265"/>
          </a:xfrm>
          <a:prstGeom prst="rect">
            <a:avLst/>
          </a:prstGeom>
        </p:spPr>
        <p:txBody>
          <a:bodyPr lIns="0" tIns="0" rIns="0" bIns="0" rtlCol="0" anchor="t">
            <a:spAutoFit/>
          </a:bodyPr>
          <a:lstStyle/>
          <a:p>
            <a:pPr marL="0" lvl="0" indent="0" algn="ctr">
              <a:lnSpc>
                <a:spcPts val="2990"/>
              </a:lnSpc>
            </a:pPr>
            <a:r>
              <a:rPr lang="en-US" sz="2300">
                <a:solidFill>
                  <a:srgbClr val="FFFFFF"/>
                </a:solidFill>
                <a:latin typeface="Poppins"/>
                <a:ea typeface="Poppins"/>
                <a:cs typeface="Poppins"/>
                <a:sym typeface="Poppins"/>
              </a:rPr>
              <a:t>Sirve como guía del trabajo del equipo del proyecto durante la ejecución.</a:t>
            </a:r>
          </a:p>
        </p:txBody>
      </p:sp>
    </p:spTree>
  </p:cSld>
  <p:clrMapOvr>
    <a:masterClrMapping/>
  </p:clrMapOvr>
  <p:transition>
    <p:cover dir="d"/>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5170FF"/>
        </a:solidFill>
        <a:effectLst/>
      </p:bgPr>
    </p:bg>
    <p:spTree>
      <p:nvGrpSpPr>
        <p:cNvPr id="1" name=""/>
        <p:cNvGrpSpPr/>
        <p:nvPr/>
      </p:nvGrpSpPr>
      <p:grpSpPr>
        <a:xfrm>
          <a:off x="0" y="0"/>
          <a:ext cx="0" cy="0"/>
          <a:chOff x="0" y="0"/>
          <a:chExt cx="0" cy="0"/>
        </a:xfrm>
      </p:grpSpPr>
      <p:sp>
        <p:nvSpPr>
          <p:cNvPr id="2" name="AutoShape 2"/>
          <p:cNvSpPr/>
          <p:nvPr/>
        </p:nvSpPr>
        <p:spPr>
          <a:xfrm flipH="1">
            <a:off x="1431562" y="1382079"/>
            <a:ext cx="579947" cy="7282262"/>
          </a:xfrm>
          <a:prstGeom prst="line">
            <a:avLst/>
          </a:prstGeom>
          <a:ln w="66675" cap="flat">
            <a:solidFill>
              <a:srgbClr val="FB6CF7"/>
            </a:solidFill>
            <a:prstDash val="solid"/>
            <a:headEnd type="none" w="sm" len="sm"/>
            <a:tailEnd type="none" w="sm" len="sm"/>
          </a:ln>
        </p:spPr>
      </p:sp>
      <p:sp>
        <p:nvSpPr>
          <p:cNvPr id="3" name="AutoShape 3"/>
          <p:cNvSpPr/>
          <p:nvPr/>
        </p:nvSpPr>
        <p:spPr>
          <a:xfrm>
            <a:off x="7085479" y="1363029"/>
            <a:ext cx="970711" cy="7696769"/>
          </a:xfrm>
          <a:prstGeom prst="line">
            <a:avLst/>
          </a:prstGeom>
          <a:ln w="66675" cap="flat">
            <a:solidFill>
              <a:srgbClr val="FB6CF7"/>
            </a:solidFill>
            <a:prstDash val="solid"/>
            <a:headEnd type="none" w="sm" len="sm"/>
            <a:tailEnd type="none" w="sm" len="sm"/>
          </a:ln>
        </p:spPr>
      </p:sp>
      <p:grpSp>
        <p:nvGrpSpPr>
          <p:cNvPr id="4" name="Group 4"/>
          <p:cNvGrpSpPr/>
          <p:nvPr/>
        </p:nvGrpSpPr>
        <p:grpSpPr>
          <a:xfrm>
            <a:off x="1028700" y="2089150"/>
            <a:ext cx="7191989" cy="844275"/>
            <a:chOff x="0" y="0"/>
            <a:chExt cx="2077045" cy="243826"/>
          </a:xfrm>
        </p:grpSpPr>
        <p:sp>
          <p:nvSpPr>
            <p:cNvPr id="5" name="Freeform 5"/>
            <p:cNvSpPr/>
            <p:nvPr/>
          </p:nvSpPr>
          <p:spPr>
            <a:xfrm>
              <a:off x="0" y="0"/>
              <a:ext cx="2077045" cy="243826"/>
            </a:xfrm>
            <a:custGeom>
              <a:avLst/>
              <a:gdLst/>
              <a:ahLst/>
              <a:cxnLst/>
              <a:rect l="l" t="t" r="r" b="b"/>
              <a:pathLst>
                <a:path w="2077045" h="243826">
                  <a:moveTo>
                    <a:pt x="54496" y="0"/>
                  </a:moveTo>
                  <a:lnTo>
                    <a:pt x="2022549" y="0"/>
                  </a:lnTo>
                  <a:cubicBezTo>
                    <a:pt x="2052647" y="0"/>
                    <a:pt x="2077045" y="24399"/>
                    <a:pt x="2077045" y="54496"/>
                  </a:cubicBezTo>
                  <a:lnTo>
                    <a:pt x="2077045" y="189330"/>
                  </a:lnTo>
                  <a:cubicBezTo>
                    <a:pt x="2077045" y="219428"/>
                    <a:pt x="2052647" y="243826"/>
                    <a:pt x="2022549" y="243826"/>
                  </a:cubicBezTo>
                  <a:lnTo>
                    <a:pt x="54496" y="243826"/>
                  </a:lnTo>
                  <a:cubicBezTo>
                    <a:pt x="24399" y="243826"/>
                    <a:pt x="0" y="219428"/>
                    <a:pt x="0" y="189330"/>
                  </a:cubicBezTo>
                  <a:lnTo>
                    <a:pt x="0" y="54496"/>
                  </a:lnTo>
                  <a:cubicBezTo>
                    <a:pt x="0" y="24399"/>
                    <a:pt x="24399" y="0"/>
                    <a:pt x="54496" y="0"/>
                  </a:cubicBezTo>
                  <a:close/>
                </a:path>
              </a:pathLst>
            </a:custGeom>
            <a:solidFill>
              <a:srgbClr val="EDECED"/>
            </a:solidFill>
          </p:spPr>
        </p:sp>
        <p:sp>
          <p:nvSpPr>
            <p:cNvPr id="6" name="TextBox 6"/>
            <p:cNvSpPr txBox="1"/>
            <p:nvPr/>
          </p:nvSpPr>
          <p:spPr>
            <a:xfrm>
              <a:off x="0" y="-57150"/>
              <a:ext cx="2077045" cy="300976"/>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2015683" y="1058335"/>
            <a:ext cx="5218023" cy="647487"/>
            <a:chOff x="0" y="0"/>
            <a:chExt cx="3275131" cy="406400"/>
          </a:xfrm>
        </p:grpSpPr>
        <p:sp>
          <p:nvSpPr>
            <p:cNvPr id="8" name="Freeform 8"/>
            <p:cNvSpPr/>
            <p:nvPr/>
          </p:nvSpPr>
          <p:spPr>
            <a:xfrm>
              <a:off x="0" y="0"/>
              <a:ext cx="3275131" cy="406400"/>
            </a:xfrm>
            <a:custGeom>
              <a:avLst/>
              <a:gdLst/>
              <a:ahLst/>
              <a:cxnLst/>
              <a:rect l="l" t="t" r="r" b="b"/>
              <a:pathLst>
                <a:path w="3275131" h="406400">
                  <a:moveTo>
                    <a:pt x="3071931" y="0"/>
                  </a:moveTo>
                  <a:cubicBezTo>
                    <a:pt x="3184156" y="0"/>
                    <a:pt x="3275131" y="90976"/>
                    <a:pt x="3275131" y="203200"/>
                  </a:cubicBezTo>
                  <a:cubicBezTo>
                    <a:pt x="3275131" y="315424"/>
                    <a:pt x="3184156" y="406400"/>
                    <a:pt x="3071931" y="406400"/>
                  </a:cubicBezTo>
                  <a:lnTo>
                    <a:pt x="203200" y="406400"/>
                  </a:lnTo>
                  <a:cubicBezTo>
                    <a:pt x="90976" y="406400"/>
                    <a:pt x="0" y="315424"/>
                    <a:pt x="0" y="203200"/>
                  </a:cubicBezTo>
                  <a:cubicBezTo>
                    <a:pt x="0" y="90976"/>
                    <a:pt x="90976" y="0"/>
                    <a:pt x="203200" y="0"/>
                  </a:cubicBezTo>
                  <a:close/>
                </a:path>
              </a:pathLst>
            </a:custGeom>
            <a:solidFill>
              <a:srgbClr val="EDECED"/>
            </a:solidFill>
          </p:spPr>
        </p:sp>
        <p:sp>
          <p:nvSpPr>
            <p:cNvPr id="9" name="TextBox 9"/>
            <p:cNvSpPr txBox="1"/>
            <p:nvPr/>
          </p:nvSpPr>
          <p:spPr>
            <a:xfrm>
              <a:off x="0" y="-57150"/>
              <a:ext cx="3275131" cy="463550"/>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9356301" y="4251547"/>
            <a:ext cx="7902999" cy="1024890"/>
          </a:xfrm>
          <a:prstGeom prst="rect">
            <a:avLst/>
          </a:prstGeom>
        </p:spPr>
        <p:txBody>
          <a:bodyPr lIns="0" tIns="0" rIns="0" bIns="0" rtlCol="0" anchor="t">
            <a:spAutoFit/>
          </a:bodyPr>
          <a:lstStyle/>
          <a:p>
            <a:pPr marL="0" lvl="0" indent="0" algn="ctr">
              <a:lnSpc>
                <a:spcPts val="7920"/>
              </a:lnSpc>
            </a:pPr>
            <a:r>
              <a:rPr lang="en-US" sz="7200" b="1" spc="-324">
                <a:solidFill>
                  <a:srgbClr val="EDECED"/>
                </a:solidFill>
                <a:latin typeface="Antonio Bold"/>
                <a:ea typeface="Antonio Bold"/>
                <a:cs typeface="Antonio Bold"/>
                <a:sym typeface="Antonio Bold"/>
              </a:rPr>
              <a:t>INFORME DEL ALCANCE</a:t>
            </a:r>
          </a:p>
        </p:txBody>
      </p:sp>
      <p:sp>
        <p:nvSpPr>
          <p:cNvPr id="11" name="TextBox 11"/>
          <p:cNvSpPr txBox="1"/>
          <p:nvPr/>
        </p:nvSpPr>
        <p:spPr>
          <a:xfrm>
            <a:off x="2370278" y="1134546"/>
            <a:ext cx="4508832" cy="478678"/>
          </a:xfrm>
          <a:prstGeom prst="rect">
            <a:avLst/>
          </a:prstGeom>
        </p:spPr>
        <p:txBody>
          <a:bodyPr lIns="0" tIns="0" rIns="0" bIns="0" rtlCol="0" anchor="t">
            <a:spAutoFit/>
          </a:bodyPr>
          <a:lstStyle/>
          <a:p>
            <a:pPr marL="0" lvl="0" indent="0" algn="ctr">
              <a:lnSpc>
                <a:spcPts val="3510"/>
              </a:lnSpc>
            </a:pPr>
            <a:r>
              <a:rPr lang="en-US" sz="3191" b="1">
                <a:solidFill>
                  <a:srgbClr val="000000"/>
                </a:solidFill>
                <a:latin typeface="Poppins Bold"/>
                <a:ea typeface="Poppins Bold"/>
                <a:cs typeface="Poppins Bold"/>
                <a:sym typeface="Poppins Bold"/>
              </a:rPr>
              <a:t>Estructura general</a:t>
            </a:r>
          </a:p>
        </p:txBody>
      </p:sp>
      <p:sp>
        <p:nvSpPr>
          <p:cNvPr id="12" name="TextBox 12"/>
          <p:cNvSpPr txBox="1"/>
          <p:nvPr/>
        </p:nvSpPr>
        <p:spPr>
          <a:xfrm>
            <a:off x="1384154" y="2131039"/>
            <a:ext cx="6336664" cy="716661"/>
          </a:xfrm>
          <a:prstGeom prst="rect">
            <a:avLst/>
          </a:prstGeom>
        </p:spPr>
        <p:txBody>
          <a:bodyPr lIns="0" tIns="0" rIns="0" bIns="0" rtlCol="0" anchor="t">
            <a:spAutoFit/>
          </a:bodyPr>
          <a:lstStyle/>
          <a:p>
            <a:pPr marL="518160" lvl="1" indent="-259080" algn="just">
              <a:lnSpc>
                <a:spcPts val="2711"/>
              </a:lnSpc>
              <a:buAutoNum type="arabicPeriod"/>
            </a:pPr>
            <a:r>
              <a:rPr lang="en-US" sz="2400" b="1">
                <a:solidFill>
                  <a:srgbClr val="000000"/>
                </a:solidFill>
                <a:latin typeface="Poppins Bold"/>
                <a:ea typeface="Poppins Bold"/>
                <a:cs typeface="Poppins Bold"/>
                <a:sym typeface="Poppins Bold"/>
              </a:rPr>
              <a:t> Descripción del producto: </a:t>
            </a:r>
            <a:r>
              <a:rPr lang="en-US" sz="2400">
                <a:solidFill>
                  <a:srgbClr val="000000"/>
                </a:solidFill>
                <a:latin typeface="Poppins"/>
                <a:ea typeface="Poppins"/>
                <a:cs typeface="Poppins"/>
                <a:sym typeface="Poppins"/>
              </a:rPr>
              <a:t>Qué hace el software</a:t>
            </a:r>
          </a:p>
        </p:txBody>
      </p:sp>
      <p:grpSp>
        <p:nvGrpSpPr>
          <p:cNvPr id="13" name="Group 13"/>
          <p:cNvGrpSpPr/>
          <p:nvPr/>
        </p:nvGrpSpPr>
        <p:grpSpPr>
          <a:xfrm>
            <a:off x="-2062688" y="9715955"/>
            <a:ext cx="21014417" cy="1392272"/>
            <a:chOff x="0" y="0"/>
            <a:chExt cx="3300463" cy="218666"/>
          </a:xfrm>
        </p:grpSpPr>
        <p:sp>
          <p:nvSpPr>
            <p:cNvPr id="14" name="Freeform 14"/>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EDECED"/>
            </a:solidFill>
          </p:spPr>
        </p:sp>
        <p:sp>
          <p:nvSpPr>
            <p:cNvPr id="15" name="TextBox 15"/>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4961058" y="7438331"/>
            <a:ext cx="1382831" cy="1417707"/>
          </a:xfrm>
          <a:custGeom>
            <a:avLst/>
            <a:gdLst/>
            <a:ahLst/>
            <a:cxnLst/>
            <a:rect l="l" t="t" r="r" b="b"/>
            <a:pathLst>
              <a:path w="1382831" h="1417707">
                <a:moveTo>
                  <a:pt x="0" y="0"/>
                </a:moveTo>
                <a:lnTo>
                  <a:pt x="1382831" y="0"/>
                </a:lnTo>
                <a:lnTo>
                  <a:pt x="1382831" y="1417707"/>
                </a:lnTo>
                <a:lnTo>
                  <a:pt x="0" y="14177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7" name="Group 17"/>
          <p:cNvGrpSpPr/>
          <p:nvPr/>
        </p:nvGrpSpPr>
        <p:grpSpPr>
          <a:xfrm>
            <a:off x="1028700" y="3314425"/>
            <a:ext cx="7191989" cy="844275"/>
            <a:chOff x="0" y="0"/>
            <a:chExt cx="2077045" cy="243826"/>
          </a:xfrm>
        </p:grpSpPr>
        <p:sp>
          <p:nvSpPr>
            <p:cNvPr id="18" name="Freeform 18"/>
            <p:cNvSpPr/>
            <p:nvPr/>
          </p:nvSpPr>
          <p:spPr>
            <a:xfrm>
              <a:off x="0" y="0"/>
              <a:ext cx="2077045" cy="243826"/>
            </a:xfrm>
            <a:custGeom>
              <a:avLst/>
              <a:gdLst/>
              <a:ahLst/>
              <a:cxnLst/>
              <a:rect l="l" t="t" r="r" b="b"/>
              <a:pathLst>
                <a:path w="2077045" h="243826">
                  <a:moveTo>
                    <a:pt x="54496" y="0"/>
                  </a:moveTo>
                  <a:lnTo>
                    <a:pt x="2022549" y="0"/>
                  </a:lnTo>
                  <a:cubicBezTo>
                    <a:pt x="2052647" y="0"/>
                    <a:pt x="2077045" y="24399"/>
                    <a:pt x="2077045" y="54496"/>
                  </a:cubicBezTo>
                  <a:lnTo>
                    <a:pt x="2077045" y="189330"/>
                  </a:lnTo>
                  <a:cubicBezTo>
                    <a:pt x="2077045" y="219428"/>
                    <a:pt x="2052647" y="243826"/>
                    <a:pt x="2022549" y="243826"/>
                  </a:cubicBezTo>
                  <a:lnTo>
                    <a:pt x="54496" y="243826"/>
                  </a:lnTo>
                  <a:cubicBezTo>
                    <a:pt x="24399" y="243826"/>
                    <a:pt x="0" y="219428"/>
                    <a:pt x="0" y="189330"/>
                  </a:cubicBezTo>
                  <a:lnTo>
                    <a:pt x="0" y="54496"/>
                  </a:lnTo>
                  <a:cubicBezTo>
                    <a:pt x="0" y="24399"/>
                    <a:pt x="24399" y="0"/>
                    <a:pt x="54496" y="0"/>
                  </a:cubicBezTo>
                  <a:close/>
                </a:path>
              </a:pathLst>
            </a:custGeom>
            <a:solidFill>
              <a:srgbClr val="EDECED"/>
            </a:solidFill>
          </p:spPr>
        </p:sp>
        <p:sp>
          <p:nvSpPr>
            <p:cNvPr id="19" name="TextBox 19"/>
            <p:cNvSpPr txBox="1"/>
            <p:nvPr/>
          </p:nvSpPr>
          <p:spPr>
            <a:xfrm>
              <a:off x="0" y="-57150"/>
              <a:ext cx="2077045" cy="300976"/>
            </a:xfrm>
            <a:prstGeom prst="rect">
              <a:avLst/>
            </a:prstGeom>
          </p:spPr>
          <p:txBody>
            <a:bodyPr lIns="50800" tIns="50800" rIns="50800" bIns="50800" rtlCol="0" anchor="ctr"/>
            <a:lstStyle/>
            <a:p>
              <a:pPr algn="ctr">
                <a:lnSpc>
                  <a:spcPts val="2659"/>
                </a:lnSpc>
              </a:pPr>
              <a:endParaRPr/>
            </a:p>
          </p:txBody>
        </p:sp>
      </p:grpSp>
      <p:sp>
        <p:nvSpPr>
          <p:cNvPr id="20" name="TextBox 20"/>
          <p:cNvSpPr txBox="1"/>
          <p:nvPr/>
        </p:nvSpPr>
        <p:spPr>
          <a:xfrm>
            <a:off x="1478970" y="3373469"/>
            <a:ext cx="6241848" cy="716661"/>
          </a:xfrm>
          <a:prstGeom prst="rect">
            <a:avLst/>
          </a:prstGeom>
        </p:spPr>
        <p:txBody>
          <a:bodyPr lIns="0" tIns="0" rIns="0" bIns="0" rtlCol="0" anchor="t">
            <a:spAutoFit/>
          </a:bodyPr>
          <a:lstStyle/>
          <a:p>
            <a:pPr marL="518160" lvl="1" indent="-259080" algn="l">
              <a:lnSpc>
                <a:spcPts val="2711"/>
              </a:lnSpc>
              <a:buAutoNum type="arabicPeriod"/>
            </a:pPr>
            <a:r>
              <a:rPr lang="en-US" sz="2400" b="1">
                <a:solidFill>
                  <a:srgbClr val="000000"/>
                </a:solidFill>
                <a:latin typeface="Poppins Bold"/>
                <a:ea typeface="Poppins Bold"/>
                <a:cs typeface="Poppins Bold"/>
                <a:sym typeface="Poppins Bold"/>
              </a:rPr>
              <a:t>Entregables: </a:t>
            </a:r>
            <a:r>
              <a:rPr lang="en-US" sz="2400">
                <a:solidFill>
                  <a:srgbClr val="000000"/>
                </a:solidFill>
                <a:latin typeface="Poppins"/>
                <a:ea typeface="Poppins"/>
                <a:cs typeface="Poppins"/>
                <a:sym typeface="Poppins"/>
              </a:rPr>
              <a:t>Módulos, versiones, documentación.</a:t>
            </a:r>
          </a:p>
        </p:txBody>
      </p:sp>
      <p:grpSp>
        <p:nvGrpSpPr>
          <p:cNvPr id="21" name="Group 21"/>
          <p:cNvGrpSpPr/>
          <p:nvPr/>
        </p:nvGrpSpPr>
        <p:grpSpPr>
          <a:xfrm>
            <a:off x="1028700" y="4539699"/>
            <a:ext cx="7191989" cy="844275"/>
            <a:chOff x="0" y="0"/>
            <a:chExt cx="2077045" cy="243826"/>
          </a:xfrm>
        </p:grpSpPr>
        <p:sp>
          <p:nvSpPr>
            <p:cNvPr id="22" name="Freeform 22"/>
            <p:cNvSpPr/>
            <p:nvPr/>
          </p:nvSpPr>
          <p:spPr>
            <a:xfrm>
              <a:off x="0" y="0"/>
              <a:ext cx="2077045" cy="243826"/>
            </a:xfrm>
            <a:custGeom>
              <a:avLst/>
              <a:gdLst/>
              <a:ahLst/>
              <a:cxnLst/>
              <a:rect l="l" t="t" r="r" b="b"/>
              <a:pathLst>
                <a:path w="2077045" h="243826">
                  <a:moveTo>
                    <a:pt x="54496" y="0"/>
                  </a:moveTo>
                  <a:lnTo>
                    <a:pt x="2022549" y="0"/>
                  </a:lnTo>
                  <a:cubicBezTo>
                    <a:pt x="2052647" y="0"/>
                    <a:pt x="2077045" y="24399"/>
                    <a:pt x="2077045" y="54496"/>
                  </a:cubicBezTo>
                  <a:lnTo>
                    <a:pt x="2077045" y="189330"/>
                  </a:lnTo>
                  <a:cubicBezTo>
                    <a:pt x="2077045" y="219428"/>
                    <a:pt x="2052647" y="243826"/>
                    <a:pt x="2022549" y="243826"/>
                  </a:cubicBezTo>
                  <a:lnTo>
                    <a:pt x="54496" y="243826"/>
                  </a:lnTo>
                  <a:cubicBezTo>
                    <a:pt x="24399" y="243826"/>
                    <a:pt x="0" y="219428"/>
                    <a:pt x="0" y="189330"/>
                  </a:cubicBezTo>
                  <a:lnTo>
                    <a:pt x="0" y="54496"/>
                  </a:lnTo>
                  <a:cubicBezTo>
                    <a:pt x="0" y="24399"/>
                    <a:pt x="24399" y="0"/>
                    <a:pt x="54496" y="0"/>
                  </a:cubicBezTo>
                  <a:close/>
                </a:path>
              </a:pathLst>
            </a:custGeom>
            <a:solidFill>
              <a:srgbClr val="EDECED"/>
            </a:solidFill>
          </p:spPr>
        </p:sp>
        <p:sp>
          <p:nvSpPr>
            <p:cNvPr id="23" name="TextBox 23"/>
            <p:cNvSpPr txBox="1"/>
            <p:nvPr/>
          </p:nvSpPr>
          <p:spPr>
            <a:xfrm>
              <a:off x="0" y="-57150"/>
              <a:ext cx="2077045" cy="300976"/>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003899" y="8215523"/>
            <a:ext cx="7191989" cy="844275"/>
            <a:chOff x="0" y="0"/>
            <a:chExt cx="2077045" cy="243826"/>
          </a:xfrm>
        </p:grpSpPr>
        <p:sp>
          <p:nvSpPr>
            <p:cNvPr id="25" name="Freeform 25"/>
            <p:cNvSpPr/>
            <p:nvPr/>
          </p:nvSpPr>
          <p:spPr>
            <a:xfrm>
              <a:off x="0" y="0"/>
              <a:ext cx="2077045" cy="243826"/>
            </a:xfrm>
            <a:custGeom>
              <a:avLst/>
              <a:gdLst/>
              <a:ahLst/>
              <a:cxnLst/>
              <a:rect l="l" t="t" r="r" b="b"/>
              <a:pathLst>
                <a:path w="2077045" h="243826">
                  <a:moveTo>
                    <a:pt x="54496" y="0"/>
                  </a:moveTo>
                  <a:lnTo>
                    <a:pt x="2022549" y="0"/>
                  </a:lnTo>
                  <a:cubicBezTo>
                    <a:pt x="2052647" y="0"/>
                    <a:pt x="2077045" y="24399"/>
                    <a:pt x="2077045" y="54496"/>
                  </a:cubicBezTo>
                  <a:lnTo>
                    <a:pt x="2077045" y="189330"/>
                  </a:lnTo>
                  <a:cubicBezTo>
                    <a:pt x="2077045" y="219428"/>
                    <a:pt x="2052647" y="243826"/>
                    <a:pt x="2022549" y="243826"/>
                  </a:cubicBezTo>
                  <a:lnTo>
                    <a:pt x="54496" y="243826"/>
                  </a:lnTo>
                  <a:cubicBezTo>
                    <a:pt x="24399" y="243826"/>
                    <a:pt x="0" y="219428"/>
                    <a:pt x="0" y="189330"/>
                  </a:cubicBezTo>
                  <a:lnTo>
                    <a:pt x="0" y="54496"/>
                  </a:lnTo>
                  <a:cubicBezTo>
                    <a:pt x="0" y="24399"/>
                    <a:pt x="24399" y="0"/>
                    <a:pt x="54496" y="0"/>
                  </a:cubicBezTo>
                  <a:close/>
                </a:path>
              </a:pathLst>
            </a:custGeom>
            <a:solidFill>
              <a:srgbClr val="EDECED"/>
            </a:solidFill>
          </p:spPr>
        </p:sp>
        <p:sp>
          <p:nvSpPr>
            <p:cNvPr id="26" name="TextBox 26"/>
            <p:cNvSpPr txBox="1"/>
            <p:nvPr/>
          </p:nvSpPr>
          <p:spPr>
            <a:xfrm>
              <a:off x="0" y="-57150"/>
              <a:ext cx="2077045" cy="300976"/>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1478970" y="4615899"/>
            <a:ext cx="6241848" cy="716661"/>
          </a:xfrm>
          <a:prstGeom prst="rect">
            <a:avLst/>
          </a:prstGeom>
        </p:spPr>
        <p:txBody>
          <a:bodyPr lIns="0" tIns="0" rIns="0" bIns="0" rtlCol="0" anchor="t">
            <a:spAutoFit/>
          </a:bodyPr>
          <a:lstStyle/>
          <a:p>
            <a:pPr marL="518160" lvl="1" indent="-259080" algn="just">
              <a:lnSpc>
                <a:spcPts val="2711"/>
              </a:lnSpc>
              <a:buAutoNum type="arabicPeriod"/>
            </a:pPr>
            <a:r>
              <a:rPr lang="en-US" sz="2400" b="1">
                <a:solidFill>
                  <a:srgbClr val="000000"/>
                </a:solidFill>
                <a:latin typeface="Poppins Bold"/>
                <a:ea typeface="Poppins Bold"/>
                <a:cs typeface="Poppins Bold"/>
                <a:sym typeface="Poppins Bold"/>
              </a:rPr>
              <a:t>Requisitos funcionales: </a:t>
            </a:r>
            <a:r>
              <a:rPr lang="en-US" sz="2400">
                <a:solidFill>
                  <a:srgbClr val="000000"/>
                </a:solidFill>
                <a:latin typeface="Poppins"/>
                <a:ea typeface="Poppins"/>
                <a:cs typeface="Poppins"/>
                <a:sym typeface="Poppins"/>
              </a:rPr>
              <a:t>Funciones que debe cumplir.</a:t>
            </a:r>
          </a:p>
        </p:txBody>
      </p:sp>
      <p:grpSp>
        <p:nvGrpSpPr>
          <p:cNvPr id="28" name="Group 28"/>
          <p:cNvGrpSpPr/>
          <p:nvPr/>
        </p:nvGrpSpPr>
        <p:grpSpPr>
          <a:xfrm>
            <a:off x="1028700" y="5764974"/>
            <a:ext cx="7191989" cy="844275"/>
            <a:chOff x="0" y="0"/>
            <a:chExt cx="2077045" cy="243826"/>
          </a:xfrm>
        </p:grpSpPr>
        <p:sp>
          <p:nvSpPr>
            <p:cNvPr id="29" name="Freeform 29"/>
            <p:cNvSpPr/>
            <p:nvPr/>
          </p:nvSpPr>
          <p:spPr>
            <a:xfrm>
              <a:off x="0" y="0"/>
              <a:ext cx="2077045" cy="243826"/>
            </a:xfrm>
            <a:custGeom>
              <a:avLst/>
              <a:gdLst/>
              <a:ahLst/>
              <a:cxnLst/>
              <a:rect l="l" t="t" r="r" b="b"/>
              <a:pathLst>
                <a:path w="2077045" h="243826">
                  <a:moveTo>
                    <a:pt x="54496" y="0"/>
                  </a:moveTo>
                  <a:lnTo>
                    <a:pt x="2022549" y="0"/>
                  </a:lnTo>
                  <a:cubicBezTo>
                    <a:pt x="2052647" y="0"/>
                    <a:pt x="2077045" y="24399"/>
                    <a:pt x="2077045" y="54496"/>
                  </a:cubicBezTo>
                  <a:lnTo>
                    <a:pt x="2077045" y="189330"/>
                  </a:lnTo>
                  <a:cubicBezTo>
                    <a:pt x="2077045" y="219428"/>
                    <a:pt x="2052647" y="243826"/>
                    <a:pt x="2022549" y="243826"/>
                  </a:cubicBezTo>
                  <a:lnTo>
                    <a:pt x="54496" y="243826"/>
                  </a:lnTo>
                  <a:cubicBezTo>
                    <a:pt x="24399" y="243826"/>
                    <a:pt x="0" y="219428"/>
                    <a:pt x="0" y="189330"/>
                  </a:cubicBezTo>
                  <a:lnTo>
                    <a:pt x="0" y="54496"/>
                  </a:lnTo>
                  <a:cubicBezTo>
                    <a:pt x="0" y="24399"/>
                    <a:pt x="24399" y="0"/>
                    <a:pt x="54496" y="0"/>
                  </a:cubicBezTo>
                  <a:close/>
                </a:path>
              </a:pathLst>
            </a:custGeom>
            <a:solidFill>
              <a:srgbClr val="EDECED"/>
            </a:solidFill>
          </p:spPr>
        </p:sp>
        <p:sp>
          <p:nvSpPr>
            <p:cNvPr id="30" name="TextBox 30"/>
            <p:cNvSpPr txBox="1"/>
            <p:nvPr/>
          </p:nvSpPr>
          <p:spPr>
            <a:xfrm>
              <a:off x="0" y="-57150"/>
              <a:ext cx="2077045" cy="300976"/>
            </a:xfrm>
            <a:prstGeom prst="rect">
              <a:avLst/>
            </a:prstGeom>
          </p:spPr>
          <p:txBody>
            <a:bodyPr lIns="50800" tIns="50800" rIns="50800" bIns="50800" rtlCol="0" anchor="ctr"/>
            <a:lstStyle/>
            <a:p>
              <a:pPr algn="ctr">
                <a:lnSpc>
                  <a:spcPts val="2659"/>
                </a:lnSpc>
              </a:pPr>
              <a:endParaRPr/>
            </a:p>
          </p:txBody>
        </p:sp>
      </p:grpSp>
      <p:sp>
        <p:nvSpPr>
          <p:cNvPr id="31" name="TextBox 31"/>
          <p:cNvSpPr txBox="1"/>
          <p:nvPr/>
        </p:nvSpPr>
        <p:spPr>
          <a:xfrm>
            <a:off x="1431562" y="5850699"/>
            <a:ext cx="6241848" cy="716661"/>
          </a:xfrm>
          <a:prstGeom prst="rect">
            <a:avLst/>
          </a:prstGeom>
        </p:spPr>
        <p:txBody>
          <a:bodyPr lIns="0" tIns="0" rIns="0" bIns="0" rtlCol="0" anchor="t">
            <a:spAutoFit/>
          </a:bodyPr>
          <a:lstStyle/>
          <a:p>
            <a:pPr marL="518160" lvl="1" indent="-259080" algn="l">
              <a:lnSpc>
                <a:spcPts val="2711"/>
              </a:lnSpc>
              <a:buAutoNum type="arabicPeriod"/>
            </a:pPr>
            <a:r>
              <a:rPr lang="en-US" sz="2400" b="1">
                <a:solidFill>
                  <a:srgbClr val="000000"/>
                </a:solidFill>
                <a:latin typeface="Poppins Bold"/>
                <a:ea typeface="Poppins Bold"/>
                <a:cs typeface="Poppins Bold"/>
                <a:sym typeface="Poppins Bold"/>
              </a:rPr>
              <a:t>Requisitos no funcionales:</a:t>
            </a:r>
            <a:r>
              <a:rPr lang="en-US" sz="2400">
                <a:solidFill>
                  <a:srgbClr val="000000"/>
                </a:solidFill>
                <a:latin typeface="Poppins"/>
                <a:ea typeface="Poppins"/>
                <a:cs typeface="Poppins"/>
                <a:sym typeface="Poppins"/>
              </a:rPr>
              <a:t> Seguridad, rendimiento, usabilidad</a:t>
            </a:r>
          </a:p>
        </p:txBody>
      </p:sp>
      <p:grpSp>
        <p:nvGrpSpPr>
          <p:cNvPr id="32" name="Group 32"/>
          <p:cNvGrpSpPr/>
          <p:nvPr/>
        </p:nvGrpSpPr>
        <p:grpSpPr>
          <a:xfrm>
            <a:off x="1028700" y="6990249"/>
            <a:ext cx="7191989" cy="844275"/>
            <a:chOff x="0" y="0"/>
            <a:chExt cx="2077045" cy="243826"/>
          </a:xfrm>
        </p:grpSpPr>
        <p:sp>
          <p:nvSpPr>
            <p:cNvPr id="33" name="Freeform 33"/>
            <p:cNvSpPr/>
            <p:nvPr/>
          </p:nvSpPr>
          <p:spPr>
            <a:xfrm>
              <a:off x="0" y="0"/>
              <a:ext cx="2077045" cy="243826"/>
            </a:xfrm>
            <a:custGeom>
              <a:avLst/>
              <a:gdLst/>
              <a:ahLst/>
              <a:cxnLst/>
              <a:rect l="l" t="t" r="r" b="b"/>
              <a:pathLst>
                <a:path w="2077045" h="243826">
                  <a:moveTo>
                    <a:pt x="54496" y="0"/>
                  </a:moveTo>
                  <a:lnTo>
                    <a:pt x="2022549" y="0"/>
                  </a:lnTo>
                  <a:cubicBezTo>
                    <a:pt x="2052647" y="0"/>
                    <a:pt x="2077045" y="24399"/>
                    <a:pt x="2077045" y="54496"/>
                  </a:cubicBezTo>
                  <a:lnTo>
                    <a:pt x="2077045" y="189330"/>
                  </a:lnTo>
                  <a:cubicBezTo>
                    <a:pt x="2077045" y="219428"/>
                    <a:pt x="2052647" y="243826"/>
                    <a:pt x="2022549" y="243826"/>
                  </a:cubicBezTo>
                  <a:lnTo>
                    <a:pt x="54496" y="243826"/>
                  </a:lnTo>
                  <a:cubicBezTo>
                    <a:pt x="24399" y="243826"/>
                    <a:pt x="0" y="219428"/>
                    <a:pt x="0" y="189330"/>
                  </a:cubicBezTo>
                  <a:lnTo>
                    <a:pt x="0" y="54496"/>
                  </a:lnTo>
                  <a:cubicBezTo>
                    <a:pt x="0" y="24399"/>
                    <a:pt x="24399" y="0"/>
                    <a:pt x="54496" y="0"/>
                  </a:cubicBezTo>
                  <a:close/>
                </a:path>
              </a:pathLst>
            </a:custGeom>
            <a:solidFill>
              <a:srgbClr val="EDECED"/>
            </a:solidFill>
          </p:spPr>
        </p:sp>
        <p:sp>
          <p:nvSpPr>
            <p:cNvPr id="34" name="TextBox 34"/>
            <p:cNvSpPr txBox="1"/>
            <p:nvPr/>
          </p:nvSpPr>
          <p:spPr>
            <a:xfrm>
              <a:off x="0" y="-57150"/>
              <a:ext cx="2077045" cy="300976"/>
            </a:xfrm>
            <a:prstGeom prst="rect">
              <a:avLst/>
            </a:prstGeom>
          </p:spPr>
          <p:txBody>
            <a:bodyPr lIns="50800" tIns="50800" rIns="50800" bIns="50800" rtlCol="0" anchor="ctr"/>
            <a:lstStyle/>
            <a:p>
              <a:pPr algn="ctr">
                <a:lnSpc>
                  <a:spcPts val="2659"/>
                </a:lnSpc>
              </a:pPr>
              <a:endParaRPr/>
            </a:p>
          </p:txBody>
        </p:sp>
      </p:grpSp>
      <p:sp>
        <p:nvSpPr>
          <p:cNvPr id="35" name="TextBox 35"/>
          <p:cNvSpPr txBox="1"/>
          <p:nvPr/>
        </p:nvSpPr>
        <p:spPr>
          <a:xfrm>
            <a:off x="1478970" y="7246688"/>
            <a:ext cx="6241848" cy="373761"/>
          </a:xfrm>
          <a:prstGeom prst="rect">
            <a:avLst/>
          </a:prstGeom>
        </p:spPr>
        <p:txBody>
          <a:bodyPr lIns="0" tIns="0" rIns="0" bIns="0" rtlCol="0" anchor="t">
            <a:spAutoFit/>
          </a:bodyPr>
          <a:lstStyle/>
          <a:p>
            <a:pPr marL="518160" lvl="1" indent="-259080" algn="just">
              <a:lnSpc>
                <a:spcPts val="2711"/>
              </a:lnSpc>
              <a:buAutoNum type="arabicPeriod"/>
            </a:pPr>
            <a:r>
              <a:rPr lang="en-US" sz="2400" b="1">
                <a:solidFill>
                  <a:srgbClr val="000000"/>
                </a:solidFill>
                <a:latin typeface="Poppins Bold"/>
                <a:ea typeface="Poppins Bold"/>
                <a:cs typeface="Poppins Bold"/>
                <a:sym typeface="Poppins Bold"/>
              </a:rPr>
              <a:t>Exclusiones:</a:t>
            </a:r>
            <a:r>
              <a:rPr lang="en-US" sz="2400">
                <a:solidFill>
                  <a:srgbClr val="000000"/>
                </a:solidFill>
                <a:latin typeface="Poppins"/>
                <a:ea typeface="Poppins"/>
                <a:cs typeface="Poppins"/>
                <a:sym typeface="Poppins"/>
              </a:rPr>
              <a:t> Que NO hará el sistema</a:t>
            </a:r>
          </a:p>
        </p:txBody>
      </p:sp>
      <p:sp>
        <p:nvSpPr>
          <p:cNvPr id="36" name="TextBox 36"/>
          <p:cNvSpPr txBox="1"/>
          <p:nvPr/>
        </p:nvSpPr>
        <p:spPr>
          <a:xfrm>
            <a:off x="1431562" y="8301248"/>
            <a:ext cx="6241848" cy="716661"/>
          </a:xfrm>
          <a:prstGeom prst="rect">
            <a:avLst/>
          </a:prstGeom>
        </p:spPr>
        <p:txBody>
          <a:bodyPr lIns="0" tIns="0" rIns="0" bIns="0" rtlCol="0" anchor="t">
            <a:spAutoFit/>
          </a:bodyPr>
          <a:lstStyle/>
          <a:p>
            <a:pPr marL="518160" lvl="1" indent="-259080" algn="l">
              <a:lnSpc>
                <a:spcPts val="2711"/>
              </a:lnSpc>
              <a:buAutoNum type="arabicPeriod"/>
            </a:pPr>
            <a:r>
              <a:rPr lang="en-US" sz="2400" b="1">
                <a:solidFill>
                  <a:srgbClr val="000000"/>
                </a:solidFill>
                <a:latin typeface="Poppins Bold"/>
                <a:ea typeface="Poppins Bold"/>
                <a:cs typeface="Poppins Bold"/>
                <a:sym typeface="Poppins Bold"/>
              </a:rPr>
              <a:t>Restricciones:</a:t>
            </a:r>
            <a:r>
              <a:rPr lang="en-US" sz="2400">
                <a:solidFill>
                  <a:srgbClr val="000000"/>
                </a:solidFill>
                <a:latin typeface="Poppins"/>
                <a:ea typeface="Poppins"/>
                <a:cs typeface="Poppins"/>
                <a:sym typeface="Poppins"/>
              </a:rPr>
              <a:t> Presupuesto, tiempo, tecnología</a:t>
            </a:r>
          </a:p>
        </p:txBody>
      </p:sp>
    </p:spTree>
  </p:cSld>
  <p:clrMapOvr>
    <a:masterClrMapping/>
  </p:clrMapOvr>
  <p:transition>
    <p:cover dir="d"/>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5170FF"/>
        </a:solidFill>
        <a:effectLst/>
      </p:bgPr>
    </p:bg>
    <p:spTree>
      <p:nvGrpSpPr>
        <p:cNvPr id="1" name=""/>
        <p:cNvGrpSpPr/>
        <p:nvPr/>
      </p:nvGrpSpPr>
      <p:grpSpPr>
        <a:xfrm>
          <a:off x="0" y="0"/>
          <a:ext cx="0" cy="0"/>
          <a:chOff x="0" y="0"/>
          <a:chExt cx="0" cy="0"/>
        </a:xfrm>
      </p:grpSpPr>
      <p:grpSp>
        <p:nvGrpSpPr>
          <p:cNvPr id="2" name="Group 2"/>
          <p:cNvGrpSpPr/>
          <p:nvPr/>
        </p:nvGrpSpPr>
        <p:grpSpPr>
          <a:xfrm>
            <a:off x="1708264" y="3436244"/>
            <a:ext cx="6984441" cy="2970906"/>
            <a:chOff x="0" y="0"/>
            <a:chExt cx="1900641" cy="808458"/>
          </a:xfrm>
        </p:grpSpPr>
        <p:sp>
          <p:nvSpPr>
            <p:cNvPr id="3" name="Freeform 3"/>
            <p:cNvSpPr/>
            <p:nvPr/>
          </p:nvSpPr>
          <p:spPr>
            <a:xfrm>
              <a:off x="0" y="0"/>
              <a:ext cx="1900641" cy="808458"/>
            </a:xfrm>
            <a:custGeom>
              <a:avLst/>
              <a:gdLst/>
              <a:ahLst/>
              <a:cxnLst/>
              <a:rect l="l" t="t" r="r" b="b"/>
              <a:pathLst>
                <a:path w="1900641" h="808458">
                  <a:moveTo>
                    <a:pt x="53206" y="0"/>
                  </a:moveTo>
                  <a:lnTo>
                    <a:pt x="1847435" y="0"/>
                  </a:lnTo>
                  <a:cubicBezTo>
                    <a:pt x="1861546" y="0"/>
                    <a:pt x="1875080" y="5606"/>
                    <a:pt x="1885058" y="15584"/>
                  </a:cubicBezTo>
                  <a:cubicBezTo>
                    <a:pt x="1895035" y="25562"/>
                    <a:pt x="1900641" y="39095"/>
                    <a:pt x="1900641" y="53206"/>
                  </a:cubicBezTo>
                  <a:lnTo>
                    <a:pt x="1900641" y="755252"/>
                  </a:lnTo>
                  <a:cubicBezTo>
                    <a:pt x="1900641" y="769363"/>
                    <a:pt x="1895035" y="782896"/>
                    <a:pt x="1885058" y="792874"/>
                  </a:cubicBezTo>
                  <a:cubicBezTo>
                    <a:pt x="1875080" y="802852"/>
                    <a:pt x="1861546" y="808458"/>
                    <a:pt x="1847435" y="808458"/>
                  </a:cubicBezTo>
                  <a:lnTo>
                    <a:pt x="53206" y="808458"/>
                  </a:lnTo>
                  <a:cubicBezTo>
                    <a:pt x="39095" y="808458"/>
                    <a:pt x="25562" y="802852"/>
                    <a:pt x="15584" y="792874"/>
                  </a:cubicBezTo>
                  <a:cubicBezTo>
                    <a:pt x="5606" y="782896"/>
                    <a:pt x="0" y="769363"/>
                    <a:pt x="0" y="755252"/>
                  </a:cubicBezTo>
                  <a:lnTo>
                    <a:pt x="0" y="53206"/>
                  </a:lnTo>
                  <a:cubicBezTo>
                    <a:pt x="0" y="39095"/>
                    <a:pt x="5606" y="25562"/>
                    <a:pt x="15584" y="15584"/>
                  </a:cubicBezTo>
                  <a:cubicBezTo>
                    <a:pt x="25562" y="5606"/>
                    <a:pt x="39095" y="0"/>
                    <a:pt x="53206" y="0"/>
                  </a:cubicBezTo>
                  <a:close/>
                </a:path>
              </a:pathLst>
            </a:custGeom>
            <a:solidFill>
              <a:srgbClr val="EDECED"/>
            </a:solidFill>
          </p:spPr>
        </p:sp>
        <p:sp>
          <p:nvSpPr>
            <p:cNvPr id="4" name="TextBox 4"/>
            <p:cNvSpPr txBox="1"/>
            <p:nvPr/>
          </p:nvSpPr>
          <p:spPr>
            <a:xfrm>
              <a:off x="0" y="-57150"/>
              <a:ext cx="1900641" cy="865608"/>
            </a:xfrm>
            <a:prstGeom prst="rect">
              <a:avLst/>
            </a:prstGeom>
          </p:spPr>
          <p:txBody>
            <a:bodyPr lIns="48302" tIns="48302" rIns="48302" bIns="48302" rtlCol="0" anchor="ctr"/>
            <a:lstStyle/>
            <a:p>
              <a:pPr algn="ctr">
                <a:lnSpc>
                  <a:spcPts val="2529"/>
                </a:lnSpc>
              </a:pPr>
              <a:endParaRPr/>
            </a:p>
          </p:txBody>
        </p:sp>
      </p:grpSp>
      <p:grpSp>
        <p:nvGrpSpPr>
          <p:cNvPr id="5" name="Group 5"/>
          <p:cNvGrpSpPr/>
          <p:nvPr/>
        </p:nvGrpSpPr>
        <p:grpSpPr>
          <a:xfrm>
            <a:off x="3962251" y="2577961"/>
            <a:ext cx="1737466" cy="173746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70FF"/>
            </a:solidFill>
          </p:spPr>
        </p:sp>
        <p:sp>
          <p:nvSpPr>
            <p:cNvPr id="7" name="TextBox 7"/>
            <p:cNvSpPr txBox="1"/>
            <p:nvPr/>
          </p:nvSpPr>
          <p:spPr>
            <a:xfrm>
              <a:off x="76200" y="19050"/>
              <a:ext cx="660400" cy="717550"/>
            </a:xfrm>
            <a:prstGeom prst="rect">
              <a:avLst/>
            </a:prstGeom>
          </p:spPr>
          <p:txBody>
            <a:bodyPr lIns="48302" tIns="48302" rIns="48302" bIns="48302" rtlCol="0" anchor="ctr"/>
            <a:lstStyle/>
            <a:p>
              <a:pPr algn="ctr">
                <a:lnSpc>
                  <a:spcPts val="2529"/>
                </a:lnSpc>
              </a:pPr>
              <a:endParaRPr/>
            </a:p>
          </p:txBody>
        </p:sp>
      </p:grpSp>
      <p:grpSp>
        <p:nvGrpSpPr>
          <p:cNvPr id="8" name="Group 8"/>
          <p:cNvGrpSpPr/>
          <p:nvPr/>
        </p:nvGrpSpPr>
        <p:grpSpPr>
          <a:xfrm>
            <a:off x="9241303" y="3526811"/>
            <a:ext cx="7036670" cy="2880339"/>
            <a:chOff x="0" y="0"/>
            <a:chExt cx="1914854" cy="783812"/>
          </a:xfrm>
        </p:grpSpPr>
        <p:sp>
          <p:nvSpPr>
            <p:cNvPr id="9" name="Freeform 9"/>
            <p:cNvSpPr/>
            <p:nvPr/>
          </p:nvSpPr>
          <p:spPr>
            <a:xfrm>
              <a:off x="0" y="0"/>
              <a:ext cx="1914854" cy="783812"/>
            </a:xfrm>
            <a:custGeom>
              <a:avLst/>
              <a:gdLst/>
              <a:ahLst/>
              <a:cxnLst/>
              <a:rect l="l" t="t" r="r" b="b"/>
              <a:pathLst>
                <a:path w="1914854" h="783812">
                  <a:moveTo>
                    <a:pt x="52811" y="0"/>
                  </a:moveTo>
                  <a:lnTo>
                    <a:pt x="1862043" y="0"/>
                  </a:lnTo>
                  <a:cubicBezTo>
                    <a:pt x="1876049" y="0"/>
                    <a:pt x="1889482" y="5564"/>
                    <a:pt x="1899386" y="15468"/>
                  </a:cubicBezTo>
                  <a:cubicBezTo>
                    <a:pt x="1909290" y="25372"/>
                    <a:pt x="1914854" y="38805"/>
                    <a:pt x="1914854" y="52811"/>
                  </a:cubicBezTo>
                  <a:lnTo>
                    <a:pt x="1914854" y="731001"/>
                  </a:lnTo>
                  <a:cubicBezTo>
                    <a:pt x="1914854" y="745008"/>
                    <a:pt x="1909290" y="758440"/>
                    <a:pt x="1899386" y="768344"/>
                  </a:cubicBezTo>
                  <a:cubicBezTo>
                    <a:pt x="1889482" y="778248"/>
                    <a:pt x="1876049" y="783812"/>
                    <a:pt x="1862043" y="783812"/>
                  </a:cubicBezTo>
                  <a:lnTo>
                    <a:pt x="52811" y="783812"/>
                  </a:lnTo>
                  <a:cubicBezTo>
                    <a:pt x="38805" y="783812"/>
                    <a:pt x="25372" y="778248"/>
                    <a:pt x="15468" y="768344"/>
                  </a:cubicBezTo>
                  <a:cubicBezTo>
                    <a:pt x="5564" y="758440"/>
                    <a:pt x="0" y="745008"/>
                    <a:pt x="0" y="731001"/>
                  </a:cubicBezTo>
                  <a:lnTo>
                    <a:pt x="0" y="52811"/>
                  </a:lnTo>
                  <a:cubicBezTo>
                    <a:pt x="0" y="38805"/>
                    <a:pt x="5564" y="25372"/>
                    <a:pt x="15468" y="15468"/>
                  </a:cubicBezTo>
                  <a:cubicBezTo>
                    <a:pt x="25372" y="5564"/>
                    <a:pt x="38805" y="0"/>
                    <a:pt x="52811" y="0"/>
                  </a:cubicBezTo>
                  <a:close/>
                </a:path>
              </a:pathLst>
            </a:custGeom>
            <a:solidFill>
              <a:srgbClr val="D5BC89"/>
            </a:solidFill>
          </p:spPr>
        </p:sp>
        <p:sp>
          <p:nvSpPr>
            <p:cNvPr id="10" name="TextBox 10"/>
            <p:cNvSpPr txBox="1"/>
            <p:nvPr/>
          </p:nvSpPr>
          <p:spPr>
            <a:xfrm>
              <a:off x="0" y="-57150"/>
              <a:ext cx="1914854" cy="840962"/>
            </a:xfrm>
            <a:prstGeom prst="rect">
              <a:avLst/>
            </a:prstGeom>
          </p:spPr>
          <p:txBody>
            <a:bodyPr lIns="48302" tIns="48302" rIns="48302" bIns="48302" rtlCol="0" anchor="ctr"/>
            <a:lstStyle/>
            <a:p>
              <a:pPr algn="ctr">
                <a:lnSpc>
                  <a:spcPts val="2529"/>
                </a:lnSpc>
              </a:pPr>
              <a:endParaRPr/>
            </a:p>
          </p:txBody>
        </p:sp>
      </p:grpSp>
      <p:grpSp>
        <p:nvGrpSpPr>
          <p:cNvPr id="11" name="Group 11"/>
          <p:cNvGrpSpPr/>
          <p:nvPr/>
        </p:nvGrpSpPr>
        <p:grpSpPr>
          <a:xfrm>
            <a:off x="11758717" y="2577961"/>
            <a:ext cx="1737466" cy="1737466"/>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CED"/>
            </a:solidFill>
          </p:spPr>
        </p:sp>
        <p:sp>
          <p:nvSpPr>
            <p:cNvPr id="13" name="TextBox 13"/>
            <p:cNvSpPr txBox="1"/>
            <p:nvPr/>
          </p:nvSpPr>
          <p:spPr>
            <a:xfrm>
              <a:off x="76200" y="19050"/>
              <a:ext cx="660400" cy="717550"/>
            </a:xfrm>
            <a:prstGeom prst="rect">
              <a:avLst/>
            </a:prstGeom>
          </p:spPr>
          <p:txBody>
            <a:bodyPr lIns="48302" tIns="48302" rIns="48302" bIns="48302" rtlCol="0" anchor="ctr"/>
            <a:lstStyle/>
            <a:p>
              <a:pPr algn="ctr">
                <a:lnSpc>
                  <a:spcPts val="2529"/>
                </a:lnSpc>
              </a:pPr>
              <a:endParaRPr/>
            </a:p>
          </p:txBody>
        </p:sp>
      </p:grpSp>
      <p:sp>
        <p:nvSpPr>
          <p:cNvPr id="14" name="Freeform 14"/>
          <p:cNvSpPr/>
          <p:nvPr/>
        </p:nvSpPr>
        <p:spPr>
          <a:xfrm>
            <a:off x="4135983" y="2897659"/>
            <a:ext cx="1269036" cy="1035856"/>
          </a:xfrm>
          <a:custGeom>
            <a:avLst/>
            <a:gdLst/>
            <a:ahLst/>
            <a:cxnLst/>
            <a:rect l="l" t="t" r="r" b="b"/>
            <a:pathLst>
              <a:path w="1269036" h="1035856">
                <a:moveTo>
                  <a:pt x="0" y="0"/>
                </a:moveTo>
                <a:lnTo>
                  <a:pt x="1269036" y="0"/>
                </a:lnTo>
                <a:lnTo>
                  <a:pt x="1269036" y="1035856"/>
                </a:lnTo>
                <a:lnTo>
                  <a:pt x="0" y="10358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12035517" y="2897659"/>
            <a:ext cx="1247258" cy="1089586"/>
          </a:xfrm>
          <a:custGeom>
            <a:avLst/>
            <a:gdLst/>
            <a:ahLst/>
            <a:cxnLst/>
            <a:rect l="l" t="t" r="r" b="b"/>
            <a:pathLst>
              <a:path w="1247258" h="1089586">
                <a:moveTo>
                  <a:pt x="0" y="0"/>
                </a:moveTo>
                <a:lnTo>
                  <a:pt x="1247259" y="0"/>
                </a:lnTo>
                <a:lnTo>
                  <a:pt x="1247259" y="1089586"/>
                </a:lnTo>
                <a:lnTo>
                  <a:pt x="0" y="108958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6" name="TextBox 16"/>
          <p:cNvSpPr txBox="1"/>
          <p:nvPr/>
        </p:nvSpPr>
        <p:spPr>
          <a:xfrm>
            <a:off x="2847026" y="4401153"/>
            <a:ext cx="4102381" cy="384175"/>
          </a:xfrm>
          <a:prstGeom prst="rect">
            <a:avLst/>
          </a:prstGeom>
        </p:spPr>
        <p:txBody>
          <a:bodyPr lIns="0" tIns="0" rIns="0" bIns="0" rtlCol="0" anchor="t">
            <a:spAutoFit/>
          </a:bodyPr>
          <a:lstStyle/>
          <a:p>
            <a:pPr marL="0" lvl="0" indent="0" algn="ctr">
              <a:lnSpc>
                <a:spcPts val="2824"/>
              </a:lnSpc>
            </a:pPr>
            <a:r>
              <a:rPr lang="en-US" sz="2499" b="1">
                <a:solidFill>
                  <a:srgbClr val="000000"/>
                </a:solidFill>
                <a:latin typeface="Poppins Bold"/>
                <a:ea typeface="Poppins Bold"/>
                <a:cs typeface="Poppins Bold"/>
                <a:sym typeface="Poppins Bold"/>
              </a:rPr>
              <a:t>Estimación del tamaño</a:t>
            </a:r>
          </a:p>
        </p:txBody>
      </p:sp>
      <p:sp>
        <p:nvSpPr>
          <p:cNvPr id="17" name="TextBox 17"/>
          <p:cNvSpPr txBox="1"/>
          <p:nvPr/>
        </p:nvSpPr>
        <p:spPr>
          <a:xfrm>
            <a:off x="10944797" y="4401153"/>
            <a:ext cx="3365307" cy="384175"/>
          </a:xfrm>
          <a:prstGeom prst="rect">
            <a:avLst/>
          </a:prstGeom>
        </p:spPr>
        <p:txBody>
          <a:bodyPr lIns="0" tIns="0" rIns="0" bIns="0" rtlCol="0" anchor="t">
            <a:spAutoFit/>
          </a:bodyPr>
          <a:lstStyle/>
          <a:p>
            <a:pPr marL="0" lvl="0" indent="0" algn="ctr">
              <a:lnSpc>
                <a:spcPts val="2824"/>
              </a:lnSpc>
            </a:pPr>
            <a:r>
              <a:rPr lang="en-US" sz="2499" b="1">
                <a:solidFill>
                  <a:srgbClr val="000000"/>
                </a:solidFill>
                <a:latin typeface="Poppins Bold"/>
                <a:ea typeface="Poppins Bold"/>
                <a:cs typeface="Poppins Bold"/>
                <a:sym typeface="Poppins Bold"/>
              </a:rPr>
              <a:t>Informe del alcance</a:t>
            </a:r>
          </a:p>
        </p:txBody>
      </p:sp>
      <p:sp>
        <p:nvSpPr>
          <p:cNvPr id="18" name="TextBox 18"/>
          <p:cNvSpPr txBox="1"/>
          <p:nvPr/>
        </p:nvSpPr>
        <p:spPr>
          <a:xfrm>
            <a:off x="1233418" y="458159"/>
            <a:ext cx="15519400" cy="1895475"/>
          </a:xfrm>
          <a:prstGeom prst="rect">
            <a:avLst/>
          </a:prstGeom>
        </p:spPr>
        <p:txBody>
          <a:bodyPr lIns="0" tIns="0" rIns="0" bIns="0" rtlCol="0" anchor="t">
            <a:spAutoFit/>
          </a:bodyPr>
          <a:lstStyle/>
          <a:p>
            <a:pPr marL="0" lvl="0" indent="0" algn="ctr">
              <a:lnSpc>
                <a:spcPts val="7440"/>
              </a:lnSpc>
              <a:spcBef>
                <a:spcPct val="0"/>
              </a:spcBef>
            </a:pPr>
            <a:r>
              <a:rPr lang="en-US" sz="6200" b="1" spc="-279">
                <a:solidFill>
                  <a:srgbClr val="EDECED"/>
                </a:solidFill>
                <a:latin typeface="Antonio Bold"/>
                <a:ea typeface="Antonio Bold"/>
                <a:cs typeface="Antonio Bold"/>
                <a:sym typeface="Antonio Bold"/>
              </a:rPr>
              <a:t>RELACIÓN ENTRE LA ESTIMACIÓN DEL TAMAÑO </a:t>
            </a:r>
          </a:p>
          <a:p>
            <a:pPr marL="0" lvl="0" indent="0" algn="ctr">
              <a:lnSpc>
                <a:spcPts val="7440"/>
              </a:lnSpc>
              <a:spcBef>
                <a:spcPct val="0"/>
              </a:spcBef>
            </a:pPr>
            <a:r>
              <a:rPr lang="en-US" sz="6200" b="1" spc="-279">
                <a:solidFill>
                  <a:srgbClr val="EDECED"/>
                </a:solidFill>
                <a:latin typeface="Antonio Bold"/>
                <a:ea typeface="Antonio Bold"/>
                <a:cs typeface="Antonio Bold"/>
                <a:sym typeface="Antonio Bold"/>
              </a:rPr>
              <a:t>DEL SOFTWARE Y EL ALCANCE</a:t>
            </a:r>
          </a:p>
        </p:txBody>
      </p:sp>
      <p:grpSp>
        <p:nvGrpSpPr>
          <p:cNvPr id="19" name="Group 19"/>
          <p:cNvGrpSpPr/>
          <p:nvPr/>
        </p:nvGrpSpPr>
        <p:grpSpPr>
          <a:xfrm>
            <a:off x="-2062688" y="9715955"/>
            <a:ext cx="21014417" cy="1392272"/>
            <a:chOff x="0" y="0"/>
            <a:chExt cx="3300463" cy="218666"/>
          </a:xfrm>
        </p:grpSpPr>
        <p:sp>
          <p:nvSpPr>
            <p:cNvPr id="20" name="Freeform 20"/>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EDECED"/>
            </a:solidFill>
          </p:spPr>
        </p:sp>
        <p:sp>
          <p:nvSpPr>
            <p:cNvPr id="21" name="TextBox 21"/>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2406350" y="4957456"/>
            <a:ext cx="4876582" cy="1089025"/>
          </a:xfrm>
          <a:prstGeom prst="rect">
            <a:avLst/>
          </a:prstGeom>
        </p:spPr>
        <p:txBody>
          <a:bodyPr lIns="0" tIns="0" rIns="0" bIns="0" rtlCol="0" anchor="t">
            <a:spAutoFit/>
          </a:bodyPr>
          <a:lstStyle/>
          <a:p>
            <a:pPr marL="539749" lvl="1" indent="-269875" algn="l">
              <a:lnSpc>
                <a:spcPts val="2824"/>
              </a:lnSpc>
              <a:buFont typeface="Arial"/>
              <a:buChar char="•"/>
            </a:pPr>
            <a:r>
              <a:rPr lang="en-US" sz="2499">
                <a:solidFill>
                  <a:srgbClr val="000000"/>
                </a:solidFill>
                <a:latin typeface="Poppins"/>
                <a:ea typeface="Poppins"/>
                <a:cs typeface="Poppins"/>
                <a:sym typeface="Poppins"/>
              </a:rPr>
              <a:t>Define cuantas funciones</a:t>
            </a:r>
          </a:p>
          <a:p>
            <a:pPr marL="539749" lvl="1" indent="-269875" algn="l">
              <a:lnSpc>
                <a:spcPts val="2824"/>
              </a:lnSpc>
              <a:buFont typeface="Arial"/>
              <a:buChar char="•"/>
            </a:pPr>
            <a:r>
              <a:rPr lang="en-US" sz="2499">
                <a:solidFill>
                  <a:srgbClr val="000000"/>
                </a:solidFill>
                <a:latin typeface="Poppins"/>
                <a:ea typeface="Poppins"/>
                <a:cs typeface="Poppins"/>
                <a:sym typeface="Poppins"/>
              </a:rPr>
              <a:t>Impacta esfuerzo y costo</a:t>
            </a:r>
          </a:p>
          <a:p>
            <a:pPr marL="539749" lvl="1" indent="-269875" algn="l">
              <a:lnSpc>
                <a:spcPts val="2824"/>
              </a:lnSpc>
              <a:buFont typeface="Arial"/>
              <a:buChar char="•"/>
            </a:pPr>
            <a:r>
              <a:rPr lang="en-US" sz="2499">
                <a:solidFill>
                  <a:srgbClr val="000000"/>
                </a:solidFill>
                <a:latin typeface="Poppins"/>
                <a:ea typeface="Poppins"/>
                <a:cs typeface="Poppins"/>
                <a:sym typeface="Poppins"/>
              </a:rPr>
              <a:t>Base para la planificación</a:t>
            </a:r>
          </a:p>
        </p:txBody>
      </p:sp>
      <p:sp>
        <p:nvSpPr>
          <p:cNvPr id="23" name="TextBox 23"/>
          <p:cNvSpPr txBox="1"/>
          <p:nvPr/>
        </p:nvSpPr>
        <p:spPr>
          <a:xfrm>
            <a:off x="9843081" y="4912172"/>
            <a:ext cx="5833115" cy="1089025"/>
          </a:xfrm>
          <a:prstGeom prst="rect">
            <a:avLst/>
          </a:prstGeom>
        </p:spPr>
        <p:txBody>
          <a:bodyPr lIns="0" tIns="0" rIns="0" bIns="0" rtlCol="0" anchor="t">
            <a:spAutoFit/>
          </a:bodyPr>
          <a:lstStyle/>
          <a:p>
            <a:pPr marL="539749" lvl="1" indent="-269875" algn="l">
              <a:lnSpc>
                <a:spcPts val="2824"/>
              </a:lnSpc>
              <a:buFont typeface="Arial"/>
              <a:buChar char="•"/>
            </a:pPr>
            <a:r>
              <a:rPr lang="en-US" sz="2499">
                <a:solidFill>
                  <a:srgbClr val="000000"/>
                </a:solidFill>
                <a:latin typeface="Poppins"/>
                <a:ea typeface="Poppins"/>
                <a:cs typeface="Poppins"/>
                <a:sym typeface="Poppins"/>
              </a:rPr>
              <a:t>Define cuales funciones</a:t>
            </a:r>
          </a:p>
          <a:p>
            <a:pPr marL="539749" lvl="1" indent="-269875" algn="l">
              <a:lnSpc>
                <a:spcPts val="2824"/>
              </a:lnSpc>
              <a:buFont typeface="Arial"/>
              <a:buChar char="•"/>
            </a:pPr>
            <a:r>
              <a:rPr lang="en-US" sz="2499">
                <a:solidFill>
                  <a:srgbClr val="000000"/>
                </a:solidFill>
                <a:latin typeface="Poppins"/>
                <a:ea typeface="Poppins"/>
                <a:cs typeface="Poppins"/>
                <a:sym typeface="Poppins"/>
              </a:rPr>
              <a:t>Limita lo que se construirá</a:t>
            </a:r>
          </a:p>
          <a:p>
            <a:pPr marL="539749" lvl="1" indent="-269875" algn="l">
              <a:lnSpc>
                <a:spcPts val="2824"/>
              </a:lnSpc>
              <a:buFont typeface="Arial"/>
              <a:buChar char="•"/>
            </a:pPr>
            <a:r>
              <a:rPr lang="en-US" sz="2499">
                <a:solidFill>
                  <a:srgbClr val="000000"/>
                </a:solidFill>
                <a:latin typeface="Poppins"/>
                <a:ea typeface="Poppins"/>
                <a:cs typeface="Poppins"/>
                <a:sym typeface="Poppins"/>
              </a:rPr>
              <a:t>Base para el control de cambios</a:t>
            </a:r>
          </a:p>
        </p:txBody>
      </p:sp>
      <p:grpSp>
        <p:nvGrpSpPr>
          <p:cNvPr id="24" name="Group 24"/>
          <p:cNvGrpSpPr/>
          <p:nvPr/>
        </p:nvGrpSpPr>
        <p:grpSpPr>
          <a:xfrm>
            <a:off x="1755092" y="6826250"/>
            <a:ext cx="14522882" cy="2365375"/>
            <a:chOff x="0" y="0"/>
            <a:chExt cx="3952039" cy="643678"/>
          </a:xfrm>
        </p:grpSpPr>
        <p:sp>
          <p:nvSpPr>
            <p:cNvPr id="25" name="Freeform 25"/>
            <p:cNvSpPr/>
            <p:nvPr/>
          </p:nvSpPr>
          <p:spPr>
            <a:xfrm>
              <a:off x="0" y="0"/>
              <a:ext cx="3952039" cy="643678"/>
            </a:xfrm>
            <a:custGeom>
              <a:avLst/>
              <a:gdLst/>
              <a:ahLst/>
              <a:cxnLst/>
              <a:rect l="l" t="t" r="r" b="b"/>
              <a:pathLst>
                <a:path w="3952039" h="643678">
                  <a:moveTo>
                    <a:pt x="25588" y="0"/>
                  </a:moveTo>
                  <a:lnTo>
                    <a:pt x="3926451" y="0"/>
                  </a:lnTo>
                  <a:cubicBezTo>
                    <a:pt x="3940583" y="0"/>
                    <a:pt x="3952039" y="11456"/>
                    <a:pt x="3952039" y="25588"/>
                  </a:cubicBezTo>
                  <a:lnTo>
                    <a:pt x="3952039" y="618090"/>
                  </a:lnTo>
                  <a:cubicBezTo>
                    <a:pt x="3952039" y="632221"/>
                    <a:pt x="3940583" y="643678"/>
                    <a:pt x="3926451" y="643678"/>
                  </a:cubicBezTo>
                  <a:lnTo>
                    <a:pt x="25588" y="643678"/>
                  </a:lnTo>
                  <a:cubicBezTo>
                    <a:pt x="11456" y="643678"/>
                    <a:pt x="0" y="632221"/>
                    <a:pt x="0" y="618090"/>
                  </a:cubicBezTo>
                  <a:lnTo>
                    <a:pt x="0" y="25588"/>
                  </a:lnTo>
                  <a:cubicBezTo>
                    <a:pt x="0" y="11456"/>
                    <a:pt x="11456" y="0"/>
                    <a:pt x="25588" y="0"/>
                  </a:cubicBezTo>
                  <a:close/>
                </a:path>
              </a:pathLst>
            </a:custGeom>
            <a:solidFill>
              <a:srgbClr val="EDECED"/>
            </a:solidFill>
          </p:spPr>
        </p:sp>
        <p:sp>
          <p:nvSpPr>
            <p:cNvPr id="26" name="TextBox 26"/>
            <p:cNvSpPr txBox="1"/>
            <p:nvPr/>
          </p:nvSpPr>
          <p:spPr>
            <a:xfrm>
              <a:off x="0" y="-57150"/>
              <a:ext cx="3952039" cy="700828"/>
            </a:xfrm>
            <a:prstGeom prst="rect">
              <a:avLst/>
            </a:prstGeom>
          </p:spPr>
          <p:txBody>
            <a:bodyPr lIns="48302" tIns="48302" rIns="48302" bIns="48302" rtlCol="0" anchor="ctr"/>
            <a:lstStyle/>
            <a:p>
              <a:pPr algn="ctr">
                <a:lnSpc>
                  <a:spcPts val="2529"/>
                </a:lnSpc>
              </a:pPr>
              <a:endParaRPr/>
            </a:p>
          </p:txBody>
        </p:sp>
      </p:grpSp>
      <p:grpSp>
        <p:nvGrpSpPr>
          <p:cNvPr id="27" name="Group 27"/>
          <p:cNvGrpSpPr/>
          <p:nvPr/>
        </p:nvGrpSpPr>
        <p:grpSpPr>
          <a:xfrm>
            <a:off x="829118" y="7310048"/>
            <a:ext cx="1577233" cy="1577233"/>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170FF"/>
            </a:solidFill>
          </p:spPr>
        </p:sp>
        <p:sp>
          <p:nvSpPr>
            <p:cNvPr id="29" name="TextBox 29"/>
            <p:cNvSpPr txBox="1"/>
            <p:nvPr/>
          </p:nvSpPr>
          <p:spPr>
            <a:xfrm>
              <a:off x="76200" y="19050"/>
              <a:ext cx="660400" cy="717550"/>
            </a:xfrm>
            <a:prstGeom prst="rect">
              <a:avLst/>
            </a:prstGeom>
          </p:spPr>
          <p:txBody>
            <a:bodyPr lIns="48302" tIns="48302" rIns="48302" bIns="48302" rtlCol="0" anchor="ctr"/>
            <a:lstStyle/>
            <a:p>
              <a:pPr algn="ctr">
                <a:lnSpc>
                  <a:spcPts val="2529"/>
                </a:lnSpc>
              </a:pPr>
              <a:endParaRPr/>
            </a:p>
          </p:txBody>
        </p:sp>
      </p:grpSp>
      <p:sp>
        <p:nvSpPr>
          <p:cNvPr id="30" name="Freeform 30"/>
          <p:cNvSpPr/>
          <p:nvPr/>
        </p:nvSpPr>
        <p:spPr>
          <a:xfrm>
            <a:off x="1018870" y="7471466"/>
            <a:ext cx="1192574" cy="1126961"/>
          </a:xfrm>
          <a:custGeom>
            <a:avLst/>
            <a:gdLst/>
            <a:ahLst/>
            <a:cxnLst/>
            <a:rect l="l" t="t" r="r" b="b"/>
            <a:pathLst>
              <a:path w="1192574" h="1126961">
                <a:moveTo>
                  <a:pt x="0" y="0"/>
                </a:moveTo>
                <a:lnTo>
                  <a:pt x="1192574" y="0"/>
                </a:lnTo>
                <a:lnTo>
                  <a:pt x="1192574" y="1126961"/>
                </a:lnTo>
                <a:lnTo>
                  <a:pt x="0" y="112696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1" name="TextBox 31"/>
          <p:cNvSpPr txBox="1"/>
          <p:nvPr/>
        </p:nvSpPr>
        <p:spPr>
          <a:xfrm>
            <a:off x="2595265" y="7093405"/>
            <a:ext cx="13416233" cy="1793875"/>
          </a:xfrm>
          <a:prstGeom prst="rect">
            <a:avLst/>
          </a:prstGeom>
        </p:spPr>
        <p:txBody>
          <a:bodyPr lIns="0" tIns="0" rIns="0" bIns="0" rtlCol="0" anchor="t">
            <a:spAutoFit/>
          </a:bodyPr>
          <a:lstStyle/>
          <a:p>
            <a:pPr marL="539749" lvl="1" indent="-269875" algn="l">
              <a:lnSpc>
                <a:spcPts val="2824"/>
              </a:lnSpc>
              <a:buFont typeface="Arial"/>
              <a:buChar char="•"/>
            </a:pPr>
            <a:r>
              <a:rPr lang="en-US" sz="2499">
                <a:solidFill>
                  <a:srgbClr val="000000"/>
                </a:solidFill>
                <a:latin typeface="Poppins"/>
                <a:ea typeface="Poppins"/>
                <a:cs typeface="Poppins"/>
                <a:sym typeface="Poppins"/>
              </a:rPr>
              <a:t>En proyectos de software, la correcta estimación del tamaño permite definir un alcance realista. </a:t>
            </a:r>
          </a:p>
          <a:p>
            <a:pPr marL="539749" lvl="1" indent="-269875" algn="l">
              <a:lnSpc>
                <a:spcPts val="2824"/>
              </a:lnSpc>
              <a:buFont typeface="Arial"/>
              <a:buChar char="•"/>
            </a:pPr>
            <a:r>
              <a:rPr lang="en-US" sz="2499">
                <a:solidFill>
                  <a:srgbClr val="000000"/>
                </a:solidFill>
                <a:latin typeface="Poppins"/>
                <a:ea typeface="Poppins"/>
                <a:cs typeface="Poppins"/>
                <a:sym typeface="Poppins"/>
              </a:rPr>
              <a:t>El informe del alcance establece los límites del proyecto y controla los cambios.</a:t>
            </a:r>
          </a:p>
          <a:p>
            <a:pPr marL="539749" lvl="1" indent="-269875" algn="l">
              <a:lnSpc>
                <a:spcPts val="2824"/>
              </a:lnSpc>
              <a:buFont typeface="Arial"/>
              <a:buChar char="•"/>
            </a:pPr>
            <a:r>
              <a:rPr lang="en-US" sz="2499">
                <a:solidFill>
                  <a:srgbClr val="000000"/>
                </a:solidFill>
                <a:latin typeface="Poppins"/>
                <a:ea typeface="Poppins"/>
                <a:cs typeface="Poppins"/>
                <a:sym typeface="Poppins"/>
              </a:rPr>
              <a:t>Ambos procesos, integrados adecuadamente, son fundamentales para el éxito del proyecto.</a:t>
            </a:r>
          </a:p>
        </p:txBody>
      </p:sp>
    </p:spTree>
  </p:cSld>
  <p:clrMapOvr>
    <a:masterClrMapping/>
  </p:clrMapOvr>
  <p:transition>
    <p:cover dir="d"/>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DECED"/>
        </a:solidFill>
        <a:effectLst/>
      </p:bgPr>
    </p:bg>
    <p:spTree>
      <p:nvGrpSpPr>
        <p:cNvPr id="1" name=""/>
        <p:cNvGrpSpPr/>
        <p:nvPr/>
      </p:nvGrpSpPr>
      <p:grpSpPr>
        <a:xfrm>
          <a:off x="0" y="0"/>
          <a:ext cx="0" cy="0"/>
          <a:chOff x="0" y="0"/>
          <a:chExt cx="0" cy="0"/>
        </a:xfrm>
      </p:grpSpPr>
      <p:sp>
        <p:nvSpPr>
          <p:cNvPr id="2" name="Freeform 2"/>
          <p:cNvSpPr/>
          <p:nvPr/>
        </p:nvSpPr>
        <p:spPr>
          <a:xfrm>
            <a:off x="16086832" y="7215179"/>
            <a:ext cx="1906823" cy="2043121"/>
          </a:xfrm>
          <a:custGeom>
            <a:avLst/>
            <a:gdLst/>
            <a:ahLst/>
            <a:cxnLst/>
            <a:rect l="l" t="t" r="r" b="b"/>
            <a:pathLst>
              <a:path w="1906823" h="2043121">
                <a:moveTo>
                  <a:pt x="0" y="0"/>
                </a:moveTo>
                <a:lnTo>
                  <a:pt x="1906824" y="0"/>
                </a:lnTo>
                <a:lnTo>
                  <a:pt x="1906824" y="2043121"/>
                </a:lnTo>
                <a:lnTo>
                  <a:pt x="0" y="20431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313291" y="1689700"/>
            <a:ext cx="15946009" cy="971625"/>
          </a:xfrm>
          <a:prstGeom prst="rect">
            <a:avLst/>
          </a:prstGeom>
        </p:spPr>
        <p:txBody>
          <a:bodyPr lIns="0" tIns="0" rIns="0" bIns="0" rtlCol="0" anchor="t">
            <a:spAutoFit/>
          </a:bodyPr>
          <a:lstStyle/>
          <a:p>
            <a:pPr marL="0" lvl="0" indent="0" algn="just">
              <a:lnSpc>
                <a:spcPts val="2481"/>
              </a:lnSpc>
            </a:pPr>
            <a:r>
              <a:rPr lang="en-US" sz="2255">
                <a:solidFill>
                  <a:srgbClr val="000000"/>
                </a:solidFill>
                <a:latin typeface="Poppins"/>
                <a:ea typeface="Poppins"/>
                <a:cs typeface="Poppins"/>
                <a:sym typeface="Poppins"/>
              </a:rPr>
              <a:t>[1]. GeeksforGeeks. (2025, 11 de julio). Project Size Estimation Techniques – Software Engineering. Recuperado el 20 de febrero de 2026, de </a:t>
            </a:r>
            <a:r>
              <a:rPr lang="en-US" sz="2255">
                <a:solidFill>
                  <a:srgbClr val="000000"/>
                </a:solidFill>
                <a:latin typeface="Poppins"/>
                <a:ea typeface="Poppins"/>
                <a:cs typeface="Poppins"/>
                <a:sym typeface="Poppins"/>
                <a:hlinkClick r:id="rId4" tooltip="https://www.geeksforgeeks.org/software-engineering/software-engineering-project-size-estimation-techniques/"/>
              </a:rPr>
              <a:t>https://www.geeksforgeeks.org/software-engineering/software-engineering-project-size-estimation-techniques/</a:t>
            </a:r>
          </a:p>
        </p:txBody>
      </p:sp>
      <p:sp>
        <p:nvSpPr>
          <p:cNvPr id="4" name="TextBox 4"/>
          <p:cNvSpPr txBox="1"/>
          <p:nvPr/>
        </p:nvSpPr>
        <p:spPr>
          <a:xfrm>
            <a:off x="830857" y="600375"/>
            <a:ext cx="16428443" cy="784225"/>
          </a:xfrm>
          <a:prstGeom prst="rect">
            <a:avLst/>
          </a:prstGeom>
        </p:spPr>
        <p:txBody>
          <a:bodyPr lIns="0" tIns="0" rIns="0" bIns="0" rtlCol="0" anchor="t">
            <a:spAutoFit/>
          </a:bodyPr>
          <a:lstStyle/>
          <a:p>
            <a:pPr marL="0" lvl="0" indent="0" algn="ctr">
              <a:lnSpc>
                <a:spcPts val="6049"/>
              </a:lnSpc>
            </a:pPr>
            <a:r>
              <a:rPr lang="en-US" sz="5499" b="1" spc="-247">
                <a:solidFill>
                  <a:srgbClr val="000000"/>
                </a:solidFill>
                <a:latin typeface="Antonio Bold"/>
                <a:ea typeface="Antonio Bold"/>
                <a:cs typeface="Antonio Bold"/>
                <a:sym typeface="Antonio Bold"/>
              </a:rPr>
              <a:t>REFERENCIAS BIBLIOGRÁFICAS</a:t>
            </a:r>
          </a:p>
        </p:txBody>
      </p:sp>
      <p:grpSp>
        <p:nvGrpSpPr>
          <p:cNvPr id="5" name="Group 5"/>
          <p:cNvGrpSpPr/>
          <p:nvPr/>
        </p:nvGrpSpPr>
        <p:grpSpPr>
          <a:xfrm>
            <a:off x="-2062688" y="9715955"/>
            <a:ext cx="21014417" cy="1392272"/>
            <a:chOff x="0" y="0"/>
            <a:chExt cx="3300463" cy="218666"/>
          </a:xfrm>
        </p:grpSpPr>
        <p:sp>
          <p:nvSpPr>
            <p:cNvPr id="6" name="Freeform 6"/>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741F89"/>
            </a:solidFill>
          </p:spPr>
        </p:sp>
        <p:sp>
          <p:nvSpPr>
            <p:cNvPr id="7" name="TextBox 7"/>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313291" y="2947639"/>
            <a:ext cx="15946009" cy="657300"/>
          </a:xfrm>
          <a:prstGeom prst="rect">
            <a:avLst/>
          </a:prstGeom>
        </p:spPr>
        <p:txBody>
          <a:bodyPr lIns="0" tIns="0" rIns="0" bIns="0" rtlCol="0" anchor="t">
            <a:spAutoFit/>
          </a:bodyPr>
          <a:lstStyle/>
          <a:p>
            <a:pPr marL="0" lvl="0" indent="0" algn="just">
              <a:lnSpc>
                <a:spcPts val="2481"/>
              </a:lnSpc>
            </a:pPr>
            <a:r>
              <a:rPr lang="en-US" sz="2255">
                <a:solidFill>
                  <a:srgbClr val="000000"/>
                </a:solidFill>
                <a:latin typeface="Poppins"/>
                <a:ea typeface="Poppins"/>
                <a:cs typeface="Poppins"/>
                <a:sym typeface="Poppins"/>
              </a:rPr>
              <a:t>[2]. Project Management Institute. (2017). A guide to the Project Management Body of Knowledge (PMBOK® Guide) (6.ª ed</a:t>
            </a:r>
            <a:r>
              <a:rPr lang="en-US" sz="2255" u="none">
                <a:solidFill>
                  <a:srgbClr val="000000"/>
                </a:solidFill>
                <a:latin typeface="Poppins"/>
                <a:ea typeface="Poppins"/>
                <a:cs typeface="Poppins"/>
                <a:sym typeface="Poppins"/>
              </a:rPr>
              <a:t>.</a:t>
            </a:r>
            <a:r>
              <a:rPr lang="en-US" sz="2255">
                <a:solidFill>
                  <a:srgbClr val="000000"/>
                </a:solidFill>
                <a:latin typeface="Poppins"/>
                <a:ea typeface="Poppins"/>
                <a:cs typeface="Poppins"/>
                <a:sym typeface="Poppins"/>
              </a:rPr>
              <a:t>)</a:t>
            </a:r>
            <a:r>
              <a:rPr lang="en-US" sz="2255" u="none">
                <a:solidFill>
                  <a:srgbClr val="000000"/>
                </a:solidFill>
                <a:latin typeface="Poppins"/>
                <a:ea typeface="Poppins"/>
                <a:cs typeface="Poppins"/>
                <a:sym typeface="Poppins"/>
              </a:rPr>
              <a:t>.</a:t>
            </a:r>
            <a:r>
              <a:rPr lang="en-US" sz="2255">
                <a:solidFill>
                  <a:srgbClr val="000000"/>
                </a:solidFill>
                <a:latin typeface="Poppins"/>
                <a:ea typeface="Poppins"/>
                <a:cs typeface="Poppins"/>
                <a:sym typeface="Poppins"/>
              </a:rPr>
              <a:t> P</a:t>
            </a:r>
            <a:r>
              <a:rPr lang="en-US" sz="2255" u="none">
                <a:solidFill>
                  <a:srgbClr val="000000"/>
                </a:solidFill>
                <a:latin typeface="Poppins"/>
                <a:ea typeface="Poppins"/>
                <a:cs typeface="Poppins"/>
                <a:sym typeface="Poppins"/>
              </a:rPr>
              <a:t>ro</a:t>
            </a:r>
            <a:r>
              <a:rPr lang="en-US" sz="2255">
                <a:solidFill>
                  <a:srgbClr val="000000"/>
                </a:solidFill>
                <a:latin typeface="Poppins"/>
                <a:ea typeface="Poppins"/>
                <a:cs typeface="Poppins"/>
                <a:sym typeface="Poppins"/>
              </a:rPr>
              <a:t>jec</a:t>
            </a:r>
            <a:r>
              <a:rPr lang="en-US" sz="2255" u="none">
                <a:solidFill>
                  <a:srgbClr val="000000"/>
                </a:solidFill>
                <a:latin typeface="Poppins"/>
                <a:ea typeface="Poppins"/>
                <a:cs typeface="Poppins"/>
                <a:sym typeface="Poppins"/>
              </a:rPr>
              <a:t>t</a:t>
            </a:r>
            <a:r>
              <a:rPr lang="en-US" sz="2255">
                <a:solidFill>
                  <a:srgbClr val="000000"/>
                </a:solidFill>
                <a:latin typeface="Poppins"/>
                <a:ea typeface="Poppins"/>
                <a:cs typeface="Poppins"/>
                <a:sym typeface="Poppins"/>
              </a:rPr>
              <a:t> M</a:t>
            </a:r>
            <a:r>
              <a:rPr lang="en-US" sz="2255" u="none">
                <a:solidFill>
                  <a:srgbClr val="000000"/>
                </a:solidFill>
                <a:latin typeface="Poppins"/>
                <a:ea typeface="Poppins"/>
                <a:cs typeface="Poppins"/>
                <a:sym typeface="Poppins"/>
              </a:rPr>
              <a:t>anage</a:t>
            </a:r>
            <a:r>
              <a:rPr lang="en-US" sz="2255">
                <a:solidFill>
                  <a:srgbClr val="000000"/>
                </a:solidFill>
                <a:latin typeface="Poppins"/>
                <a:ea typeface="Poppins"/>
                <a:cs typeface="Poppins"/>
                <a:sym typeface="Poppins"/>
              </a:rPr>
              <a:t>m</a:t>
            </a:r>
            <a:r>
              <a:rPr lang="en-US" sz="2255" u="none">
                <a:solidFill>
                  <a:srgbClr val="000000"/>
                </a:solidFill>
                <a:latin typeface="Poppins"/>
                <a:ea typeface="Poppins"/>
                <a:cs typeface="Poppins"/>
                <a:sym typeface="Poppins"/>
              </a:rPr>
              <a:t>ent</a:t>
            </a:r>
            <a:r>
              <a:rPr lang="en-US" sz="2255">
                <a:solidFill>
                  <a:srgbClr val="000000"/>
                </a:solidFill>
                <a:latin typeface="Poppins"/>
                <a:ea typeface="Poppins"/>
                <a:cs typeface="Poppins"/>
                <a:sym typeface="Poppins"/>
              </a:rPr>
              <a:t> In</a:t>
            </a:r>
            <a:r>
              <a:rPr lang="en-US" sz="2255" u="none">
                <a:solidFill>
                  <a:srgbClr val="000000"/>
                </a:solidFill>
                <a:latin typeface="Poppins"/>
                <a:ea typeface="Poppins"/>
                <a:cs typeface="Poppins"/>
                <a:sym typeface="Poppins"/>
              </a:rPr>
              <a:t>stitu</a:t>
            </a:r>
            <a:r>
              <a:rPr lang="en-US" sz="2255">
                <a:solidFill>
                  <a:srgbClr val="000000"/>
                </a:solidFill>
                <a:latin typeface="Poppins"/>
                <a:ea typeface="Poppins"/>
                <a:cs typeface="Poppins"/>
                <a:sym typeface="Poppins"/>
              </a:rPr>
              <a:t>t</a:t>
            </a:r>
            <a:r>
              <a:rPr lang="en-US" sz="2255" u="none">
                <a:solidFill>
                  <a:srgbClr val="000000"/>
                </a:solidFill>
                <a:latin typeface="Poppins"/>
                <a:ea typeface="Poppins"/>
                <a:cs typeface="Poppins"/>
                <a:sym typeface="Poppins"/>
              </a:rPr>
              <a:t>e</a:t>
            </a:r>
            <a:r>
              <a:rPr lang="en-US" sz="2255">
                <a:solidFill>
                  <a:srgbClr val="000000"/>
                </a:solidFill>
                <a:latin typeface="Poppins"/>
                <a:ea typeface="Poppins"/>
                <a:cs typeface="Poppins"/>
                <a:sym typeface="Poppins"/>
              </a:rPr>
              <a:t>.</a:t>
            </a:r>
          </a:p>
        </p:txBody>
      </p:sp>
      <p:sp>
        <p:nvSpPr>
          <p:cNvPr id="9" name="TextBox 9"/>
          <p:cNvSpPr txBox="1"/>
          <p:nvPr/>
        </p:nvSpPr>
        <p:spPr>
          <a:xfrm>
            <a:off x="1313291" y="3897415"/>
            <a:ext cx="15946009" cy="1285950"/>
          </a:xfrm>
          <a:prstGeom prst="rect">
            <a:avLst/>
          </a:prstGeom>
        </p:spPr>
        <p:txBody>
          <a:bodyPr lIns="0" tIns="0" rIns="0" bIns="0" rtlCol="0" anchor="t">
            <a:spAutoFit/>
          </a:bodyPr>
          <a:lstStyle/>
          <a:p>
            <a:pPr marL="0" lvl="0" indent="0" algn="just">
              <a:lnSpc>
                <a:spcPts val="2481"/>
              </a:lnSpc>
            </a:pPr>
            <a:r>
              <a:rPr lang="en-US" sz="2255">
                <a:solidFill>
                  <a:srgbClr val="000000"/>
                </a:solidFill>
                <a:latin typeface="Poppins"/>
                <a:ea typeface="Poppins"/>
                <a:cs typeface="Poppins"/>
                <a:sym typeface="Poppins"/>
              </a:rPr>
              <a:t>[3]. Estol, C. (2018). Las estimaciones de tamaño en proyectos de software: Los puntos de función. ResearchGate. Recuperado el 20 de febrero de 2026 de </a:t>
            </a:r>
            <a:r>
              <a:rPr lang="en-US" sz="2255">
                <a:solidFill>
                  <a:srgbClr val="000000"/>
                </a:solidFill>
                <a:latin typeface="Poppins"/>
                <a:ea typeface="Poppins"/>
                <a:cs typeface="Poppins"/>
                <a:sym typeface="Poppins"/>
                <a:hlinkClick r:id="rId5" tooltip="https://www.researchgate.net/publication/334307131_Las_Estimaciones_de_Tamano_en_Proyectos_de_Software_Los_Puntos_de_Funcion_por_Conrado_Estol_2018"/>
              </a:rPr>
              <a:t>https://www.researchgate.net/publication/334307131_Las_Estimaciones_de_Tamano_en_Proyectos_de_Software_Los_Puntos_de_Funcion_por_Conrado_Estol_2018</a:t>
            </a:r>
          </a:p>
        </p:txBody>
      </p:sp>
      <p:sp>
        <p:nvSpPr>
          <p:cNvPr id="10" name="TextBox 10"/>
          <p:cNvSpPr txBox="1"/>
          <p:nvPr/>
        </p:nvSpPr>
        <p:spPr>
          <a:xfrm>
            <a:off x="1313291" y="5463516"/>
            <a:ext cx="15946009" cy="971625"/>
          </a:xfrm>
          <a:prstGeom prst="rect">
            <a:avLst/>
          </a:prstGeom>
        </p:spPr>
        <p:txBody>
          <a:bodyPr lIns="0" tIns="0" rIns="0" bIns="0" rtlCol="0" anchor="t">
            <a:spAutoFit/>
          </a:bodyPr>
          <a:lstStyle/>
          <a:p>
            <a:pPr marL="0" lvl="0" indent="0" algn="just">
              <a:lnSpc>
                <a:spcPts val="2481"/>
              </a:lnSpc>
            </a:pPr>
            <a:r>
              <a:rPr lang="en-US" sz="2255">
                <a:solidFill>
                  <a:srgbClr val="000000"/>
                </a:solidFill>
                <a:latin typeface="Poppins"/>
                <a:ea typeface="Poppins"/>
                <a:cs typeface="Poppins"/>
                <a:sym typeface="Poppins"/>
              </a:rPr>
              <a:t>[4]. Suárez Ferreiro, D. (2015). Modelos de estimación para proyectos de software [Serie Científica de la Universidad de las Ciencias Informáticas, 8(2), 1–7]. Dialnet</a:t>
            </a:r>
            <a:r>
              <a:rPr lang="en-US" sz="2255" u="none">
                <a:solidFill>
                  <a:srgbClr val="000000"/>
                </a:solidFill>
                <a:latin typeface="Poppins"/>
                <a:ea typeface="Poppins"/>
                <a:cs typeface="Poppins"/>
                <a:sym typeface="Poppins"/>
              </a:rPr>
              <a:t>.</a:t>
            </a:r>
            <a:r>
              <a:rPr lang="en-US" sz="2255">
                <a:solidFill>
                  <a:srgbClr val="000000"/>
                </a:solidFill>
                <a:latin typeface="Poppins"/>
                <a:ea typeface="Poppins"/>
                <a:cs typeface="Poppins"/>
                <a:sym typeface="Poppins"/>
              </a:rPr>
              <a:t> Recupe</a:t>
            </a:r>
            <a:r>
              <a:rPr lang="en-US" sz="2255" u="none">
                <a:solidFill>
                  <a:srgbClr val="000000"/>
                </a:solidFill>
                <a:latin typeface="Poppins"/>
                <a:ea typeface="Poppins"/>
                <a:cs typeface="Poppins"/>
                <a:sym typeface="Poppins"/>
              </a:rPr>
              <a:t>rado </a:t>
            </a:r>
            <a:r>
              <a:rPr lang="en-US" sz="2255">
                <a:solidFill>
                  <a:srgbClr val="000000"/>
                </a:solidFill>
                <a:latin typeface="Poppins"/>
                <a:ea typeface="Poppins"/>
                <a:cs typeface="Poppins"/>
                <a:sym typeface="Poppins"/>
              </a:rPr>
              <a:t>el 20 de f</a:t>
            </a:r>
            <a:r>
              <a:rPr lang="en-US" sz="2255" u="none">
                <a:solidFill>
                  <a:srgbClr val="000000"/>
                </a:solidFill>
                <a:latin typeface="Poppins"/>
                <a:ea typeface="Poppins"/>
                <a:cs typeface="Poppins"/>
                <a:sym typeface="Poppins"/>
              </a:rPr>
              <a:t>ebrero de 2026, de </a:t>
            </a:r>
            <a:r>
              <a:rPr lang="en-US" sz="2255">
                <a:solidFill>
                  <a:srgbClr val="000000"/>
                </a:solidFill>
                <a:latin typeface="Poppins"/>
                <a:ea typeface="Poppins"/>
                <a:cs typeface="Poppins"/>
                <a:sym typeface="Poppins"/>
                <a:hlinkClick r:id="rId6" tooltip="https://dialnet.unirioja.es/descarga/articulo/8589877.pdf"/>
              </a:rPr>
              <a:t>https://dialnet.unirioja.es/descarga/articulo/8589877.pdf</a:t>
            </a:r>
          </a:p>
        </p:txBody>
      </p:sp>
      <p:sp>
        <p:nvSpPr>
          <p:cNvPr id="11" name="TextBox 11"/>
          <p:cNvSpPr txBox="1"/>
          <p:nvPr/>
        </p:nvSpPr>
        <p:spPr>
          <a:xfrm>
            <a:off x="1313291" y="6886529"/>
            <a:ext cx="15946009" cy="1600275"/>
          </a:xfrm>
          <a:prstGeom prst="rect">
            <a:avLst/>
          </a:prstGeom>
        </p:spPr>
        <p:txBody>
          <a:bodyPr lIns="0" tIns="0" rIns="0" bIns="0" rtlCol="0" anchor="t">
            <a:spAutoFit/>
          </a:bodyPr>
          <a:lstStyle/>
          <a:p>
            <a:pPr marL="0" lvl="0" indent="0" algn="just">
              <a:lnSpc>
                <a:spcPts val="2481"/>
              </a:lnSpc>
            </a:pPr>
            <a:r>
              <a:rPr lang="en-US" sz="2255" dirty="0">
                <a:solidFill>
                  <a:srgbClr val="000000"/>
                </a:solidFill>
                <a:latin typeface="Poppins"/>
                <a:ea typeface="Poppins"/>
                <a:cs typeface="Poppins"/>
                <a:sym typeface="Poppins"/>
              </a:rPr>
              <a:t>[5]. Martins, J. (2026, 17 de </a:t>
            </a:r>
            <a:r>
              <a:rPr lang="en-US" sz="2255" dirty="0" err="1">
                <a:solidFill>
                  <a:srgbClr val="000000"/>
                </a:solidFill>
                <a:latin typeface="Poppins"/>
                <a:ea typeface="Poppins"/>
                <a:cs typeface="Poppins"/>
                <a:sym typeface="Poppins"/>
              </a:rPr>
              <a:t>febrero</a:t>
            </a:r>
            <a:r>
              <a:rPr lang="en-US" sz="2255" dirty="0">
                <a:solidFill>
                  <a:srgbClr val="000000"/>
                </a:solidFill>
                <a:latin typeface="Poppins"/>
                <a:ea typeface="Poppins"/>
                <a:cs typeface="Poppins"/>
                <a:sym typeface="Poppins"/>
              </a:rPr>
              <a:t>). </a:t>
            </a:r>
            <a:r>
              <a:rPr lang="en-US" sz="2255" dirty="0" err="1">
                <a:solidFill>
                  <a:srgbClr val="000000"/>
                </a:solidFill>
                <a:latin typeface="Poppins"/>
                <a:ea typeface="Poppins"/>
                <a:cs typeface="Poppins"/>
                <a:sym typeface="Poppins"/>
              </a:rPr>
              <a:t>Cómo</a:t>
            </a:r>
            <a:r>
              <a:rPr lang="en-US" sz="2255" dirty="0">
                <a:solidFill>
                  <a:srgbClr val="000000"/>
                </a:solidFill>
                <a:latin typeface="Poppins"/>
                <a:ea typeface="Poppins"/>
                <a:cs typeface="Poppins"/>
                <a:sym typeface="Poppins"/>
              </a:rPr>
              <a:t> </a:t>
            </a:r>
            <a:r>
              <a:rPr lang="en-US" sz="2255" dirty="0" err="1">
                <a:solidFill>
                  <a:srgbClr val="000000"/>
                </a:solidFill>
                <a:latin typeface="Poppins"/>
                <a:ea typeface="Poppins"/>
                <a:cs typeface="Poppins"/>
                <a:sym typeface="Poppins"/>
              </a:rPr>
              <a:t>escribir</a:t>
            </a:r>
            <a:r>
              <a:rPr lang="en-US" sz="2255" dirty="0">
                <a:solidFill>
                  <a:srgbClr val="000000"/>
                </a:solidFill>
                <a:latin typeface="Poppins"/>
                <a:ea typeface="Poppins"/>
                <a:cs typeface="Poppins"/>
                <a:sym typeface="Poppins"/>
              </a:rPr>
              <a:t> el </a:t>
            </a:r>
            <a:r>
              <a:rPr lang="en-US" sz="2255" dirty="0" err="1">
                <a:solidFill>
                  <a:srgbClr val="000000"/>
                </a:solidFill>
                <a:latin typeface="Poppins"/>
                <a:ea typeface="Poppins"/>
                <a:cs typeface="Poppins"/>
                <a:sym typeface="Poppins"/>
              </a:rPr>
              <a:t>alcance</a:t>
            </a:r>
            <a:r>
              <a:rPr lang="en-US" sz="2255" dirty="0">
                <a:solidFill>
                  <a:srgbClr val="000000"/>
                </a:solidFill>
                <a:latin typeface="Poppins"/>
                <a:ea typeface="Poppins"/>
                <a:cs typeface="Poppins"/>
                <a:sym typeface="Poppins"/>
              </a:rPr>
              <a:t> de un </a:t>
            </a:r>
            <a:r>
              <a:rPr lang="en-US" sz="2255" dirty="0" err="1">
                <a:solidFill>
                  <a:srgbClr val="000000"/>
                </a:solidFill>
                <a:latin typeface="Poppins"/>
                <a:ea typeface="Poppins"/>
                <a:cs typeface="Poppins"/>
                <a:sym typeface="Poppins"/>
              </a:rPr>
              <a:t>proyecto</a:t>
            </a:r>
            <a:r>
              <a:rPr lang="en-US" sz="2255" dirty="0">
                <a:solidFill>
                  <a:srgbClr val="000000"/>
                </a:solidFill>
                <a:latin typeface="Poppins"/>
                <a:ea typeface="Poppins"/>
                <a:cs typeface="Poppins"/>
                <a:sym typeface="Poppins"/>
              </a:rPr>
              <a:t> en 8 </a:t>
            </a:r>
            <a:r>
              <a:rPr lang="en-US" sz="2255" dirty="0" err="1">
                <a:solidFill>
                  <a:srgbClr val="000000"/>
                </a:solidFill>
                <a:latin typeface="Poppins"/>
                <a:ea typeface="Poppins"/>
                <a:cs typeface="Poppins"/>
                <a:sym typeface="Poppins"/>
              </a:rPr>
              <a:t>sencillos</a:t>
            </a:r>
            <a:r>
              <a:rPr lang="en-US" sz="2255" dirty="0">
                <a:solidFill>
                  <a:srgbClr val="000000"/>
                </a:solidFill>
                <a:latin typeface="Poppins"/>
                <a:ea typeface="Poppins"/>
                <a:cs typeface="Poppins"/>
                <a:sym typeface="Poppins"/>
              </a:rPr>
              <a:t> pasos. Asana. </a:t>
            </a:r>
            <a:r>
              <a:rPr lang="en-US" sz="2255" dirty="0" err="1">
                <a:solidFill>
                  <a:srgbClr val="000000"/>
                </a:solidFill>
                <a:latin typeface="Poppins"/>
                <a:ea typeface="Poppins"/>
                <a:cs typeface="Poppins"/>
                <a:sym typeface="Poppins"/>
              </a:rPr>
              <a:t>Recuperado</a:t>
            </a:r>
            <a:r>
              <a:rPr lang="en-US" sz="2255" dirty="0">
                <a:solidFill>
                  <a:srgbClr val="000000"/>
                </a:solidFill>
                <a:latin typeface="Poppins"/>
                <a:ea typeface="Poppins"/>
                <a:cs typeface="Poppins"/>
                <a:sym typeface="Poppins"/>
              </a:rPr>
              <a:t> el 20 de </a:t>
            </a:r>
            <a:r>
              <a:rPr lang="en-US" sz="2255" dirty="0" err="1">
                <a:solidFill>
                  <a:srgbClr val="000000"/>
                </a:solidFill>
                <a:latin typeface="Poppins"/>
                <a:ea typeface="Poppins"/>
                <a:cs typeface="Poppins"/>
                <a:sym typeface="Poppins"/>
              </a:rPr>
              <a:t>febrero</a:t>
            </a:r>
            <a:r>
              <a:rPr lang="en-US" sz="2255" dirty="0">
                <a:solidFill>
                  <a:srgbClr val="000000"/>
                </a:solidFill>
                <a:latin typeface="Poppins"/>
                <a:ea typeface="Poppins"/>
                <a:cs typeface="Poppins"/>
                <a:sym typeface="Poppins"/>
              </a:rPr>
              <a:t> de 2026, de </a:t>
            </a:r>
            <a:r>
              <a:rPr lang="en-US" sz="2255" dirty="0">
                <a:solidFill>
                  <a:srgbClr val="000000"/>
                </a:solidFill>
                <a:latin typeface="Poppins"/>
                <a:ea typeface="Poppins"/>
                <a:cs typeface="Poppins"/>
                <a:sym typeface="Poppins"/>
                <a:hlinkClick r:id="rId7" tooltip="https://asana.com/es/resources/project-scope"/>
              </a:rPr>
              <a:t>https://asana.com/es/resources/project-scope</a:t>
            </a:r>
          </a:p>
          <a:p>
            <a:pPr marL="0" lvl="0" indent="0" algn="just">
              <a:lnSpc>
                <a:spcPts val="2481"/>
              </a:lnSpc>
            </a:pPr>
            <a:endParaRPr lang="en-US" sz="2255" dirty="0">
              <a:solidFill>
                <a:srgbClr val="000000"/>
              </a:solidFill>
              <a:latin typeface="Poppins"/>
              <a:ea typeface="Poppins"/>
              <a:cs typeface="Poppins"/>
              <a:sym typeface="Poppins"/>
              <a:hlinkClick r:id="rId7" tooltip="https://asana.com/es/resources/project-scope"/>
            </a:endParaRPr>
          </a:p>
          <a:p>
            <a:pPr marL="0" lvl="0" indent="0" algn="just">
              <a:lnSpc>
                <a:spcPts val="2481"/>
              </a:lnSpc>
            </a:pPr>
            <a:r>
              <a:rPr lang="en-US" sz="2255" dirty="0">
                <a:solidFill>
                  <a:srgbClr val="000000"/>
                </a:solidFill>
                <a:latin typeface="Poppins"/>
                <a:ea typeface="Poppins"/>
                <a:cs typeface="Poppins"/>
                <a:sym typeface="Poppins"/>
              </a:rPr>
              <a:t>[6]  Ramírez, E. (</a:t>
            </a:r>
            <a:r>
              <a:rPr lang="en-US" sz="2255" dirty="0" err="1">
                <a:solidFill>
                  <a:srgbClr val="000000"/>
                </a:solidFill>
                <a:latin typeface="Poppins"/>
                <a:ea typeface="Poppins"/>
                <a:cs typeface="Poppins"/>
                <a:sym typeface="Poppins"/>
              </a:rPr>
              <a:t>s.f.</a:t>
            </a:r>
            <a:r>
              <a:rPr lang="en-US" sz="2255" dirty="0">
                <a:solidFill>
                  <a:srgbClr val="000000"/>
                </a:solidFill>
                <a:latin typeface="Poppins"/>
                <a:ea typeface="Poppins"/>
                <a:cs typeface="Poppins"/>
                <a:sym typeface="Poppins"/>
              </a:rPr>
              <a:t>). Puntos de </a:t>
            </a:r>
            <a:r>
              <a:rPr lang="en-US" sz="2255" dirty="0" err="1">
                <a:solidFill>
                  <a:srgbClr val="000000"/>
                </a:solidFill>
                <a:latin typeface="Poppins"/>
                <a:ea typeface="Poppins"/>
                <a:cs typeface="Poppins"/>
                <a:sym typeface="Poppins"/>
              </a:rPr>
              <a:t>casos</a:t>
            </a:r>
            <a:r>
              <a:rPr lang="en-US" sz="2255" dirty="0">
                <a:solidFill>
                  <a:srgbClr val="000000"/>
                </a:solidFill>
                <a:latin typeface="Poppins"/>
                <a:ea typeface="Poppins"/>
                <a:cs typeface="Poppins"/>
                <a:sym typeface="Poppins"/>
              </a:rPr>
              <a:t> de uso. Prezi. </a:t>
            </a:r>
            <a:r>
              <a:rPr lang="en-US" sz="2255" dirty="0" err="1">
                <a:solidFill>
                  <a:srgbClr val="000000"/>
                </a:solidFill>
                <a:latin typeface="Poppins"/>
                <a:ea typeface="Poppins"/>
                <a:cs typeface="Poppins"/>
                <a:sym typeface="Poppins"/>
              </a:rPr>
              <a:t>Recuperado</a:t>
            </a:r>
            <a:r>
              <a:rPr lang="en-US" sz="2255" dirty="0">
                <a:solidFill>
                  <a:srgbClr val="000000"/>
                </a:solidFill>
                <a:latin typeface="Poppins"/>
                <a:ea typeface="Poppins"/>
                <a:cs typeface="Poppins"/>
                <a:sym typeface="Poppins"/>
              </a:rPr>
              <a:t> el 10 de </a:t>
            </a:r>
            <a:r>
              <a:rPr lang="en-US" sz="2255" dirty="0" err="1">
                <a:solidFill>
                  <a:srgbClr val="000000"/>
                </a:solidFill>
                <a:latin typeface="Poppins"/>
                <a:ea typeface="Poppins"/>
                <a:cs typeface="Poppins"/>
                <a:sym typeface="Poppins"/>
              </a:rPr>
              <a:t>marzo</a:t>
            </a:r>
            <a:r>
              <a:rPr lang="en-US" sz="2255" dirty="0">
                <a:solidFill>
                  <a:srgbClr val="000000"/>
                </a:solidFill>
                <a:latin typeface="Poppins"/>
                <a:ea typeface="Poppins"/>
                <a:cs typeface="Poppins"/>
                <a:sym typeface="Poppins"/>
              </a:rPr>
              <a:t> de 2026, de </a:t>
            </a:r>
            <a:r>
              <a:rPr lang="en-US" sz="2255" dirty="0">
                <a:solidFill>
                  <a:srgbClr val="000000"/>
                </a:solidFill>
                <a:latin typeface="Poppins"/>
                <a:ea typeface="Poppins"/>
                <a:cs typeface="Poppins"/>
                <a:sym typeface="Poppins"/>
                <a:hlinkClick r:id="rId8"/>
              </a:rPr>
              <a:t>https://prezi.com/p-fzm1t7nilg/puntos-de-casos-de-uso/</a:t>
            </a:r>
            <a:r>
              <a:rPr lang="en-US" sz="2255" dirty="0">
                <a:solidFill>
                  <a:srgbClr val="000000"/>
                </a:solidFill>
                <a:latin typeface="Poppins"/>
                <a:ea typeface="Poppins"/>
                <a:cs typeface="Poppins"/>
                <a:sym typeface="Poppins"/>
              </a:rPr>
              <a:t>  </a:t>
            </a:r>
          </a:p>
        </p:txBody>
      </p:sp>
    </p:spTree>
  </p:cSld>
  <p:clrMapOvr>
    <a:masterClrMapping/>
  </p:clrMapOvr>
  <p:transition>
    <p:cover dir="d"/>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741F89"/>
        </a:solidFill>
        <a:effectLst/>
      </p:bgPr>
    </p:bg>
    <p:spTree>
      <p:nvGrpSpPr>
        <p:cNvPr id="1" name=""/>
        <p:cNvGrpSpPr/>
        <p:nvPr/>
      </p:nvGrpSpPr>
      <p:grpSpPr>
        <a:xfrm>
          <a:off x="0" y="0"/>
          <a:ext cx="0" cy="0"/>
          <a:chOff x="0" y="0"/>
          <a:chExt cx="0" cy="0"/>
        </a:xfrm>
      </p:grpSpPr>
      <p:grpSp>
        <p:nvGrpSpPr>
          <p:cNvPr id="2" name="Group 2"/>
          <p:cNvGrpSpPr/>
          <p:nvPr/>
        </p:nvGrpSpPr>
        <p:grpSpPr>
          <a:xfrm>
            <a:off x="4325270" y="4689391"/>
            <a:ext cx="8537435" cy="933316"/>
            <a:chOff x="0" y="0"/>
            <a:chExt cx="3717511" cy="406400"/>
          </a:xfrm>
        </p:grpSpPr>
        <p:sp>
          <p:nvSpPr>
            <p:cNvPr id="3" name="Freeform 3"/>
            <p:cNvSpPr/>
            <p:nvPr/>
          </p:nvSpPr>
          <p:spPr>
            <a:xfrm>
              <a:off x="0" y="0"/>
              <a:ext cx="3717511" cy="406400"/>
            </a:xfrm>
            <a:custGeom>
              <a:avLst/>
              <a:gdLst/>
              <a:ahLst/>
              <a:cxnLst/>
              <a:rect l="l" t="t" r="r" b="b"/>
              <a:pathLst>
                <a:path w="3717511" h="406400">
                  <a:moveTo>
                    <a:pt x="3514311" y="0"/>
                  </a:moveTo>
                  <a:cubicBezTo>
                    <a:pt x="3626536" y="0"/>
                    <a:pt x="3717511" y="90976"/>
                    <a:pt x="3717511" y="203200"/>
                  </a:cubicBezTo>
                  <a:cubicBezTo>
                    <a:pt x="3717511" y="315424"/>
                    <a:pt x="3626536" y="406400"/>
                    <a:pt x="3514311" y="406400"/>
                  </a:cubicBezTo>
                  <a:lnTo>
                    <a:pt x="203200" y="406400"/>
                  </a:lnTo>
                  <a:cubicBezTo>
                    <a:pt x="90976" y="406400"/>
                    <a:pt x="0" y="315424"/>
                    <a:pt x="0" y="203200"/>
                  </a:cubicBezTo>
                  <a:cubicBezTo>
                    <a:pt x="0" y="90976"/>
                    <a:pt x="90976" y="0"/>
                    <a:pt x="203200" y="0"/>
                  </a:cubicBezTo>
                  <a:close/>
                </a:path>
              </a:pathLst>
            </a:custGeom>
            <a:solidFill>
              <a:srgbClr val="EDECED"/>
            </a:solidFill>
          </p:spPr>
        </p:sp>
        <p:sp>
          <p:nvSpPr>
            <p:cNvPr id="4" name="TextBox 4"/>
            <p:cNvSpPr txBox="1"/>
            <p:nvPr/>
          </p:nvSpPr>
          <p:spPr>
            <a:xfrm>
              <a:off x="0" y="-57150"/>
              <a:ext cx="3717511" cy="46355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4775693" y="3050657"/>
            <a:ext cx="8087013" cy="933316"/>
            <a:chOff x="0" y="0"/>
            <a:chExt cx="3521381" cy="406400"/>
          </a:xfrm>
        </p:grpSpPr>
        <p:sp>
          <p:nvSpPr>
            <p:cNvPr id="6" name="Freeform 6"/>
            <p:cNvSpPr/>
            <p:nvPr/>
          </p:nvSpPr>
          <p:spPr>
            <a:xfrm>
              <a:off x="0" y="0"/>
              <a:ext cx="3521381" cy="406400"/>
            </a:xfrm>
            <a:custGeom>
              <a:avLst/>
              <a:gdLst/>
              <a:ahLst/>
              <a:cxnLst/>
              <a:rect l="l" t="t" r="r" b="b"/>
              <a:pathLst>
                <a:path w="3521381" h="406400">
                  <a:moveTo>
                    <a:pt x="3318181" y="0"/>
                  </a:moveTo>
                  <a:cubicBezTo>
                    <a:pt x="3430405" y="0"/>
                    <a:pt x="3521381" y="90976"/>
                    <a:pt x="3521381" y="203200"/>
                  </a:cubicBezTo>
                  <a:cubicBezTo>
                    <a:pt x="3521381" y="315424"/>
                    <a:pt x="3430405" y="406400"/>
                    <a:pt x="3318181" y="406400"/>
                  </a:cubicBezTo>
                  <a:lnTo>
                    <a:pt x="203200" y="406400"/>
                  </a:lnTo>
                  <a:cubicBezTo>
                    <a:pt x="90976" y="406400"/>
                    <a:pt x="0" y="315424"/>
                    <a:pt x="0" y="203200"/>
                  </a:cubicBezTo>
                  <a:cubicBezTo>
                    <a:pt x="0" y="90976"/>
                    <a:pt x="90976" y="0"/>
                    <a:pt x="203200" y="0"/>
                  </a:cubicBezTo>
                  <a:close/>
                </a:path>
              </a:pathLst>
            </a:custGeom>
            <a:solidFill>
              <a:srgbClr val="EDECED"/>
            </a:solidFill>
          </p:spPr>
        </p:sp>
        <p:sp>
          <p:nvSpPr>
            <p:cNvPr id="7" name="TextBox 7"/>
            <p:cNvSpPr txBox="1"/>
            <p:nvPr/>
          </p:nvSpPr>
          <p:spPr>
            <a:xfrm>
              <a:off x="0" y="-57150"/>
              <a:ext cx="3521381" cy="463550"/>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4026335" y="4536038"/>
            <a:ext cx="1240021" cy="1240021"/>
          </a:xfrm>
          <a:custGeom>
            <a:avLst/>
            <a:gdLst/>
            <a:ahLst/>
            <a:cxnLst/>
            <a:rect l="l" t="t" r="r" b="b"/>
            <a:pathLst>
              <a:path w="1240021" h="1240021">
                <a:moveTo>
                  <a:pt x="0" y="0"/>
                </a:moveTo>
                <a:lnTo>
                  <a:pt x="1240021" y="0"/>
                </a:lnTo>
                <a:lnTo>
                  <a:pt x="1240021" y="1240021"/>
                </a:lnTo>
                <a:lnTo>
                  <a:pt x="0" y="124002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4093083" y="4602786"/>
            <a:ext cx="1106525" cy="110652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CED"/>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a:off x="3933089" y="2889117"/>
            <a:ext cx="1256396" cy="1256396"/>
          </a:xfrm>
          <a:custGeom>
            <a:avLst/>
            <a:gdLst/>
            <a:ahLst/>
            <a:cxnLst/>
            <a:rect l="l" t="t" r="r" b="b"/>
            <a:pathLst>
              <a:path w="1256396" h="1256396">
                <a:moveTo>
                  <a:pt x="0" y="0"/>
                </a:moveTo>
                <a:lnTo>
                  <a:pt x="1256396" y="0"/>
                </a:lnTo>
                <a:lnTo>
                  <a:pt x="1256396" y="1256396"/>
                </a:lnTo>
                <a:lnTo>
                  <a:pt x="0" y="1256396"/>
                </a:lnTo>
                <a:lnTo>
                  <a:pt x="0" y="0"/>
                </a:lnTo>
                <a:close/>
              </a:path>
            </a:pathLst>
          </a:custGeom>
          <a:blipFill>
            <a:blip r:embed="rId2">
              <a:extLst>
                <a:ext uri="{96DAC541-7B7A-43D3-8B79-37D633B846F1}">
                  <asvg:svgBlip xmlns:asvg="http://schemas.microsoft.com/office/drawing/2016/SVG/main" r:embed="rId4"/>
                </a:ext>
              </a:extLst>
            </a:blip>
            <a:stretch>
              <a:fillRect/>
            </a:stretch>
          </a:blipFill>
        </p:spPr>
      </p:sp>
      <p:grpSp>
        <p:nvGrpSpPr>
          <p:cNvPr id="13" name="Group 13"/>
          <p:cNvGrpSpPr/>
          <p:nvPr/>
        </p:nvGrpSpPr>
        <p:grpSpPr>
          <a:xfrm>
            <a:off x="4016212" y="2964052"/>
            <a:ext cx="1106525" cy="110652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CED"/>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a:off x="1672770" y="5005943"/>
            <a:ext cx="642150" cy="459940"/>
          </a:xfrm>
          <a:custGeom>
            <a:avLst/>
            <a:gdLst/>
            <a:ahLst/>
            <a:cxnLst/>
            <a:rect l="l" t="t" r="r" b="b"/>
            <a:pathLst>
              <a:path w="642150" h="459940">
                <a:moveTo>
                  <a:pt x="0" y="0"/>
                </a:moveTo>
                <a:lnTo>
                  <a:pt x="642149" y="0"/>
                </a:lnTo>
                <a:lnTo>
                  <a:pt x="642149" y="459939"/>
                </a:lnTo>
                <a:lnTo>
                  <a:pt x="0" y="45993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a:off x="68351" y="107882"/>
            <a:ext cx="3754113" cy="3766145"/>
          </a:xfrm>
          <a:custGeom>
            <a:avLst/>
            <a:gdLst/>
            <a:ahLst/>
            <a:cxnLst/>
            <a:rect l="l" t="t" r="r" b="b"/>
            <a:pathLst>
              <a:path w="3754113" h="3766145">
                <a:moveTo>
                  <a:pt x="0" y="0"/>
                </a:moveTo>
                <a:lnTo>
                  <a:pt x="3754113" y="0"/>
                </a:lnTo>
                <a:lnTo>
                  <a:pt x="3754113" y="3766146"/>
                </a:lnTo>
                <a:lnTo>
                  <a:pt x="0" y="376614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TextBox 18"/>
          <p:cNvSpPr txBox="1"/>
          <p:nvPr/>
        </p:nvSpPr>
        <p:spPr>
          <a:xfrm>
            <a:off x="4775693" y="987809"/>
            <a:ext cx="7337654" cy="984250"/>
          </a:xfrm>
          <a:prstGeom prst="rect">
            <a:avLst/>
          </a:prstGeom>
        </p:spPr>
        <p:txBody>
          <a:bodyPr lIns="0" tIns="0" rIns="0" bIns="0" rtlCol="0" anchor="t">
            <a:spAutoFit/>
          </a:bodyPr>
          <a:lstStyle/>
          <a:p>
            <a:pPr marL="0" lvl="0" indent="0" algn="ctr">
              <a:lnSpc>
                <a:spcPts val="7699"/>
              </a:lnSpc>
            </a:pPr>
            <a:r>
              <a:rPr lang="en-US" sz="6999" b="1" spc="-314">
                <a:solidFill>
                  <a:srgbClr val="EDECED"/>
                </a:solidFill>
                <a:latin typeface="Antonio Bold"/>
                <a:ea typeface="Antonio Bold"/>
                <a:cs typeface="Antonio Bold"/>
                <a:sym typeface="Antonio Bold"/>
              </a:rPr>
              <a:t>¡GRACIAS!</a:t>
            </a:r>
          </a:p>
        </p:txBody>
      </p:sp>
      <p:grpSp>
        <p:nvGrpSpPr>
          <p:cNvPr id="19" name="Group 19"/>
          <p:cNvGrpSpPr/>
          <p:nvPr/>
        </p:nvGrpSpPr>
        <p:grpSpPr>
          <a:xfrm>
            <a:off x="-2062688" y="9715955"/>
            <a:ext cx="21014417" cy="1392272"/>
            <a:chOff x="0" y="0"/>
            <a:chExt cx="3300463" cy="218666"/>
          </a:xfrm>
        </p:grpSpPr>
        <p:sp>
          <p:nvSpPr>
            <p:cNvPr id="20" name="Freeform 20"/>
            <p:cNvSpPr/>
            <p:nvPr/>
          </p:nvSpPr>
          <p:spPr>
            <a:xfrm>
              <a:off x="9145" y="0"/>
              <a:ext cx="3282174" cy="218666"/>
            </a:xfrm>
            <a:custGeom>
              <a:avLst/>
              <a:gdLst/>
              <a:ahLst/>
              <a:cxnLst/>
              <a:rect l="l" t="t" r="r" b="b"/>
              <a:pathLst>
                <a:path w="3282174" h="218666">
                  <a:moveTo>
                    <a:pt x="3071908" y="0"/>
                  </a:moveTo>
                  <a:lnTo>
                    <a:pt x="7065" y="0"/>
                  </a:lnTo>
                  <a:cubicBezTo>
                    <a:pt x="4255" y="0"/>
                    <a:pt x="1711" y="1666"/>
                    <a:pt x="588" y="4242"/>
                  </a:cubicBezTo>
                  <a:cubicBezTo>
                    <a:pt x="-535" y="6819"/>
                    <a:pt x="-24" y="9816"/>
                    <a:pt x="1890" y="11874"/>
                  </a:cubicBezTo>
                  <a:lnTo>
                    <a:pt x="183020" y="206792"/>
                  </a:lnTo>
                  <a:cubicBezTo>
                    <a:pt x="190057" y="214364"/>
                    <a:pt x="199928" y="218666"/>
                    <a:pt x="210265" y="218666"/>
                  </a:cubicBezTo>
                  <a:lnTo>
                    <a:pt x="3275108" y="218666"/>
                  </a:lnTo>
                  <a:cubicBezTo>
                    <a:pt x="3277919" y="218666"/>
                    <a:pt x="3280462" y="217000"/>
                    <a:pt x="3281585" y="214424"/>
                  </a:cubicBezTo>
                  <a:cubicBezTo>
                    <a:pt x="3282708" y="211848"/>
                    <a:pt x="3282197" y="208851"/>
                    <a:pt x="3280284" y="206792"/>
                  </a:cubicBezTo>
                  <a:lnTo>
                    <a:pt x="3099153" y="11874"/>
                  </a:lnTo>
                  <a:cubicBezTo>
                    <a:pt x="3092116" y="4302"/>
                    <a:pt x="3082245" y="0"/>
                    <a:pt x="3071908" y="0"/>
                  </a:cubicBezTo>
                  <a:close/>
                </a:path>
              </a:pathLst>
            </a:custGeom>
            <a:solidFill>
              <a:srgbClr val="EDECED"/>
            </a:solidFill>
          </p:spPr>
        </p:sp>
        <p:sp>
          <p:nvSpPr>
            <p:cNvPr id="21" name="TextBox 21"/>
            <p:cNvSpPr txBox="1"/>
            <p:nvPr/>
          </p:nvSpPr>
          <p:spPr>
            <a:xfrm>
              <a:off x="101600" y="-57150"/>
              <a:ext cx="3097263" cy="275816"/>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7592479" y="2287416"/>
            <a:ext cx="1704082" cy="879475"/>
          </a:xfrm>
          <a:prstGeom prst="rect">
            <a:avLst/>
          </a:prstGeom>
        </p:spPr>
        <p:txBody>
          <a:bodyPr lIns="0" tIns="0" rIns="0" bIns="0" rtlCol="0" anchor="t">
            <a:spAutoFit/>
          </a:bodyPr>
          <a:lstStyle/>
          <a:p>
            <a:pPr algn="ctr">
              <a:lnSpc>
                <a:spcPts val="3499"/>
              </a:lnSpc>
              <a:spcBef>
                <a:spcPct val="0"/>
              </a:spcBef>
            </a:pPr>
            <a:r>
              <a:rPr lang="en-US" sz="2499">
                <a:solidFill>
                  <a:srgbClr val="EDECED"/>
                </a:solidFill>
                <a:latin typeface="Poppins"/>
                <a:ea typeface="Poppins"/>
                <a:cs typeface="Poppins"/>
                <a:sym typeface="Poppins"/>
              </a:rPr>
              <a:t>Hecho por:</a:t>
            </a:r>
          </a:p>
          <a:p>
            <a:pPr algn="ctr">
              <a:lnSpc>
                <a:spcPts val="3499"/>
              </a:lnSpc>
              <a:spcBef>
                <a:spcPct val="0"/>
              </a:spcBef>
            </a:pPr>
            <a:endParaRPr lang="en-US" sz="2499">
              <a:solidFill>
                <a:srgbClr val="EDECED"/>
              </a:solidFill>
              <a:latin typeface="Poppins"/>
              <a:ea typeface="Poppins"/>
              <a:cs typeface="Poppins"/>
              <a:sym typeface="Poppins"/>
            </a:endParaRPr>
          </a:p>
        </p:txBody>
      </p:sp>
      <p:sp>
        <p:nvSpPr>
          <p:cNvPr id="23" name="TextBox 23"/>
          <p:cNvSpPr txBox="1"/>
          <p:nvPr/>
        </p:nvSpPr>
        <p:spPr>
          <a:xfrm>
            <a:off x="5649530" y="3157367"/>
            <a:ext cx="5589981" cy="716661"/>
          </a:xfrm>
          <a:prstGeom prst="rect">
            <a:avLst/>
          </a:prstGeom>
        </p:spPr>
        <p:txBody>
          <a:bodyPr lIns="0" tIns="0" rIns="0" bIns="0" rtlCol="0" anchor="t">
            <a:spAutoFit/>
          </a:bodyPr>
          <a:lstStyle/>
          <a:p>
            <a:pPr marL="0" lvl="0" indent="0" algn="ctr">
              <a:lnSpc>
                <a:spcPts val="2711"/>
              </a:lnSpc>
            </a:pPr>
            <a:r>
              <a:rPr lang="en-US" sz="2400">
                <a:solidFill>
                  <a:srgbClr val="000000"/>
                </a:solidFill>
                <a:latin typeface="Poppins"/>
                <a:ea typeface="Poppins"/>
                <a:cs typeface="Poppins"/>
                <a:sym typeface="Poppins"/>
              </a:rPr>
              <a:t>José Daniel Moreno Celestino</a:t>
            </a:r>
          </a:p>
          <a:p>
            <a:pPr marL="0" lvl="0" indent="0" algn="ctr">
              <a:lnSpc>
                <a:spcPts val="2711"/>
              </a:lnSpc>
            </a:pPr>
            <a:r>
              <a:rPr lang="en-US" sz="2400">
                <a:solidFill>
                  <a:srgbClr val="000000"/>
                </a:solidFill>
                <a:latin typeface="Poppins"/>
                <a:ea typeface="Poppins"/>
                <a:cs typeface="Poppins"/>
                <a:sym typeface="Poppins"/>
              </a:rPr>
              <a:t>Giovanni Hernández Sánchez</a:t>
            </a:r>
          </a:p>
        </p:txBody>
      </p:sp>
      <p:sp>
        <p:nvSpPr>
          <p:cNvPr id="24" name="TextBox 24"/>
          <p:cNvSpPr txBox="1"/>
          <p:nvPr/>
        </p:nvSpPr>
        <p:spPr>
          <a:xfrm>
            <a:off x="5199608" y="4823231"/>
            <a:ext cx="7448692" cy="716661"/>
          </a:xfrm>
          <a:prstGeom prst="rect">
            <a:avLst/>
          </a:prstGeom>
        </p:spPr>
        <p:txBody>
          <a:bodyPr lIns="0" tIns="0" rIns="0" bIns="0" rtlCol="0" anchor="t">
            <a:spAutoFit/>
          </a:bodyPr>
          <a:lstStyle/>
          <a:p>
            <a:pPr marL="0" lvl="0" indent="0" algn="ctr">
              <a:lnSpc>
                <a:spcPts val="2711"/>
              </a:lnSpc>
            </a:pPr>
            <a:r>
              <a:rPr lang="en-US" sz="2400">
                <a:solidFill>
                  <a:srgbClr val="000000"/>
                </a:solidFill>
                <a:latin typeface="Poppins"/>
                <a:ea typeface="Poppins"/>
                <a:cs typeface="Poppins"/>
                <a:sym typeface="Poppins"/>
              </a:rPr>
              <a:t>Gestión de proyectos de Ingeniería de software</a:t>
            </a:r>
          </a:p>
          <a:p>
            <a:pPr marL="0" lvl="0" indent="0" algn="ctr">
              <a:lnSpc>
                <a:spcPts val="2711"/>
              </a:lnSpc>
            </a:pPr>
            <a:r>
              <a:rPr lang="en-US" sz="2400">
                <a:solidFill>
                  <a:srgbClr val="000000"/>
                </a:solidFill>
                <a:latin typeface="Poppins"/>
                <a:ea typeface="Poppins"/>
                <a:cs typeface="Poppins"/>
                <a:sym typeface="Poppins"/>
              </a:rPr>
              <a:t>Javier Antonio Pinedo Cabarcas</a:t>
            </a:r>
          </a:p>
        </p:txBody>
      </p:sp>
      <p:grpSp>
        <p:nvGrpSpPr>
          <p:cNvPr id="25" name="Group 25"/>
          <p:cNvGrpSpPr/>
          <p:nvPr/>
        </p:nvGrpSpPr>
        <p:grpSpPr>
          <a:xfrm>
            <a:off x="4848526" y="6100747"/>
            <a:ext cx="7191989" cy="1669499"/>
            <a:chOff x="0" y="0"/>
            <a:chExt cx="2077045" cy="482151"/>
          </a:xfrm>
        </p:grpSpPr>
        <p:sp>
          <p:nvSpPr>
            <p:cNvPr id="26" name="Freeform 26"/>
            <p:cNvSpPr/>
            <p:nvPr/>
          </p:nvSpPr>
          <p:spPr>
            <a:xfrm>
              <a:off x="0" y="0"/>
              <a:ext cx="2077045" cy="482151"/>
            </a:xfrm>
            <a:custGeom>
              <a:avLst/>
              <a:gdLst/>
              <a:ahLst/>
              <a:cxnLst/>
              <a:rect l="l" t="t" r="r" b="b"/>
              <a:pathLst>
                <a:path w="2077045" h="482151">
                  <a:moveTo>
                    <a:pt x="54496" y="0"/>
                  </a:moveTo>
                  <a:lnTo>
                    <a:pt x="2022549" y="0"/>
                  </a:lnTo>
                  <a:cubicBezTo>
                    <a:pt x="2052647" y="0"/>
                    <a:pt x="2077045" y="24399"/>
                    <a:pt x="2077045" y="54496"/>
                  </a:cubicBezTo>
                  <a:lnTo>
                    <a:pt x="2077045" y="427655"/>
                  </a:lnTo>
                  <a:cubicBezTo>
                    <a:pt x="2077045" y="457752"/>
                    <a:pt x="2052647" y="482151"/>
                    <a:pt x="2022549" y="482151"/>
                  </a:cubicBezTo>
                  <a:lnTo>
                    <a:pt x="54496" y="482151"/>
                  </a:lnTo>
                  <a:cubicBezTo>
                    <a:pt x="24399" y="482151"/>
                    <a:pt x="0" y="457752"/>
                    <a:pt x="0" y="427655"/>
                  </a:cubicBezTo>
                  <a:lnTo>
                    <a:pt x="0" y="54496"/>
                  </a:lnTo>
                  <a:cubicBezTo>
                    <a:pt x="0" y="24399"/>
                    <a:pt x="24399" y="0"/>
                    <a:pt x="54496" y="0"/>
                  </a:cubicBezTo>
                  <a:close/>
                </a:path>
              </a:pathLst>
            </a:custGeom>
            <a:solidFill>
              <a:srgbClr val="EDECED"/>
            </a:solidFill>
          </p:spPr>
        </p:sp>
        <p:sp>
          <p:nvSpPr>
            <p:cNvPr id="27" name="TextBox 27"/>
            <p:cNvSpPr txBox="1"/>
            <p:nvPr/>
          </p:nvSpPr>
          <p:spPr>
            <a:xfrm>
              <a:off x="0" y="-57150"/>
              <a:ext cx="2077045" cy="539301"/>
            </a:xfrm>
            <a:prstGeom prst="rect">
              <a:avLst/>
            </a:prstGeom>
          </p:spPr>
          <p:txBody>
            <a:bodyPr lIns="50800" tIns="50800" rIns="50800" bIns="50800" rtlCol="0" anchor="ctr"/>
            <a:lstStyle/>
            <a:p>
              <a:pPr algn="ctr">
                <a:lnSpc>
                  <a:spcPts val="2659"/>
                </a:lnSpc>
              </a:pPr>
              <a:endParaRPr/>
            </a:p>
          </p:txBody>
        </p:sp>
      </p:grpSp>
      <p:sp>
        <p:nvSpPr>
          <p:cNvPr id="28" name="TextBox 28"/>
          <p:cNvSpPr txBox="1"/>
          <p:nvPr/>
        </p:nvSpPr>
        <p:spPr>
          <a:xfrm>
            <a:off x="4720174" y="6229504"/>
            <a:ext cx="7448692" cy="1402461"/>
          </a:xfrm>
          <a:prstGeom prst="rect">
            <a:avLst/>
          </a:prstGeom>
        </p:spPr>
        <p:txBody>
          <a:bodyPr lIns="0" tIns="0" rIns="0" bIns="0" rtlCol="0" anchor="t">
            <a:spAutoFit/>
          </a:bodyPr>
          <a:lstStyle/>
          <a:p>
            <a:pPr marL="0" lvl="0" indent="0" algn="ctr">
              <a:lnSpc>
                <a:spcPts val="2711"/>
              </a:lnSpc>
            </a:pPr>
            <a:r>
              <a:rPr lang="en-US" sz="2400">
                <a:solidFill>
                  <a:srgbClr val="000000"/>
                </a:solidFill>
                <a:latin typeface="Poppins"/>
                <a:ea typeface="Poppins"/>
                <a:cs typeface="Poppins"/>
                <a:sym typeface="Poppins"/>
              </a:rPr>
              <a:t>Universidad de Cartagena</a:t>
            </a:r>
          </a:p>
          <a:p>
            <a:pPr marL="0" lvl="0" indent="0" algn="ctr">
              <a:lnSpc>
                <a:spcPts val="2711"/>
              </a:lnSpc>
            </a:pPr>
            <a:r>
              <a:rPr lang="en-US" sz="2400">
                <a:solidFill>
                  <a:srgbClr val="000000"/>
                </a:solidFill>
                <a:latin typeface="Poppins"/>
                <a:ea typeface="Poppins"/>
                <a:cs typeface="Poppins"/>
                <a:sym typeface="Poppins"/>
              </a:rPr>
              <a:t>Facultad de ingeniería</a:t>
            </a:r>
          </a:p>
          <a:p>
            <a:pPr marL="0" lvl="0" indent="0" algn="ctr">
              <a:lnSpc>
                <a:spcPts val="2711"/>
              </a:lnSpc>
            </a:pPr>
            <a:r>
              <a:rPr lang="en-US" sz="2400">
                <a:solidFill>
                  <a:srgbClr val="000000"/>
                </a:solidFill>
                <a:latin typeface="Poppins"/>
                <a:ea typeface="Poppins"/>
                <a:cs typeface="Poppins"/>
                <a:sym typeface="Poppins"/>
              </a:rPr>
              <a:t>Ingeniería de Sistemas</a:t>
            </a:r>
          </a:p>
          <a:p>
            <a:pPr marL="0" lvl="0" indent="0" algn="ctr">
              <a:lnSpc>
                <a:spcPts val="2711"/>
              </a:lnSpc>
            </a:pPr>
            <a:r>
              <a:rPr lang="en-US" sz="2400">
                <a:solidFill>
                  <a:srgbClr val="000000"/>
                </a:solidFill>
                <a:latin typeface="Poppins"/>
                <a:ea typeface="Poppins"/>
                <a:cs typeface="Poppins"/>
                <a:sym typeface="Poppins"/>
              </a:rPr>
              <a:t>IX Semestre</a:t>
            </a:r>
          </a:p>
        </p:txBody>
      </p:sp>
      <p:sp>
        <p:nvSpPr>
          <p:cNvPr id="29" name="Freeform 29"/>
          <p:cNvSpPr/>
          <p:nvPr/>
        </p:nvSpPr>
        <p:spPr>
          <a:xfrm>
            <a:off x="13427263" y="5465882"/>
            <a:ext cx="4294511" cy="4073506"/>
          </a:xfrm>
          <a:custGeom>
            <a:avLst/>
            <a:gdLst/>
            <a:ahLst/>
            <a:cxnLst/>
            <a:rect l="l" t="t" r="r" b="b"/>
            <a:pathLst>
              <a:path w="4294511" h="4073506">
                <a:moveTo>
                  <a:pt x="0" y="0"/>
                </a:moveTo>
                <a:lnTo>
                  <a:pt x="4294510" y="0"/>
                </a:lnTo>
                <a:lnTo>
                  <a:pt x="4294510" y="4073507"/>
                </a:lnTo>
                <a:lnTo>
                  <a:pt x="0" y="4073507"/>
                </a:lnTo>
                <a:lnTo>
                  <a:pt x="0" y="0"/>
                </a:lnTo>
                <a:close/>
              </a:path>
            </a:pathLst>
          </a:custGeom>
          <a:blipFill>
            <a:blip r:embed="rId9"/>
            <a:stretch>
              <a:fillRect r="-96588"/>
            </a:stretch>
          </a:blipFill>
        </p:spPr>
      </p:sp>
    </p:spTree>
  </p:cSld>
  <p:clrMapOvr>
    <a:masterClrMapping/>
  </p:clrMapOvr>
  <p:transition>
    <p:cover dir="d"/>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2852</Words>
  <Application>Microsoft Office PowerPoint</Application>
  <PresentationFormat>Personalizado</PresentationFormat>
  <Paragraphs>272</Paragraphs>
  <Slides>32</Slides>
  <Notes>0</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32</vt:i4>
      </vt:variant>
    </vt:vector>
  </HeadingPairs>
  <TitlesOfParts>
    <vt:vector size="43" baseType="lpstr">
      <vt:lpstr>Calibri</vt:lpstr>
      <vt:lpstr>Poppins</vt:lpstr>
      <vt:lpstr>Poppins Semi-Bold</vt:lpstr>
      <vt:lpstr>Arial</vt:lpstr>
      <vt:lpstr>Antonio</vt:lpstr>
      <vt:lpstr>Montserrat</vt:lpstr>
      <vt:lpstr>Poppins Italics</vt:lpstr>
      <vt:lpstr>Antonio Bold</vt:lpstr>
      <vt:lpstr>Poppins Bold</vt:lpstr>
      <vt:lpstr>Poppins Light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 la integración y el alcance</dc:title>
  <cp:lastModifiedBy>Jose Moreno</cp:lastModifiedBy>
  <cp:revision>3</cp:revision>
  <dcterms:created xsi:type="dcterms:W3CDTF">2006-08-16T00:00:00Z</dcterms:created>
  <dcterms:modified xsi:type="dcterms:W3CDTF">2026-03-19T03:46:17Z</dcterms:modified>
  <dc:identifier>DAHDs7NHDTs</dc:identifier>
</cp:coreProperties>
</file>